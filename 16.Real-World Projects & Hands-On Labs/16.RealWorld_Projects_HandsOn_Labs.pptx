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333"/>
        </a:solidFill>
      </p:bgPr>
    </p:bg>
    <p:spTree>
      <p:nvGrpSpPr>
        <p:cNvPr id="1" name=""/>
        <p:cNvGrpSpPr/>
        <p:nvPr/>
      </p:nvGrpSpPr>
      <p:grpSpPr>
        <a:xfrm>
          <a:off x="0" y="0"/>
          <a:ext cx="0" cy="0"/>
          <a:chOff x="0" y="0"/>
          <a:chExt cx="0" cy="0"/>
        </a:xfrm>
      </p:grpSpPr>
      <p:sp>
        <p:nvSpPr>
          <p:cNvPr id="2" name="Shape 0"/>
          <p:cNvSpPr/>
          <p:nvPr/>
        </p:nvSpPr>
        <p:spPr>
          <a:xfrm>
            <a:off x="8778240" y="-1463040"/>
            <a:ext cx="5029200" cy="5029200"/>
          </a:xfrm>
          <a:prstGeom prst="ellipse">
            <a:avLst/>
          </a:prstGeom>
          <a:solidFill>
            <a:srgbClr val="4B2A82">
              <a:alpha val="45000"/>
            </a:srgbClr>
          </a:solidFill>
          <a:ln/>
        </p:spPr>
      </p:sp>
      <p:sp>
        <p:nvSpPr>
          <p:cNvPr id="3" name="Shape 1"/>
          <p:cNvSpPr/>
          <p:nvPr/>
        </p:nvSpPr>
        <p:spPr>
          <a:xfrm>
            <a:off x="9875520" y="-548640"/>
            <a:ext cx="2926080" cy="2926080"/>
          </a:xfrm>
          <a:prstGeom prst="ellipse">
            <a:avLst/>
          </a:prstGeom>
          <a:solidFill>
            <a:srgbClr val="00D9C0">
              <a:alpha val="22000"/>
            </a:srgbClr>
          </a:solidFill>
          <a:ln/>
        </p:spPr>
      </p:sp>
      <p:sp>
        <p:nvSpPr>
          <p:cNvPr id="4" name="Shape 2"/>
          <p:cNvSpPr/>
          <p:nvPr/>
        </p:nvSpPr>
        <p:spPr>
          <a:xfrm>
            <a:off x="-1280160" y="4846320"/>
            <a:ext cx="3840480" cy="3840480"/>
          </a:xfrm>
          <a:prstGeom prst="ellipse">
            <a:avLst/>
          </a:prstGeom>
          <a:solidFill>
            <a:srgbClr val="7B42BC">
              <a:alpha val="30000"/>
            </a:srgbClr>
          </a:solidFill>
          <a:ln/>
        </p:spPr>
      </p:sp>
      <p:sp>
        <p:nvSpPr>
          <p:cNvPr id="5" name="Text 3"/>
          <p:cNvSpPr/>
          <p:nvPr/>
        </p:nvSpPr>
        <p:spPr>
          <a:xfrm>
            <a:off x="822960" y="1828800"/>
            <a:ext cx="8229600" cy="365760"/>
          </a:xfrm>
          <a:prstGeom prst="rect">
            <a:avLst/>
          </a:prstGeom>
          <a:noFill/>
          <a:ln/>
        </p:spPr>
        <p:txBody>
          <a:bodyPr wrap="square" lIns="0" tIns="0" rIns="0" bIns="0" rtlCol="0" anchor="ctr"/>
          <a:lstStyle/>
          <a:p>
            <a:pPr indent="0" marL="0">
              <a:buNone/>
            </a:pPr>
            <a:r>
              <a:rPr lang="en-US" sz="1400" b="1" spc="300" kern="0" dirty="0">
                <a:solidFill>
                  <a:srgbClr val="00D9C0"/>
                </a:solidFill>
                <a:latin typeface="Calibri" pitchFamily="34" charset="0"/>
                <a:ea typeface="Calibri" pitchFamily="34" charset="-122"/>
                <a:cs typeface="Calibri" pitchFamily="34" charset="-120"/>
              </a:rPr>
              <a:t>CHAPTER 16 · APPLIED INFRASTRUCTURE AS CODE</a:t>
            </a:r>
            <a:endParaRPr lang="en-US" sz="1400" dirty="0"/>
          </a:p>
        </p:txBody>
      </p:sp>
      <p:sp>
        <p:nvSpPr>
          <p:cNvPr id="6" name="Text 4"/>
          <p:cNvSpPr/>
          <p:nvPr/>
        </p:nvSpPr>
        <p:spPr>
          <a:xfrm>
            <a:off x="777240" y="2194560"/>
            <a:ext cx="9144000" cy="2103120"/>
          </a:xfrm>
          <a:prstGeom prst="rect">
            <a:avLst/>
          </a:prstGeom>
          <a:noFill/>
          <a:ln/>
        </p:spPr>
        <p:txBody>
          <a:bodyPr wrap="square" lIns="0" tIns="0" rIns="0" bIns="0" rtlCol="0" anchor="ctr"/>
          <a:lstStyle/>
          <a:p>
            <a:pPr indent="0" marL="0">
              <a:lnSpc>
                <a:spcPct val="102000"/>
              </a:lnSpc>
              <a:buNone/>
            </a:pPr>
            <a:r>
              <a:rPr lang="en-US" sz="4800" b="1" dirty="0">
                <a:solidFill>
                  <a:srgbClr val="FFFFFF"/>
                </a:solidFill>
                <a:latin typeface="Cambria" pitchFamily="34" charset="0"/>
                <a:ea typeface="Cambria" pitchFamily="34" charset="-122"/>
                <a:cs typeface="Cambria" pitchFamily="34" charset="-120"/>
              </a:rPr>
              <a:t>Real-World Projects</a:t>
            </a:r>
            <a:endParaRPr lang="en-US" sz="4800" dirty="0"/>
          </a:p>
          <a:p>
            <a:pPr indent="0" marL="0">
              <a:lnSpc>
                <a:spcPct val="102000"/>
              </a:lnSpc>
              <a:buNone/>
            </a:pPr>
            <a:r>
              <a:rPr lang="en-US" sz="4800" b="1" dirty="0">
                <a:solidFill>
                  <a:srgbClr val="FFFFFF"/>
                </a:solidFill>
                <a:latin typeface="Cambria" pitchFamily="34" charset="0"/>
                <a:ea typeface="Cambria" pitchFamily="34" charset="-122"/>
                <a:cs typeface="Cambria" pitchFamily="34" charset="-120"/>
              </a:rPr>
              <a:t>&amp; Hands-On Labs</a:t>
            </a:r>
            <a:endParaRPr lang="en-US" sz="4800" dirty="0"/>
          </a:p>
        </p:txBody>
      </p:sp>
      <p:sp>
        <p:nvSpPr>
          <p:cNvPr id="7" name="Text 5"/>
          <p:cNvSpPr/>
          <p:nvPr/>
        </p:nvSpPr>
        <p:spPr>
          <a:xfrm>
            <a:off x="822960" y="4297680"/>
            <a:ext cx="8686800" cy="731520"/>
          </a:xfrm>
          <a:prstGeom prst="rect">
            <a:avLst/>
          </a:prstGeom>
          <a:noFill/>
          <a:ln/>
        </p:spPr>
        <p:txBody>
          <a:bodyPr wrap="square" lIns="0" tIns="0" rIns="0" bIns="0" rtlCol="0" anchor="ctr"/>
          <a:lstStyle/>
          <a:p>
            <a:pPr indent="0" marL="0">
              <a:buNone/>
            </a:pPr>
            <a:r>
              <a:rPr lang="en-US" sz="1600" i="1" dirty="0">
                <a:solidFill>
                  <a:srgbClr val="C9C2E0"/>
                </a:solidFill>
                <a:latin typeface="Calibri" pitchFamily="34" charset="0"/>
                <a:ea typeface="Calibri" pitchFamily="34" charset="-122"/>
                <a:cs typeface="Calibri" pitchFamily="34" charset="-120"/>
              </a:rPr>
              <a:t>Four end-to-end builds: a highly available web app, a Kubernetes cluster, a CI/CD pipeline, and a multi-cloud deployment.</a:t>
            </a:r>
            <a:endParaRPr lang="en-US" sz="1600" dirty="0"/>
          </a:p>
        </p:txBody>
      </p:sp>
      <p:sp>
        <p:nvSpPr>
          <p:cNvPr id="8" name="Shape 6"/>
          <p:cNvSpPr/>
          <p:nvPr/>
        </p:nvSpPr>
        <p:spPr>
          <a:xfrm>
            <a:off x="822960" y="5486400"/>
            <a:ext cx="2423160" cy="640080"/>
          </a:xfrm>
          <a:prstGeom prst="roundRect">
            <a:avLst>
              <a:gd name="adj" fmla="val 50000"/>
            </a:avLst>
          </a:prstGeom>
          <a:solidFill>
            <a:srgbClr val="4B2A82">
              <a:alpha val="70000"/>
            </a:srgbClr>
          </a:solidFill>
          <a:ln w="12700">
            <a:solidFill>
              <a:srgbClr val="7B42BC"/>
            </a:solidFill>
            <a:prstDash val="solid"/>
          </a:ln>
        </p:spPr>
      </p:sp>
      <p:pic>
        <p:nvPicPr>
          <p:cNvPr id="9" name="Image 0" descr="icons/globe_white.png">    </p:cNvPr>
          <p:cNvPicPr>
            <a:picLocks noChangeAspect="1"/>
          </p:cNvPicPr>
          <p:nvPr/>
        </p:nvPicPr>
        <p:blipFill>
          <a:blip r:embed="rId1"/>
          <a:stretch>
            <a:fillRect/>
          </a:stretch>
        </p:blipFill>
        <p:spPr>
          <a:xfrm>
            <a:off x="1005840" y="5660136"/>
            <a:ext cx="292608" cy="292608"/>
          </a:xfrm>
          <a:prstGeom prst="rect">
            <a:avLst/>
          </a:prstGeom>
        </p:spPr>
      </p:pic>
      <p:sp>
        <p:nvSpPr>
          <p:cNvPr id="10" name="Text 7"/>
          <p:cNvSpPr/>
          <p:nvPr/>
        </p:nvSpPr>
        <p:spPr>
          <a:xfrm>
            <a:off x="1371600" y="5486400"/>
            <a:ext cx="1737360" cy="6400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AWS HA App</a:t>
            </a:r>
            <a:endParaRPr lang="en-US" sz="1300" dirty="0"/>
          </a:p>
        </p:txBody>
      </p:sp>
      <p:sp>
        <p:nvSpPr>
          <p:cNvPr id="11" name="Shape 8"/>
          <p:cNvSpPr/>
          <p:nvPr/>
        </p:nvSpPr>
        <p:spPr>
          <a:xfrm>
            <a:off x="3429000" y="5486400"/>
            <a:ext cx="2423160" cy="640080"/>
          </a:xfrm>
          <a:prstGeom prst="roundRect">
            <a:avLst>
              <a:gd name="adj" fmla="val 50000"/>
            </a:avLst>
          </a:prstGeom>
          <a:solidFill>
            <a:srgbClr val="4B2A82">
              <a:alpha val="70000"/>
            </a:srgbClr>
          </a:solidFill>
          <a:ln w="12700">
            <a:solidFill>
              <a:srgbClr val="7B42BC"/>
            </a:solidFill>
            <a:prstDash val="solid"/>
          </a:ln>
        </p:spPr>
      </p:sp>
      <p:pic>
        <p:nvPicPr>
          <p:cNvPr id="12" name="Image 1" descr="icons/wheel_white.png">    </p:cNvPr>
          <p:cNvPicPr>
            <a:picLocks noChangeAspect="1"/>
          </p:cNvPicPr>
          <p:nvPr/>
        </p:nvPicPr>
        <p:blipFill>
          <a:blip r:embed="rId2"/>
          <a:stretch>
            <a:fillRect/>
          </a:stretch>
        </p:blipFill>
        <p:spPr>
          <a:xfrm>
            <a:off x="3611880" y="5660136"/>
            <a:ext cx="292608" cy="292608"/>
          </a:xfrm>
          <a:prstGeom prst="rect">
            <a:avLst/>
          </a:prstGeom>
        </p:spPr>
      </p:pic>
      <p:sp>
        <p:nvSpPr>
          <p:cNvPr id="13" name="Text 9"/>
          <p:cNvSpPr/>
          <p:nvPr/>
        </p:nvSpPr>
        <p:spPr>
          <a:xfrm>
            <a:off x="3977640" y="5486400"/>
            <a:ext cx="1737360" cy="6400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Kubernetes</a:t>
            </a:r>
            <a:endParaRPr lang="en-US" sz="1300" dirty="0"/>
          </a:p>
        </p:txBody>
      </p:sp>
      <p:sp>
        <p:nvSpPr>
          <p:cNvPr id="14" name="Shape 10"/>
          <p:cNvSpPr/>
          <p:nvPr/>
        </p:nvSpPr>
        <p:spPr>
          <a:xfrm>
            <a:off x="6035040" y="5486400"/>
            <a:ext cx="2423160" cy="640080"/>
          </a:xfrm>
          <a:prstGeom prst="roundRect">
            <a:avLst>
              <a:gd name="adj" fmla="val 50000"/>
            </a:avLst>
          </a:prstGeom>
          <a:solidFill>
            <a:srgbClr val="4B2A82">
              <a:alpha val="70000"/>
            </a:srgbClr>
          </a:solidFill>
          <a:ln w="12700">
            <a:solidFill>
              <a:srgbClr val="7B42BC"/>
            </a:solidFill>
            <a:prstDash val="solid"/>
          </a:ln>
        </p:spPr>
      </p:sp>
      <p:pic>
        <p:nvPicPr>
          <p:cNvPr id="15" name="Image 2" descr="icons/robot_white.png">    </p:cNvPr>
          <p:cNvPicPr>
            <a:picLocks noChangeAspect="1"/>
          </p:cNvPicPr>
          <p:nvPr/>
        </p:nvPicPr>
        <p:blipFill>
          <a:blip r:embed="rId3"/>
          <a:stretch>
            <a:fillRect/>
          </a:stretch>
        </p:blipFill>
        <p:spPr>
          <a:xfrm>
            <a:off x="6217920" y="5660136"/>
            <a:ext cx="292608" cy="292608"/>
          </a:xfrm>
          <a:prstGeom prst="rect">
            <a:avLst/>
          </a:prstGeom>
        </p:spPr>
      </p:pic>
      <p:sp>
        <p:nvSpPr>
          <p:cNvPr id="16" name="Text 11"/>
          <p:cNvSpPr/>
          <p:nvPr/>
        </p:nvSpPr>
        <p:spPr>
          <a:xfrm>
            <a:off x="6583680" y="5486400"/>
            <a:ext cx="1737360" cy="6400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CI/CD</a:t>
            </a:r>
            <a:endParaRPr lang="en-US" sz="1300" dirty="0"/>
          </a:p>
        </p:txBody>
      </p:sp>
      <p:sp>
        <p:nvSpPr>
          <p:cNvPr id="17" name="Shape 12"/>
          <p:cNvSpPr/>
          <p:nvPr/>
        </p:nvSpPr>
        <p:spPr>
          <a:xfrm>
            <a:off x="8641080" y="5486400"/>
            <a:ext cx="2423160" cy="640080"/>
          </a:xfrm>
          <a:prstGeom prst="roundRect">
            <a:avLst>
              <a:gd name="adj" fmla="val 50000"/>
            </a:avLst>
          </a:prstGeom>
          <a:solidFill>
            <a:srgbClr val="4B2A82">
              <a:alpha val="70000"/>
            </a:srgbClr>
          </a:solidFill>
          <a:ln w="12700">
            <a:solidFill>
              <a:srgbClr val="7B42BC"/>
            </a:solidFill>
            <a:prstDash val="solid"/>
          </a:ln>
        </p:spPr>
      </p:sp>
      <p:pic>
        <p:nvPicPr>
          <p:cNvPr id="18" name="Image 3" descr="icons/cubes_white.png">    </p:cNvPr>
          <p:cNvPicPr>
            <a:picLocks noChangeAspect="1"/>
          </p:cNvPicPr>
          <p:nvPr/>
        </p:nvPicPr>
        <p:blipFill>
          <a:blip r:embed="rId4"/>
          <a:stretch>
            <a:fillRect/>
          </a:stretch>
        </p:blipFill>
        <p:spPr>
          <a:xfrm>
            <a:off x="8823960" y="5660136"/>
            <a:ext cx="292608" cy="292608"/>
          </a:xfrm>
          <a:prstGeom prst="rect">
            <a:avLst/>
          </a:prstGeom>
        </p:spPr>
      </p:pic>
      <p:sp>
        <p:nvSpPr>
          <p:cNvPr id="19" name="Text 13"/>
          <p:cNvSpPr/>
          <p:nvPr/>
        </p:nvSpPr>
        <p:spPr>
          <a:xfrm>
            <a:off x="9189720" y="5486400"/>
            <a:ext cx="1737360" cy="6400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Multi-Cloud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C"/>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7B42BC"/>
                </a:solidFill>
                <a:latin typeface="Calibri" pitchFamily="34" charset="0"/>
                <a:ea typeface="Calibri" pitchFamily="34" charset="-122"/>
                <a:cs typeface="Calibri" pitchFamily="34" charset="-120"/>
              </a:rPr>
              <a:t>OVERVIEW</a:t>
            </a:r>
            <a:endParaRPr lang="en-US" sz="1300" dirty="0"/>
          </a:p>
        </p:txBody>
      </p:sp>
      <p:sp>
        <p:nvSpPr>
          <p:cNvPr id="3" name="Text 1"/>
          <p:cNvSpPr/>
          <p:nvPr/>
        </p:nvSpPr>
        <p:spPr>
          <a:xfrm>
            <a:off x="548640" y="731520"/>
            <a:ext cx="8229600" cy="731520"/>
          </a:xfrm>
          <a:prstGeom prst="rect">
            <a:avLst/>
          </a:prstGeom>
          <a:noFill/>
          <a:ln/>
        </p:spPr>
        <p:txBody>
          <a:bodyPr wrap="square" lIns="0" tIns="0" rIns="0" bIns="0" rtlCol="0" anchor="ctr"/>
          <a:lstStyle/>
          <a:p>
            <a:pPr indent="0" marL="0">
              <a:buNone/>
            </a:pPr>
            <a:r>
              <a:rPr lang="en-US" sz="3800" b="1" dirty="0">
                <a:solidFill>
                  <a:srgbClr val="241C3E"/>
                </a:solidFill>
                <a:latin typeface="Cambria" pitchFamily="34" charset="0"/>
                <a:ea typeface="Cambria" pitchFamily="34" charset="-122"/>
                <a:cs typeface="Cambria" pitchFamily="34" charset="-120"/>
              </a:rPr>
              <a:t>Four hands-on projects</a:t>
            </a:r>
            <a:endParaRPr lang="en-US" sz="3800" dirty="0"/>
          </a:p>
        </p:txBody>
      </p:sp>
      <p:sp>
        <p:nvSpPr>
          <p:cNvPr id="4" name="Text 2"/>
          <p:cNvSpPr/>
          <p:nvPr/>
        </p:nvSpPr>
        <p:spPr>
          <a:xfrm>
            <a:off x="548640" y="1417320"/>
            <a:ext cx="9601200" cy="457200"/>
          </a:xfrm>
          <a:prstGeom prst="rect">
            <a:avLst/>
          </a:prstGeom>
          <a:noFill/>
          <a:ln/>
        </p:spPr>
        <p:txBody>
          <a:bodyPr wrap="square" lIns="0" tIns="0" rIns="0" bIns="0" rtlCol="0" anchor="ctr"/>
          <a:lstStyle/>
          <a:p>
            <a:pPr indent="0" marL="0">
              <a:buNone/>
            </a:pPr>
            <a:r>
              <a:rPr lang="en-US" sz="1500" dirty="0">
                <a:solidFill>
                  <a:srgbClr val="6B6483"/>
                </a:solidFill>
                <a:latin typeface="Calibri" pitchFamily="34" charset="0"/>
                <a:ea typeface="Calibri" pitchFamily="34" charset="-122"/>
                <a:cs typeface="Calibri" pitchFamily="34" charset="-120"/>
              </a:rPr>
              <a:t>Each project applies core Terraform concepts to a scenario you'll actually run in production.</a:t>
            </a:r>
            <a:endParaRPr lang="en-US" sz="1500" dirty="0"/>
          </a:p>
        </p:txBody>
      </p:sp>
      <p:sp>
        <p:nvSpPr>
          <p:cNvPr id="5" name="Shape 3"/>
          <p:cNvSpPr/>
          <p:nvPr/>
        </p:nvSpPr>
        <p:spPr>
          <a:xfrm>
            <a:off x="548640" y="2194560"/>
            <a:ext cx="11064240" cy="960120"/>
          </a:xfrm>
          <a:prstGeom prst="roundRect">
            <a:avLst>
              <a:gd name="adj" fmla="val 9524"/>
            </a:avLst>
          </a:prstGeom>
          <a:solidFill>
            <a:srgbClr val="FFFFFF"/>
          </a:solidFill>
          <a:ln/>
          <a:effectLst>
            <a:outerShdw sx="100000" sy="100000" kx="0" ky="0" algn="bl" rotWithShape="0" blurRad="101600" dist="38100" dir="2700000">
              <a:srgbClr val="000000">
                <a:alpha val="15000"/>
              </a:srgbClr>
            </a:outerShdw>
          </a:effectLst>
        </p:spPr>
      </p:sp>
      <p:sp>
        <p:nvSpPr>
          <p:cNvPr id="6" name="Shape 4"/>
          <p:cNvSpPr/>
          <p:nvPr/>
        </p:nvSpPr>
        <p:spPr>
          <a:xfrm>
            <a:off x="777240" y="2395728"/>
            <a:ext cx="548640" cy="548640"/>
          </a:xfrm>
          <a:prstGeom prst="ellipse">
            <a:avLst/>
          </a:prstGeom>
          <a:solidFill>
            <a:srgbClr val="7B42BC"/>
          </a:solidFill>
          <a:ln/>
        </p:spPr>
      </p:sp>
      <p:pic>
        <p:nvPicPr>
          <p:cNvPr id="7" name="Image 0" descr="icons/globe_white.png">    </p:cNvPr>
          <p:cNvPicPr>
            <a:picLocks noChangeAspect="1"/>
          </p:cNvPicPr>
          <p:nvPr/>
        </p:nvPicPr>
        <p:blipFill>
          <a:blip r:embed="rId1"/>
          <a:stretch>
            <a:fillRect/>
          </a:stretch>
        </p:blipFill>
        <p:spPr>
          <a:xfrm>
            <a:off x="914400" y="2532888"/>
            <a:ext cx="274320" cy="274320"/>
          </a:xfrm>
          <a:prstGeom prst="rect">
            <a:avLst/>
          </a:prstGeom>
        </p:spPr>
      </p:pic>
      <p:sp>
        <p:nvSpPr>
          <p:cNvPr id="8" name="Text 5"/>
          <p:cNvSpPr/>
          <p:nvPr/>
        </p:nvSpPr>
        <p:spPr>
          <a:xfrm>
            <a:off x="1508760" y="2331720"/>
            <a:ext cx="822960" cy="274320"/>
          </a:xfrm>
          <a:prstGeom prst="rect">
            <a:avLst/>
          </a:prstGeom>
          <a:noFill/>
          <a:ln/>
        </p:spPr>
        <p:txBody>
          <a:bodyPr wrap="square" lIns="0" tIns="0" rIns="0" bIns="0" rtlCol="0" anchor="ctr"/>
          <a:lstStyle/>
          <a:p>
            <a:pPr indent="0" marL="0">
              <a:buNone/>
            </a:pPr>
            <a:r>
              <a:rPr lang="en-US" sz="1200" b="1" dirty="0">
                <a:solidFill>
                  <a:srgbClr val="7B42BC"/>
                </a:solidFill>
                <a:latin typeface="Courier New" pitchFamily="34" charset="0"/>
                <a:ea typeface="Courier New" pitchFamily="34" charset="-122"/>
                <a:cs typeface="Courier New" pitchFamily="34" charset="-120"/>
              </a:rPr>
              <a:t>01</a:t>
            </a:r>
            <a:endParaRPr lang="en-US" sz="1200" dirty="0"/>
          </a:p>
        </p:txBody>
      </p:sp>
      <p:sp>
        <p:nvSpPr>
          <p:cNvPr id="9" name="Text 6"/>
          <p:cNvSpPr/>
          <p:nvPr/>
        </p:nvSpPr>
        <p:spPr>
          <a:xfrm>
            <a:off x="1508760" y="2542032"/>
            <a:ext cx="5760720" cy="365760"/>
          </a:xfrm>
          <a:prstGeom prst="rect">
            <a:avLst/>
          </a:prstGeom>
          <a:noFill/>
          <a:ln/>
        </p:spPr>
        <p:txBody>
          <a:bodyPr wrap="square" lIns="0" tIns="0" rIns="0" bIns="0" rtlCol="0" anchor="ctr"/>
          <a:lstStyle/>
          <a:p>
            <a:pPr indent="0" marL="0">
              <a:buNone/>
            </a:pPr>
            <a:r>
              <a:rPr lang="en-US" sz="1700" b="1" dirty="0">
                <a:solidFill>
                  <a:srgbClr val="241C3E"/>
                </a:solidFill>
                <a:latin typeface="Cambria" pitchFamily="34" charset="0"/>
                <a:ea typeface="Cambria" pitchFamily="34" charset="-122"/>
                <a:cs typeface="Cambria" pitchFamily="34" charset="-120"/>
              </a:rPr>
              <a:t>Highly Available Web App in AWS</a:t>
            </a:r>
            <a:endParaRPr lang="en-US" sz="1700" dirty="0"/>
          </a:p>
        </p:txBody>
      </p:sp>
      <p:sp>
        <p:nvSpPr>
          <p:cNvPr id="10" name="Text 7"/>
          <p:cNvSpPr/>
          <p:nvPr/>
        </p:nvSpPr>
        <p:spPr>
          <a:xfrm>
            <a:off x="7315200" y="2194560"/>
            <a:ext cx="4114800" cy="960120"/>
          </a:xfrm>
          <a:prstGeom prst="rect">
            <a:avLst/>
          </a:prstGeom>
          <a:noFill/>
          <a:ln/>
        </p:spPr>
        <p:txBody>
          <a:bodyPr wrap="square" lIns="0" tIns="0" rIns="0" bIns="0" rtlCol="0" anchor="ctr"/>
          <a:lstStyle/>
          <a:p>
            <a:pPr indent="0" marL="0">
              <a:buNone/>
            </a:pPr>
            <a:r>
              <a:rPr lang="en-US" sz="1250" dirty="0">
                <a:solidFill>
                  <a:srgbClr val="6B6483"/>
                </a:solidFill>
                <a:latin typeface="Calibri" pitchFamily="34" charset="0"/>
                <a:ea typeface="Calibri" pitchFamily="34" charset="-122"/>
                <a:cs typeface="Calibri" pitchFamily="34" charset="-120"/>
              </a:rPr>
              <a:t>EC2, Auto Scaling, ALB, and RDS working together.</a:t>
            </a:r>
            <a:endParaRPr lang="en-US" sz="1250" dirty="0"/>
          </a:p>
        </p:txBody>
      </p:sp>
      <p:sp>
        <p:nvSpPr>
          <p:cNvPr id="11" name="Shape 8"/>
          <p:cNvSpPr/>
          <p:nvPr/>
        </p:nvSpPr>
        <p:spPr>
          <a:xfrm>
            <a:off x="548640" y="3291840"/>
            <a:ext cx="11064240" cy="960120"/>
          </a:xfrm>
          <a:prstGeom prst="roundRect">
            <a:avLst>
              <a:gd name="adj" fmla="val 9524"/>
            </a:avLst>
          </a:prstGeom>
          <a:solidFill>
            <a:srgbClr val="FFFFFF"/>
          </a:solidFill>
          <a:ln/>
          <a:effectLst>
            <a:outerShdw sx="100000" sy="100000" kx="0" ky="0" algn="bl" rotWithShape="0" blurRad="101600" dist="38100" dir="2700000">
              <a:srgbClr val="000000">
                <a:alpha val="15000"/>
              </a:srgbClr>
            </a:outerShdw>
          </a:effectLst>
        </p:spPr>
      </p:sp>
      <p:sp>
        <p:nvSpPr>
          <p:cNvPr id="12" name="Shape 9"/>
          <p:cNvSpPr/>
          <p:nvPr/>
        </p:nvSpPr>
        <p:spPr>
          <a:xfrm>
            <a:off x="777240" y="3493008"/>
            <a:ext cx="548640" cy="548640"/>
          </a:xfrm>
          <a:prstGeom prst="ellipse">
            <a:avLst/>
          </a:prstGeom>
          <a:solidFill>
            <a:srgbClr val="7B42BC"/>
          </a:solidFill>
          <a:ln/>
        </p:spPr>
      </p:sp>
      <p:pic>
        <p:nvPicPr>
          <p:cNvPr id="13" name="Image 1" descr="icons/wheel_white.png">    </p:cNvPr>
          <p:cNvPicPr>
            <a:picLocks noChangeAspect="1"/>
          </p:cNvPicPr>
          <p:nvPr/>
        </p:nvPicPr>
        <p:blipFill>
          <a:blip r:embed="rId2"/>
          <a:stretch>
            <a:fillRect/>
          </a:stretch>
        </p:blipFill>
        <p:spPr>
          <a:xfrm>
            <a:off x="914400" y="3630168"/>
            <a:ext cx="274320" cy="274320"/>
          </a:xfrm>
          <a:prstGeom prst="rect">
            <a:avLst/>
          </a:prstGeom>
        </p:spPr>
      </p:pic>
      <p:sp>
        <p:nvSpPr>
          <p:cNvPr id="14" name="Text 10"/>
          <p:cNvSpPr/>
          <p:nvPr/>
        </p:nvSpPr>
        <p:spPr>
          <a:xfrm>
            <a:off x="1508760" y="3429000"/>
            <a:ext cx="822960" cy="274320"/>
          </a:xfrm>
          <a:prstGeom prst="rect">
            <a:avLst/>
          </a:prstGeom>
          <a:noFill/>
          <a:ln/>
        </p:spPr>
        <p:txBody>
          <a:bodyPr wrap="square" lIns="0" tIns="0" rIns="0" bIns="0" rtlCol="0" anchor="ctr"/>
          <a:lstStyle/>
          <a:p>
            <a:pPr indent="0" marL="0">
              <a:buNone/>
            </a:pPr>
            <a:r>
              <a:rPr lang="en-US" sz="1200" b="1" dirty="0">
                <a:solidFill>
                  <a:srgbClr val="7B42BC"/>
                </a:solidFill>
                <a:latin typeface="Courier New" pitchFamily="34" charset="0"/>
                <a:ea typeface="Courier New" pitchFamily="34" charset="-122"/>
                <a:cs typeface="Courier New" pitchFamily="34" charset="-120"/>
              </a:rPr>
              <a:t>02</a:t>
            </a:r>
            <a:endParaRPr lang="en-US" sz="1200" dirty="0"/>
          </a:p>
        </p:txBody>
      </p:sp>
      <p:sp>
        <p:nvSpPr>
          <p:cNvPr id="15" name="Text 11"/>
          <p:cNvSpPr/>
          <p:nvPr/>
        </p:nvSpPr>
        <p:spPr>
          <a:xfrm>
            <a:off x="1508760" y="3639312"/>
            <a:ext cx="5760720" cy="365760"/>
          </a:xfrm>
          <a:prstGeom prst="rect">
            <a:avLst/>
          </a:prstGeom>
          <a:noFill/>
          <a:ln/>
        </p:spPr>
        <p:txBody>
          <a:bodyPr wrap="square" lIns="0" tIns="0" rIns="0" bIns="0" rtlCol="0" anchor="ctr"/>
          <a:lstStyle/>
          <a:p>
            <a:pPr indent="0" marL="0">
              <a:buNone/>
            </a:pPr>
            <a:r>
              <a:rPr lang="en-US" sz="1700" b="1" dirty="0">
                <a:solidFill>
                  <a:srgbClr val="241C3E"/>
                </a:solidFill>
                <a:latin typeface="Cambria" pitchFamily="34" charset="0"/>
                <a:ea typeface="Cambria" pitchFamily="34" charset="-122"/>
                <a:cs typeface="Cambria" pitchFamily="34" charset="-120"/>
              </a:rPr>
              <a:t>Kubernetes Cluster with Terraform</a:t>
            </a:r>
            <a:endParaRPr lang="en-US" sz="1700" dirty="0"/>
          </a:p>
        </p:txBody>
      </p:sp>
      <p:sp>
        <p:nvSpPr>
          <p:cNvPr id="16" name="Text 12"/>
          <p:cNvSpPr/>
          <p:nvPr/>
        </p:nvSpPr>
        <p:spPr>
          <a:xfrm>
            <a:off x="7315200" y="3291840"/>
            <a:ext cx="4114800" cy="960120"/>
          </a:xfrm>
          <a:prstGeom prst="rect">
            <a:avLst/>
          </a:prstGeom>
          <a:noFill/>
          <a:ln/>
        </p:spPr>
        <p:txBody>
          <a:bodyPr wrap="square" lIns="0" tIns="0" rIns="0" bIns="0" rtlCol="0" anchor="ctr"/>
          <a:lstStyle/>
          <a:p>
            <a:pPr indent="0" marL="0">
              <a:buNone/>
            </a:pPr>
            <a:r>
              <a:rPr lang="en-US" sz="1250" dirty="0">
                <a:solidFill>
                  <a:srgbClr val="6B6483"/>
                </a:solidFill>
                <a:latin typeface="Calibri" pitchFamily="34" charset="0"/>
                <a:ea typeface="Calibri" pitchFamily="34" charset="-122"/>
                <a:cs typeface="Calibri" pitchFamily="34" charset="-120"/>
              </a:rPr>
              <a:t>Provision EKS and deploy a sample Nginx app.</a:t>
            </a:r>
            <a:endParaRPr lang="en-US" sz="1250" dirty="0"/>
          </a:p>
        </p:txBody>
      </p:sp>
      <p:sp>
        <p:nvSpPr>
          <p:cNvPr id="17" name="Shape 13"/>
          <p:cNvSpPr/>
          <p:nvPr/>
        </p:nvSpPr>
        <p:spPr>
          <a:xfrm>
            <a:off x="548640" y="4389120"/>
            <a:ext cx="11064240" cy="960120"/>
          </a:xfrm>
          <a:prstGeom prst="roundRect">
            <a:avLst>
              <a:gd name="adj" fmla="val 9524"/>
            </a:avLst>
          </a:prstGeom>
          <a:solidFill>
            <a:srgbClr val="FFFFFF"/>
          </a:solidFill>
          <a:ln/>
          <a:effectLst>
            <a:outerShdw sx="100000" sy="100000" kx="0" ky="0" algn="bl" rotWithShape="0" blurRad="101600" dist="38100" dir="2700000">
              <a:srgbClr val="000000">
                <a:alpha val="15000"/>
              </a:srgbClr>
            </a:outerShdw>
          </a:effectLst>
        </p:spPr>
      </p:sp>
      <p:sp>
        <p:nvSpPr>
          <p:cNvPr id="18" name="Shape 14"/>
          <p:cNvSpPr/>
          <p:nvPr/>
        </p:nvSpPr>
        <p:spPr>
          <a:xfrm>
            <a:off x="777240" y="4590288"/>
            <a:ext cx="548640" cy="548640"/>
          </a:xfrm>
          <a:prstGeom prst="ellipse">
            <a:avLst/>
          </a:prstGeom>
          <a:solidFill>
            <a:srgbClr val="7B42BC"/>
          </a:solidFill>
          <a:ln/>
        </p:spPr>
      </p:sp>
      <p:pic>
        <p:nvPicPr>
          <p:cNvPr id="19" name="Image 2" descr="icons/robot_white.png">    </p:cNvPr>
          <p:cNvPicPr>
            <a:picLocks noChangeAspect="1"/>
          </p:cNvPicPr>
          <p:nvPr/>
        </p:nvPicPr>
        <p:blipFill>
          <a:blip r:embed="rId3"/>
          <a:stretch>
            <a:fillRect/>
          </a:stretch>
        </p:blipFill>
        <p:spPr>
          <a:xfrm>
            <a:off x="914400" y="4727448"/>
            <a:ext cx="274320" cy="274320"/>
          </a:xfrm>
          <a:prstGeom prst="rect">
            <a:avLst/>
          </a:prstGeom>
        </p:spPr>
      </p:pic>
      <p:sp>
        <p:nvSpPr>
          <p:cNvPr id="20" name="Text 15"/>
          <p:cNvSpPr/>
          <p:nvPr/>
        </p:nvSpPr>
        <p:spPr>
          <a:xfrm>
            <a:off x="1508760" y="4526280"/>
            <a:ext cx="822960" cy="274320"/>
          </a:xfrm>
          <a:prstGeom prst="rect">
            <a:avLst/>
          </a:prstGeom>
          <a:noFill/>
          <a:ln/>
        </p:spPr>
        <p:txBody>
          <a:bodyPr wrap="square" lIns="0" tIns="0" rIns="0" bIns="0" rtlCol="0" anchor="ctr"/>
          <a:lstStyle/>
          <a:p>
            <a:pPr indent="0" marL="0">
              <a:buNone/>
            </a:pPr>
            <a:r>
              <a:rPr lang="en-US" sz="1200" b="1" dirty="0">
                <a:solidFill>
                  <a:srgbClr val="7B42BC"/>
                </a:solidFill>
                <a:latin typeface="Courier New" pitchFamily="34" charset="0"/>
                <a:ea typeface="Courier New" pitchFamily="34" charset="-122"/>
                <a:cs typeface="Courier New" pitchFamily="34" charset="-120"/>
              </a:rPr>
              <a:t>03</a:t>
            </a:r>
            <a:endParaRPr lang="en-US" sz="1200" dirty="0"/>
          </a:p>
        </p:txBody>
      </p:sp>
      <p:sp>
        <p:nvSpPr>
          <p:cNvPr id="21" name="Text 16"/>
          <p:cNvSpPr/>
          <p:nvPr/>
        </p:nvSpPr>
        <p:spPr>
          <a:xfrm>
            <a:off x="1508760" y="4736592"/>
            <a:ext cx="5760720" cy="365760"/>
          </a:xfrm>
          <a:prstGeom prst="rect">
            <a:avLst/>
          </a:prstGeom>
          <a:noFill/>
          <a:ln/>
        </p:spPr>
        <p:txBody>
          <a:bodyPr wrap="square" lIns="0" tIns="0" rIns="0" bIns="0" rtlCol="0" anchor="ctr"/>
          <a:lstStyle/>
          <a:p>
            <a:pPr indent="0" marL="0">
              <a:buNone/>
            </a:pPr>
            <a:r>
              <a:rPr lang="en-US" sz="1700" b="1" dirty="0">
                <a:solidFill>
                  <a:srgbClr val="241C3E"/>
                </a:solidFill>
                <a:latin typeface="Cambria" pitchFamily="34" charset="0"/>
                <a:ea typeface="Cambria" pitchFamily="34" charset="-122"/>
                <a:cs typeface="Cambria" pitchFamily="34" charset="-120"/>
              </a:rPr>
              <a:t>Terraform in a CI/CD Pipeline</a:t>
            </a:r>
            <a:endParaRPr lang="en-US" sz="1700" dirty="0"/>
          </a:p>
        </p:txBody>
      </p:sp>
      <p:sp>
        <p:nvSpPr>
          <p:cNvPr id="22" name="Text 17"/>
          <p:cNvSpPr/>
          <p:nvPr/>
        </p:nvSpPr>
        <p:spPr>
          <a:xfrm>
            <a:off x="7315200" y="4389120"/>
            <a:ext cx="4114800" cy="960120"/>
          </a:xfrm>
          <a:prstGeom prst="rect">
            <a:avLst/>
          </a:prstGeom>
          <a:noFill/>
          <a:ln/>
        </p:spPr>
        <p:txBody>
          <a:bodyPr wrap="square" lIns="0" tIns="0" rIns="0" bIns="0" rtlCol="0" anchor="ctr"/>
          <a:lstStyle/>
          <a:p>
            <a:pPr indent="0" marL="0">
              <a:buNone/>
            </a:pPr>
            <a:r>
              <a:rPr lang="en-US" sz="1250" dirty="0">
                <a:solidFill>
                  <a:srgbClr val="6B6483"/>
                </a:solidFill>
                <a:latin typeface="Calibri" pitchFamily="34" charset="0"/>
                <a:ea typeface="Calibri" pitchFamily="34" charset="-122"/>
                <a:cs typeface="Calibri" pitchFamily="34" charset="-120"/>
              </a:rPr>
              <a:t>Automate plan &amp; apply with GitLab CI/CD.</a:t>
            </a:r>
            <a:endParaRPr lang="en-US" sz="1250" dirty="0"/>
          </a:p>
        </p:txBody>
      </p:sp>
      <p:sp>
        <p:nvSpPr>
          <p:cNvPr id="23" name="Shape 18"/>
          <p:cNvSpPr/>
          <p:nvPr/>
        </p:nvSpPr>
        <p:spPr>
          <a:xfrm>
            <a:off x="548640" y="5486400"/>
            <a:ext cx="11064240" cy="960120"/>
          </a:xfrm>
          <a:prstGeom prst="roundRect">
            <a:avLst>
              <a:gd name="adj" fmla="val 9524"/>
            </a:avLst>
          </a:prstGeom>
          <a:solidFill>
            <a:srgbClr val="FFFFFF"/>
          </a:solidFill>
          <a:ln/>
          <a:effectLst>
            <a:outerShdw sx="100000" sy="100000" kx="0" ky="0" algn="bl" rotWithShape="0" blurRad="101600" dist="38100" dir="2700000">
              <a:srgbClr val="000000">
                <a:alpha val="15000"/>
              </a:srgbClr>
            </a:outerShdw>
          </a:effectLst>
        </p:spPr>
      </p:sp>
      <p:sp>
        <p:nvSpPr>
          <p:cNvPr id="24" name="Shape 19"/>
          <p:cNvSpPr/>
          <p:nvPr/>
        </p:nvSpPr>
        <p:spPr>
          <a:xfrm>
            <a:off x="777240" y="5687568"/>
            <a:ext cx="548640" cy="548640"/>
          </a:xfrm>
          <a:prstGeom prst="ellipse">
            <a:avLst/>
          </a:prstGeom>
          <a:solidFill>
            <a:srgbClr val="7B42BC"/>
          </a:solidFill>
          <a:ln/>
        </p:spPr>
      </p:sp>
      <p:pic>
        <p:nvPicPr>
          <p:cNvPr id="25" name="Image 3" descr="icons/cubes_white.png">    </p:cNvPr>
          <p:cNvPicPr>
            <a:picLocks noChangeAspect="1"/>
          </p:cNvPicPr>
          <p:nvPr/>
        </p:nvPicPr>
        <p:blipFill>
          <a:blip r:embed="rId4"/>
          <a:stretch>
            <a:fillRect/>
          </a:stretch>
        </p:blipFill>
        <p:spPr>
          <a:xfrm>
            <a:off x="914400" y="5824728"/>
            <a:ext cx="274320" cy="274320"/>
          </a:xfrm>
          <a:prstGeom prst="rect">
            <a:avLst/>
          </a:prstGeom>
        </p:spPr>
      </p:pic>
      <p:sp>
        <p:nvSpPr>
          <p:cNvPr id="26" name="Text 20"/>
          <p:cNvSpPr/>
          <p:nvPr/>
        </p:nvSpPr>
        <p:spPr>
          <a:xfrm>
            <a:off x="1508760" y="5623560"/>
            <a:ext cx="822960" cy="274320"/>
          </a:xfrm>
          <a:prstGeom prst="rect">
            <a:avLst/>
          </a:prstGeom>
          <a:noFill/>
          <a:ln/>
        </p:spPr>
        <p:txBody>
          <a:bodyPr wrap="square" lIns="0" tIns="0" rIns="0" bIns="0" rtlCol="0" anchor="ctr"/>
          <a:lstStyle/>
          <a:p>
            <a:pPr indent="0" marL="0">
              <a:buNone/>
            </a:pPr>
            <a:r>
              <a:rPr lang="en-US" sz="1200" b="1" dirty="0">
                <a:solidFill>
                  <a:srgbClr val="7B42BC"/>
                </a:solidFill>
                <a:latin typeface="Courier New" pitchFamily="34" charset="0"/>
                <a:ea typeface="Courier New" pitchFamily="34" charset="-122"/>
                <a:cs typeface="Courier New" pitchFamily="34" charset="-120"/>
              </a:rPr>
              <a:t>04</a:t>
            </a:r>
            <a:endParaRPr lang="en-US" sz="1200" dirty="0"/>
          </a:p>
        </p:txBody>
      </p:sp>
      <p:sp>
        <p:nvSpPr>
          <p:cNvPr id="27" name="Text 21"/>
          <p:cNvSpPr/>
          <p:nvPr/>
        </p:nvSpPr>
        <p:spPr>
          <a:xfrm>
            <a:off x="1508760" y="5833872"/>
            <a:ext cx="5760720" cy="365760"/>
          </a:xfrm>
          <a:prstGeom prst="rect">
            <a:avLst/>
          </a:prstGeom>
          <a:noFill/>
          <a:ln/>
        </p:spPr>
        <p:txBody>
          <a:bodyPr wrap="square" lIns="0" tIns="0" rIns="0" bIns="0" rtlCol="0" anchor="ctr"/>
          <a:lstStyle/>
          <a:p>
            <a:pPr indent="0" marL="0">
              <a:buNone/>
            </a:pPr>
            <a:r>
              <a:rPr lang="en-US" sz="1700" b="1" dirty="0">
                <a:solidFill>
                  <a:srgbClr val="241C3E"/>
                </a:solidFill>
                <a:latin typeface="Cambria" pitchFamily="34" charset="0"/>
                <a:ea typeface="Cambria" pitchFamily="34" charset="-122"/>
                <a:cs typeface="Cambria" pitchFamily="34" charset="-120"/>
              </a:rPr>
              <a:t>Multi-Cloud Setup</a:t>
            </a:r>
            <a:endParaRPr lang="en-US" sz="1700" dirty="0"/>
          </a:p>
        </p:txBody>
      </p:sp>
      <p:sp>
        <p:nvSpPr>
          <p:cNvPr id="28" name="Text 22"/>
          <p:cNvSpPr/>
          <p:nvPr/>
        </p:nvSpPr>
        <p:spPr>
          <a:xfrm>
            <a:off x="7315200" y="5486400"/>
            <a:ext cx="4114800" cy="960120"/>
          </a:xfrm>
          <a:prstGeom prst="rect">
            <a:avLst/>
          </a:prstGeom>
          <a:noFill/>
          <a:ln/>
        </p:spPr>
        <p:txBody>
          <a:bodyPr wrap="square" lIns="0" tIns="0" rIns="0" bIns="0" rtlCol="0" anchor="ctr"/>
          <a:lstStyle/>
          <a:p>
            <a:pPr indent="0" marL="0">
              <a:buNone/>
            </a:pPr>
            <a:r>
              <a:rPr lang="en-US" sz="1250" dirty="0">
                <a:solidFill>
                  <a:srgbClr val="6B6483"/>
                </a:solidFill>
                <a:latin typeface="Calibri" pitchFamily="34" charset="0"/>
                <a:ea typeface="Calibri" pitchFamily="34" charset="-122"/>
                <a:cs typeface="Calibri" pitchFamily="34" charset="-120"/>
              </a:rPr>
              <a:t>Deploy identical infrastructure to AWS &amp; Azure.</a:t>
            </a:r>
            <a:endParaRPr lang="en-US" sz="1250" dirty="0"/>
          </a:p>
        </p:txBody>
      </p:sp>
      <p:sp>
        <p:nvSpPr>
          <p:cNvPr id="29" name="Text 23"/>
          <p:cNvSpPr/>
          <p:nvPr/>
        </p:nvSpPr>
        <p:spPr>
          <a:xfrm>
            <a:off x="457200" y="6446520"/>
            <a:ext cx="6400800" cy="274320"/>
          </a:xfrm>
          <a:prstGeom prst="rect">
            <a:avLst/>
          </a:prstGeom>
          <a:noFill/>
          <a:ln/>
        </p:spPr>
        <p:txBody>
          <a:bodyPr wrap="square" lIns="0" tIns="0" rIns="0" bIns="0" rtlCol="0" anchor="ctr"/>
          <a:lstStyle/>
          <a:p>
            <a:pPr algn="l" indent="0" marL="0">
              <a:buNone/>
            </a:pPr>
            <a:r>
              <a:rPr lang="en-US" sz="1000" dirty="0">
                <a:solidFill>
                  <a:srgbClr val="6B6483"/>
                </a:solidFill>
                <a:latin typeface="Calibri" pitchFamily="34" charset="0"/>
                <a:ea typeface="Calibri" pitchFamily="34" charset="-122"/>
                <a:cs typeface="Calibri" pitchFamily="34" charset="-120"/>
              </a:rPr>
              <a:t>Real-World Projects &amp; Hands-On Labs</a:t>
            </a:r>
            <a:endParaRPr lang="en-US" sz="1000" dirty="0"/>
          </a:p>
        </p:txBody>
      </p:sp>
      <p:sp>
        <p:nvSpPr>
          <p:cNvPr id="30" name="Text 24"/>
          <p:cNvSpPr/>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6B6483"/>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C"/>
        </a:solidFill>
      </p:bgPr>
    </p:bg>
    <p:spTree>
      <p:nvGrpSpPr>
        <p:cNvPr id="1" name=""/>
        <p:cNvGrpSpPr/>
        <p:nvPr/>
      </p:nvGrpSpPr>
      <p:grpSpPr>
        <a:xfrm>
          <a:off x="0" y="0"/>
          <a:ext cx="0" cy="0"/>
          <a:chOff x="0" y="0"/>
          <a:chExt cx="0" cy="0"/>
        </a:xfrm>
      </p:grpSpPr>
      <p:sp>
        <p:nvSpPr>
          <p:cNvPr id="2" name="Shape 0"/>
          <p:cNvSpPr/>
          <p:nvPr/>
        </p:nvSpPr>
        <p:spPr>
          <a:xfrm>
            <a:off x="548640" y="411480"/>
            <a:ext cx="1600200" cy="384048"/>
          </a:xfrm>
          <a:prstGeom prst="roundRect">
            <a:avLst>
              <a:gd name="adj" fmla="val 50000"/>
            </a:avLst>
          </a:prstGeom>
          <a:solidFill>
            <a:srgbClr val="7B42BC"/>
          </a:solidFill>
          <a:ln/>
        </p:spPr>
      </p:sp>
      <p:sp>
        <p:nvSpPr>
          <p:cNvPr id="3" name="Text 1"/>
          <p:cNvSpPr/>
          <p:nvPr/>
        </p:nvSpPr>
        <p:spPr>
          <a:xfrm>
            <a:off x="548640" y="411480"/>
            <a:ext cx="1600200"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PROJECT 1</a:t>
            </a:r>
            <a:endParaRPr lang="en-US" sz="1200" dirty="0"/>
          </a:p>
        </p:txBody>
      </p:sp>
      <p:sp>
        <p:nvSpPr>
          <p:cNvPr id="4" name="Text 2"/>
          <p:cNvSpPr/>
          <p:nvPr/>
        </p:nvSpPr>
        <p:spPr>
          <a:xfrm>
            <a:off x="2286000" y="411480"/>
            <a:ext cx="7315200" cy="384048"/>
          </a:xfrm>
          <a:prstGeom prst="rect">
            <a:avLst/>
          </a:prstGeom>
          <a:noFill/>
          <a:ln/>
        </p:spPr>
        <p:txBody>
          <a:bodyPr wrap="square" lIns="0" tIns="0" rIns="0" bIns="0" rtlCol="0" anchor="ctr"/>
          <a:lstStyle/>
          <a:p>
            <a:pPr indent="0" marL="0">
              <a:buNone/>
            </a:pPr>
            <a:r>
              <a:rPr lang="en-US" sz="1300" b="1" spc="200" kern="0" dirty="0">
                <a:solidFill>
                  <a:srgbClr val="7B42BC"/>
                </a:solidFill>
                <a:latin typeface="Calibri" pitchFamily="34" charset="0"/>
                <a:ea typeface="Calibri" pitchFamily="34" charset="-122"/>
                <a:cs typeface="Calibri" pitchFamily="34" charset="-120"/>
              </a:rPr>
              <a:t>HIGHLY AVAILABLE WEB APP</a:t>
            </a:r>
            <a:endParaRPr lang="en-US" sz="1300" dirty="0"/>
          </a:p>
        </p:txBody>
      </p:sp>
      <p:sp>
        <p:nvSpPr>
          <p:cNvPr id="5" name="Text 3"/>
          <p:cNvSpPr/>
          <p:nvPr/>
        </p:nvSpPr>
        <p:spPr>
          <a:xfrm>
            <a:off x="548640" y="960120"/>
            <a:ext cx="10058400" cy="640080"/>
          </a:xfrm>
          <a:prstGeom prst="rect">
            <a:avLst/>
          </a:prstGeom>
          <a:noFill/>
          <a:ln/>
        </p:spPr>
        <p:txBody>
          <a:bodyPr wrap="square" lIns="0" tIns="0" rIns="0" bIns="0" rtlCol="0" anchor="ctr"/>
          <a:lstStyle/>
          <a:p>
            <a:pPr indent="0" marL="0">
              <a:buNone/>
            </a:pPr>
            <a:r>
              <a:rPr lang="en-US" sz="3000" b="1" dirty="0">
                <a:solidFill>
                  <a:srgbClr val="241C3E"/>
                </a:solidFill>
                <a:latin typeface="Cambria" pitchFamily="34" charset="0"/>
                <a:ea typeface="Cambria" pitchFamily="34" charset="-122"/>
                <a:cs typeface="Cambria" pitchFamily="34" charset="-120"/>
              </a:rPr>
              <a:t>Deploy a scalable web app on AWS</a:t>
            </a:r>
            <a:endParaRPr lang="en-US" sz="3000" dirty="0"/>
          </a:p>
        </p:txBody>
      </p:sp>
      <p:sp>
        <p:nvSpPr>
          <p:cNvPr id="6" name="Text 4"/>
          <p:cNvSpPr/>
          <p:nvPr/>
        </p:nvSpPr>
        <p:spPr>
          <a:xfrm>
            <a:off x="548640" y="1600200"/>
            <a:ext cx="10058400" cy="457200"/>
          </a:xfrm>
          <a:prstGeom prst="rect">
            <a:avLst/>
          </a:prstGeom>
          <a:noFill/>
          <a:ln/>
        </p:spPr>
        <p:txBody>
          <a:bodyPr wrap="square" lIns="0" tIns="0" rIns="0" bIns="0" rtlCol="0" anchor="ctr"/>
          <a:lstStyle/>
          <a:p>
            <a:pPr indent="0" marL="0">
              <a:buNone/>
            </a:pPr>
            <a:r>
              <a:rPr lang="en-US" sz="1500" dirty="0">
                <a:solidFill>
                  <a:srgbClr val="6B6483"/>
                </a:solidFill>
                <a:latin typeface="Calibri" pitchFamily="34" charset="0"/>
                <a:ea typeface="Calibri" pitchFamily="34" charset="-122"/>
                <a:cs typeface="Calibri" pitchFamily="34" charset="-120"/>
              </a:rPr>
              <a:t>A production pattern combining compute, traffic distribution, elasticity, and a managed database.</a:t>
            </a:r>
            <a:endParaRPr lang="en-US" sz="1500" dirty="0"/>
          </a:p>
        </p:txBody>
      </p:sp>
      <p:sp>
        <p:nvSpPr>
          <p:cNvPr id="7" name="Shape 5"/>
          <p:cNvSpPr/>
          <p:nvPr/>
        </p:nvSpPr>
        <p:spPr>
          <a:xfrm>
            <a:off x="548640" y="2331720"/>
            <a:ext cx="5349240" cy="1508760"/>
          </a:xfrm>
          <a:prstGeom prst="roundRect">
            <a:avLst>
              <a:gd name="adj" fmla="val 6061"/>
            </a:avLst>
          </a:prstGeom>
          <a:solidFill>
            <a:srgbClr val="FFFFFF"/>
          </a:solidFill>
          <a:ln/>
          <a:effectLst>
            <a:outerShdw sx="100000" sy="100000" kx="0" ky="0" algn="bl" rotWithShape="0" blurRad="101600" dist="38100" dir="2700000">
              <a:srgbClr val="000000">
                <a:alpha val="15000"/>
              </a:srgbClr>
            </a:outerShdw>
          </a:effectLst>
        </p:spPr>
      </p:sp>
      <p:sp>
        <p:nvSpPr>
          <p:cNvPr id="8" name="Shape 6"/>
          <p:cNvSpPr/>
          <p:nvPr/>
        </p:nvSpPr>
        <p:spPr>
          <a:xfrm>
            <a:off x="777240" y="2560320"/>
            <a:ext cx="594360" cy="594360"/>
          </a:xfrm>
          <a:prstGeom prst="ellipse">
            <a:avLst/>
          </a:prstGeom>
          <a:solidFill>
            <a:srgbClr val="F1EDF9"/>
          </a:solidFill>
          <a:ln/>
        </p:spPr>
      </p:sp>
      <p:pic>
        <p:nvPicPr>
          <p:cNvPr id="9" name="Image 0" descr="icons/server_purple.png">    </p:cNvPr>
          <p:cNvPicPr>
            <a:picLocks noChangeAspect="1"/>
          </p:cNvPicPr>
          <p:nvPr/>
        </p:nvPicPr>
        <p:blipFill>
          <a:blip r:embed="rId1"/>
          <a:stretch>
            <a:fillRect/>
          </a:stretch>
        </p:blipFill>
        <p:spPr>
          <a:xfrm>
            <a:off x="932688" y="2715768"/>
            <a:ext cx="274320" cy="274320"/>
          </a:xfrm>
          <a:prstGeom prst="rect">
            <a:avLst/>
          </a:prstGeom>
        </p:spPr>
      </p:pic>
      <p:sp>
        <p:nvSpPr>
          <p:cNvPr id="10" name="Text 7"/>
          <p:cNvSpPr/>
          <p:nvPr/>
        </p:nvSpPr>
        <p:spPr>
          <a:xfrm>
            <a:off x="1554480" y="2532888"/>
            <a:ext cx="4160520" cy="365760"/>
          </a:xfrm>
          <a:prstGeom prst="rect">
            <a:avLst/>
          </a:prstGeom>
          <a:noFill/>
          <a:ln/>
        </p:spPr>
        <p:txBody>
          <a:bodyPr wrap="square" lIns="0" tIns="0" rIns="0" bIns="0" rtlCol="0" anchor="ctr"/>
          <a:lstStyle/>
          <a:p>
            <a:pPr indent="0" marL="0">
              <a:buNone/>
            </a:pPr>
            <a:r>
              <a:rPr lang="en-US" sz="1600" b="1" dirty="0">
                <a:solidFill>
                  <a:srgbClr val="241C3E"/>
                </a:solidFill>
                <a:latin typeface="Cambria" pitchFamily="34" charset="0"/>
                <a:ea typeface="Cambria" pitchFamily="34" charset="-122"/>
                <a:cs typeface="Cambria" pitchFamily="34" charset="-120"/>
              </a:rPr>
              <a:t>EC2 Instances</a:t>
            </a:r>
            <a:endParaRPr lang="en-US" sz="1600" dirty="0"/>
          </a:p>
        </p:txBody>
      </p:sp>
      <p:sp>
        <p:nvSpPr>
          <p:cNvPr id="11" name="Text 8"/>
          <p:cNvSpPr/>
          <p:nvPr/>
        </p:nvSpPr>
        <p:spPr>
          <a:xfrm>
            <a:off x="1554480" y="2898648"/>
            <a:ext cx="4160520" cy="822960"/>
          </a:xfrm>
          <a:prstGeom prst="rect">
            <a:avLst/>
          </a:prstGeom>
          <a:noFill/>
          <a:ln/>
        </p:spPr>
        <p:txBody>
          <a:bodyPr wrap="square" lIns="0" tIns="0" rIns="0" bIns="0" rtlCol="0" anchor="ctr"/>
          <a:lstStyle/>
          <a:p>
            <a:pPr indent="0" marL="0">
              <a:lnSpc>
                <a:spcPct val="120000"/>
              </a:lnSpc>
              <a:buNone/>
            </a:pPr>
            <a:r>
              <a:rPr lang="en-US" sz="1250" dirty="0">
                <a:solidFill>
                  <a:srgbClr val="6B6483"/>
                </a:solidFill>
                <a:latin typeface="Calibri" pitchFamily="34" charset="0"/>
                <a:ea typeface="Calibri" pitchFamily="34" charset="-122"/>
                <a:cs typeface="Calibri" pitchFamily="34" charset="-120"/>
              </a:rPr>
              <a:t>The application servers running your code.</a:t>
            </a:r>
            <a:endParaRPr lang="en-US" sz="1250" dirty="0"/>
          </a:p>
        </p:txBody>
      </p:sp>
      <p:sp>
        <p:nvSpPr>
          <p:cNvPr id="12" name="Shape 9"/>
          <p:cNvSpPr/>
          <p:nvPr/>
        </p:nvSpPr>
        <p:spPr>
          <a:xfrm>
            <a:off x="6263640" y="2331720"/>
            <a:ext cx="5349240" cy="1508760"/>
          </a:xfrm>
          <a:prstGeom prst="roundRect">
            <a:avLst>
              <a:gd name="adj" fmla="val 6061"/>
            </a:avLst>
          </a:prstGeom>
          <a:solidFill>
            <a:srgbClr val="FFFFFF"/>
          </a:solidFill>
          <a:ln/>
          <a:effectLst>
            <a:outerShdw sx="100000" sy="100000" kx="0" ky="0" algn="bl" rotWithShape="0" blurRad="101600" dist="38100" dir="2700000">
              <a:srgbClr val="000000">
                <a:alpha val="15000"/>
              </a:srgbClr>
            </a:outerShdw>
          </a:effectLst>
        </p:spPr>
      </p:sp>
      <p:sp>
        <p:nvSpPr>
          <p:cNvPr id="13" name="Shape 10"/>
          <p:cNvSpPr/>
          <p:nvPr/>
        </p:nvSpPr>
        <p:spPr>
          <a:xfrm>
            <a:off x="6492240" y="2560320"/>
            <a:ext cx="594360" cy="594360"/>
          </a:xfrm>
          <a:prstGeom prst="ellipse">
            <a:avLst/>
          </a:prstGeom>
          <a:solidFill>
            <a:srgbClr val="F1EDF9"/>
          </a:solidFill>
          <a:ln/>
        </p:spPr>
      </p:sp>
      <p:pic>
        <p:nvPicPr>
          <p:cNvPr id="14" name="Image 1" descr="icons/balance_purple.png">    </p:cNvPr>
          <p:cNvPicPr>
            <a:picLocks noChangeAspect="1"/>
          </p:cNvPicPr>
          <p:nvPr/>
        </p:nvPicPr>
        <p:blipFill>
          <a:blip r:embed="rId2"/>
          <a:stretch>
            <a:fillRect/>
          </a:stretch>
        </p:blipFill>
        <p:spPr>
          <a:xfrm>
            <a:off x="6647688" y="2715768"/>
            <a:ext cx="274320" cy="274320"/>
          </a:xfrm>
          <a:prstGeom prst="rect">
            <a:avLst/>
          </a:prstGeom>
        </p:spPr>
      </p:pic>
      <p:sp>
        <p:nvSpPr>
          <p:cNvPr id="15" name="Text 11"/>
          <p:cNvSpPr/>
          <p:nvPr/>
        </p:nvSpPr>
        <p:spPr>
          <a:xfrm>
            <a:off x="7269480" y="2532888"/>
            <a:ext cx="4160520" cy="365760"/>
          </a:xfrm>
          <a:prstGeom prst="rect">
            <a:avLst/>
          </a:prstGeom>
          <a:noFill/>
          <a:ln/>
        </p:spPr>
        <p:txBody>
          <a:bodyPr wrap="square" lIns="0" tIns="0" rIns="0" bIns="0" rtlCol="0" anchor="ctr"/>
          <a:lstStyle/>
          <a:p>
            <a:pPr indent="0" marL="0">
              <a:buNone/>
            </a:pPr>
            <a:r>
              <a:rPr lang="en-US" sz="1600" b="1" dirty="0">
                <a:solidFill>
                  <a:srgbClr val="241C3E"/>
                </a:solidFill>
                <a:latin typeface="Cambria" pitchFamily="34" charset="0"/>
                <a:ea typeface="Cambria" pitchFamily="34" charset="-122"/>
                <a:cs typeface="Cambria" pitchFamily="34" charset="-120"/>
              </a:rPr>
              <a:t>Application Load Balancer</a:t>
            </a:r>
            <a:endParaRPr lang="en-US" sz="1600" dirty="0"/>
          </a:p>
        </p:txBody>
      </p:sp>
      <p:sp>
        <p:nvSpPr>
          <p:cNvPr id="16" name="Text 12"/>
          <p:cNvSpPr/>
          <p:nvPr/>
        </p:nvSpPr>
        <p:spPr>
          <a:xfrm>
            <a:off x="7269480" y="2898648"/>
            <a:ext cx="4160520" cy="822960"/>
          </a:xfrm>
          <a:prstGeom prst="rect">
            <a:avLst/>
          </a:prstGeom>
          <a:noFill/>
          <a:ln/>
        </p:spPr>
        <p:txBody>
          <a:bodyPr wrap="square" lIns="0" tIns="0" rIns="0" bIns="0" rtlCol="0" anchor="ctr"/>
          <a:lstStyle/>
          <a:p>
            <a:pPr indent="0" marL="0">
              <a:lnSpc>
                <a:spcPct val="120000"/>
              </a:lnSpc>
              <a:buNone/>
            </a:pPr>
            <a:r>
              <a:rPr lang="en-US" sz="1250" dirty="0">
                <a:solidFill>
                  <a:srgbClr val="6B6483"/>
                </a:solidFill>
                <a:latin typeface="Calibri" pitchFamily="34" charset="0"/>
                <a:ea typeface="Calibri" pitchFamily="34" charset="-122"/>
                <a:cs typeface="Calibri" pitchFamily="34" charset="-120"/>
              </a:rPr>
              <a:t>Distributes incoming traffic across healthy instances.</a:t>
            </a:r>
            <a:endParaRPr lang="en-US" sz="1250" dirty="0"/>
          </a:p>
        </p:txBody>
      </p:sp>
      <p:sp>
        <p:nvSpPr>
          <p:cNvPr id="17" name="Shape 13"/>
          <p:cNvSpPr/>
          <p:nvPr/>
        </p:nvSpPr>
        <p:spPr>
          <a:xfrm>
            <a:off x="548640" y="4069080"/>
            <a:ext cx="5349240" cy="1508760"/>
          </a:xfrm>
          <a:prstGeom prst="roundRect">
            <a:avLst>
              <a:gd name="adj" fmla="val 6061"/>
            </a:avLst>
          </a:prstGeom>
          <a:solidFill>
            <a:srgbClr val="FFFFFF"/>
          </a:solidFill>
          <a:ln/>
          <a:effectLst>
            <a:outerShdw sx="100000" sy="100000" kx="0" ky="0" algn="bl" rotWithShape="0" blurRad="101600" dist="38100" dir="2700000">
              <a:srgbClr val="000000">
                <a:alpha val="15000"/>
              </a:srgbClr>
            </a:outerShdw>
          </a:effectLst>
        </p:spPr>
      </p:sp>
      <p:sp>
        <p:nvSpPr>
          <p:cNvPr id="18" name="Shape 14"/>
          <p:cNvSpPr/>
          <p:nvPr/>
        </p:nvSpPr>
        <p:spPr>
          <a:xfrm>
            <a:off x="777240" y="4297680"/>
            <a:ext cx="594360" cy="594360"/>
          </a:xfrm>
          <a:prstGeom prst="ellipse">
            <a:avLst/>
          </a:prstGeom>
          <a:solidFill>
            <a:srgbClr val="F1EDF9"/>
          </a:solidFill>
          <a:ln/>
        </p:spPr>
      </p:sp>
      <p:pic>
        <p:nvPicPr>
          <p:cNvPr id="19" name="Image 2" descr="icons/network_purple.png">    </p:cNvPr>
          <p:cNvPicPr>
            <a:picLocks noChangeAspect="1"/>
          </p:cNvPicPr>
          <p:nvPr/>
        </p:nvPicPr>
        <p:blipFill>
          <a:blip r:embed="rId3"/>
          <a:stretch>
            <a:fillRect/>
          </a:stretch>
        </p:blipFill>
        <p:spPr>
          <a:xfrm>
            <a:off x="932688" y="4453128"/>
            <a:ext cx="274320" cy="274320"/>
          </a:xfrm>
          <a:prstGeom prst="rect">
            <a:avLst/>
          </a:prstGeom>
        </p:spPr>
      </p:pic>
      <p:sp>
        <p:nvSpPr>
          <p:cNvPr id="20" name="Text 15"/>
          <p:cNvSpPr/>
          <p:nvPr/>
        </p:nvSpPr>
        <p:spPr>
          <a:xfrm>
            <a:off x="1554480" y="4270248"/>
            <a:ext cx="4160520" cy="365760"/>
          </a:xfrm>
          <a:prstGeom prst="rect">
            <a:avLst/>
          </a:prstGeom>
          <a:noFill/>
          <a:ln/>
        </p:spPr>
        <p:txBody>
          <a:bodyPr wrap="square" lIns="0" tIns="0" rIns="0" bIns="0" rtlCol="0" anchor="ctr"/>
          <a:lstStyle/>
          <a:p>
            <a:pPr indent="0" marL="0">
              <a:buNone/>
            </a:pPr>
            <a:r>
              <a:rPr lang="en-US" sz="1600" b="1" dirty="0">
                <a:solidFill>
                  <a:srgbClr val="241C3E"/>
                </a:solidFill>
                <a:latin typeface="Cambria" pitchFamily="34" charset="0"/>
                <a:ea typeface="Cambria" pitchFamily="34" charset="-122"/>
                <a:cs typeface="Cambria" pitchFamily="34" charset="-120"/>
              </a:rPr>
              <a:t>Auto Scaling Group</a:t>
            </a:r>
            <a:endParaRPr lang="en-US" sz="1600" dirty="0"/>
          </a:p>
        </p:txBody>
      </p:sp>
      <p:sp>
        <p:nvSpPr>
          <p:cNvPr id="21" name="Text 16"/>
          <p:cNvSpPr/>
          <p:nvPr/>
        </p:nvSpPr>
        <p:spPr>
          <a:xfrm>
            <a:off x="1554480" y="4636008"/>
            <a:ext cx="4160520" cy="822960"/>
          </a:xfrm>
          <a:prstGeom prst="rect">
            <a:avLst/>
          </a:prstGeom>
          <a:noFill/>
          <a:ln/>
        </p:spPr>
        <p:txBody>
          <a:bodyPr wrap="square" lIns="0" tIns="0" rIns="0" bIns="0" rtlCol="0" anchor="ctr"/>
          <a:lstStyle/>
          <a:p>
            <a:pPr indent="0" marL="0">
              <a:lnSpc>
                <a:spcPct val="120000"/>
              </a:lnSpc>
              <a:buNone/>
            </a:pPr>
            <a:r>
              <a:rPr lang="en-US" sz="1250" dirty="0">
                <a:solidFill>
                  <a:srgbClr val="6B6483"/>
                </a:solidFill>
                <a:latin typeface="Calibri" pitchFamily="34" charset="0"/>
                <a:ea typeface="Calibri" pitchFamily="34" charset="-122"/>
                <a:cs typeface="Calibri" pitchFamily="34" charset="-120"/>
              </a:rPr>
              <a:t>Adds or removes instances to match demand.</a:t>
            </a:r>
            <a:endParaRPr lang="en-US" sz="1250" dirty="0"/>
          </a:p>
        </p:txBody>
      </p:sp>
      <p:sp>
        <p:nvSpPr>
          <p:cNvPr id="22" name="Shape 17"/>
          <p:cNvSpPr/>
          <p:nvPr/>
        </p:nvSpPr>
        <p:spPr>
          <a:xfrm>
            <a:off x="6263640" y="4069080"/>
            <a:ext cx="5349240" cy="1508760"/>
          </a:xfrm>
          <a:prstGeom prst="roundRect">
            <a:avLst>
              <a:gd name="adj" fmla="val 6061"/>
            </a:avLst>
          </a:prstGeom>
          <a:solidFill>
            <a:srgbClr val="FFFFFF"/>
          </a:solidFill>
          <a:ln/>
          <a:effectLst>
            <a:outerShdw sx="100000" sy="100000" kx="0" ky="0" algn="bl" rotWithShape="0" blurRad="101600" dist="38100" dir="2700000">
              <a:srgbClr val="000000">
                <a:alpha val="15000"/>
              </a:srgbClr>
            </a:outerShdw>
          </a:effectLst>
        </p:spPr>
      </p:sp>
      <p:sp>
        <p:nvSpPr>
          <p:cNvPr id="23" name="Shape 18"/>
          <p:cNvSpPr/>
          <p:nvPr/>
        </p:nvSpPr>
        <p:spPr>
          <a:xfrm>
            <a:off x="6492240" y="4297680"/>
            <a:ext cx="594360" cy="594360"/>
          </a:xfrm>
          <a:prstGeom prst="ellipse">
            <a:avLst/>
          </a:prstGeom>
          <a:solidFill>
            <a:srgbClr val="F1EDF9"/>
          </a:solidFill>
          <a:ln/>
        </p:spPr>
      </p:sp>
      <p:pic>
        <p:nvPicPr>
          <p:cNvPr id="24" name="Image 3" descr="icons/database_purple.png">    </p:cNvPr>
          <p:cNvPicPr>
            <a:picLocks noChangeAspect="1"/>
          </p:cNvPicPr>
          <p:nvPr/>
        </p:nvPicPr>
        <p:blipFill>
          <a:blip r:embed="rId4"/>
          <a:stretch>
            <a:fillRect/>
          </a:stretch>
        </p:blipFill>
        <p:spPr>
          <a:xfrm>
            <a:off x="6647688" y="4453128"/>
            <a:ext cx="274320" cy="274320"/>
          </a:xfrm>
          <a:prstGeom prst="rect">
            <a:avLst/>
          </a:prstGeom>
        </p:spPr>
      </p:pic>
      <p:sp>
        <p:nvSpPr>
          <p:cNvPr id="25" name="Text 19"/>
          <p:cNvSpPr/>
          <p:nvPr/>
        </p:nvSpPr>
        <p:spPr>
          <a:xfrm>
            <a:off x="7269480" y="4270248"/>
            <a:ext cx="4160520" cy="365760"/>
          </a:xfrm>
          <a:prstGeom prst="rect">
            <a:avLst/>
          </a:prstGeom>
          <a:noFill/>
          <a:ln/>
        </p:spPr>
        <p:txBody>
          <a:bodyPr wrap="square" lIns="0" tIns="0" rIns="0" bIns="0" rtlCol="0" anchor="ctr"/>
          <a:lstStyle/>
          <a:p>
            <a:pPr indent="0" marL="0">
              <a:buNone/>
            </a:pPr>
            <a:r>
              <a:rPr lang="en-US" sz="1600" b="1" dirty="0">
                <a:solidFill>
                  <a:srgbClr val="241C3E"/>
                </a:solidFill>
                <a:latin typeface="Cambria" pitchFamily="34" charset="0"/>
                <a:ea typeface="Cambria" pitchFamily="34" charset="-122"/>
                <a:cs typeface="Cambria" pitchFamily="34" charset="-120"/>
              </a:rPr>
              <a:t>RDS Database</a:t>
            </a:r>
            <a:endParaRPr lang="en-US" sz="1600" dirty="0"/>
          </a:p>
        </p:txBody>
      </p:sp>
      <p:sp>
        <p:nvSpPr>
          <p:cNvPr id="26" name="Text 20"/>
          <p:cNvSpPr/>
          <p:nvPr/>
        </p:nvSpPr>
        <p:spPr>
          <a:xfrm>
            <a:off x="7269480" y="4636008"/>
            <a:ext cx="4160520" cy="822960"/>
          </a:xfrm>
          <a:prstGeom prst="rect">
            <a:avLst/>
          </a:prstGeom>
          <a:noFill/>
          <a:ln/>
        </p:spPr>
        <p:txBody>
          <a:bodyPr wrap="square" lIns="0" tIns="0" rIns="0" bIns="0" rtlCol="0" anchor="ctr"/>
          <a:lstStyle/>
          <a:p>
            <a:pPr indent="0" marL="0">
              <a:lnSpc>
                <a:spcPct val="120000"/>
              </a:lnSpc>
              <a:buNone/>
            </a:pPr>
            <a:r>
              <a:rPr lang="en-US" sz="1250" dirty="0">
                <a:solidFill>
                  <a:srgbClr val="6B6483"/>
                </a:solidFill>
                <a:latin typeface="Calibri" pitchFamily="34" charset="0"/>
                <a:ea typeface="Calibri" pitchFamily="34" charset="-122"/>
                <a:cs typeface="Calibri" pitchFamily="34" charset="-120"/>
              </a:rPr>
              <a:t>A managed, separate data layer for durability.</a:t>
            </a:r>
            <a:endParaRPr lang="en-US" sz="1250" dirty="0"/>
          </a:p>
        </p:txBody>
      </p:sp>
      <p:sp>
        <p:nvSpPr>
          <p:cNvPr id="27" name="Text 21"/>
          <p:cNvSpPr/>
          <p:nvPr/>
        </p:nvSpPr>
        <p:spPr>
          <a:xfrm>
            <a:off x="457200" y="6446520"/>
            <a:ext cx="6400800" cy="274320"/>
          </a:xfrm>
          <a:prstGeom prst="rect">
            <a:avLst/>
          </a:prstGeom>
          <a:noFill/>
          <a:ln/>
        </p:spPr>
        <p:txBody>
          <a:bodyPr wrap="square" lIns="0" tIns="0" rIns="0" bIns="0" rtlCol="0" anchor="ctr"/>
          <a:lstStyle/>
          <a:p>
            <a:pPr algn="l" indent="0" marL="0">
              <a:buNone/>
            </a:pPr>
            <a:r>
              <a:rPr lang="en-US" sz="1000" dirty="0">
                <a:solidFill>
                  <a:srgbClr val="6B6483"/>
                </a:solidFill>
                <a:latin typeface="Calibri" pitchFamily="34" charset="0"/>
                <a:ea typeface="Calibri" pitchFamily="34" charset="-122"/>
                <a:cs typeface="Calibri" pitchFamily="34" charset="-120"/>
              </a:rPr>
              <a:t>Real-World Projects &amp; Hands-On Labs</a:t>
            </a:r>
            <a:endParaRPr lang="en-US" sz="1000" dirty="0"/>
          </a:p>
        </p:txBody>
      </p:sp>
      <p:sp>
        <p:nvSpPr>
          <p:cNvPr id="28" name="Text 22"/>
          <p:cNvSpPr/>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6B6483"/>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C"/>
        </a:solidFill>
      </p:bgPr>
    </p:bg>
    <p:spTree>
      <p:nvGrpSpPr>
        <p:cNvPr id="1" name=""/>
        <p:cNvGrpSpPr/>
        <p:nvPr/>
      </p:nvGrpSpPr>
      <p:grpSpPr>
        <a:xfrm>
          <a:off x="0" y="0"/>
          <a:ext cx="0" cy="0"/>
          <a:chOff x="0" y="0"/>
          <a:chExt cx="0" cy="0"/>
        </a:xfrm>
      </p:grpSpPr>
      <p:sp>
        <p:nvSpPr>
          <p:cNvPr id="2" name="Shape 0"/>
          <p:cNvSpPr/>
          <p:nvPr/>
        </p:nvSpPr>
        <p:spPr>
          <a:xfrm>
            <a:off x="548640" y="411480"/>
            <a:ext cx="1600200" cy="384048"/>
          </a:xfrm>
          <a:prstGeom prst="roundRect">
            <a:avLst>
              <a:gd name="adj" fmla="val 50000"/>
            </a:avLst>
          </a:prstGeom>
          <a:solidFill>
            <a:srgbClr val="7B42BC"/>
          </a:solidFill>
          <a:ln/>
        </p:spPr>
      </p:sp>
      <p:sp>
        <p:nvSpPr>
          <p:cNvPr id="3" name="Text 1"/>
          <p:cNvSpPr/>
          <p:nvPr/>
        </p:nvSpPr>
        <p:spPr>
          <a:xfrm>
            <a:off x="548640" y="411480"/>
            <a:ext cx="1600200"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PROJECT 1</a:t>
            </a:r>
            <a:endParaRPr lang="en-US" sz="1200" dirty="0"/>
          </a:p>
        </p:txBody>
      </p:sp>
      <p:sp>
        <p:nvSpPr>
          <p:cNvPr id="4" name="Text 2"/>
          <p:cNvSpPr/>
          <p:nvPr/>
        </p:nvSpPr>
        <p:spPr>
          <a:xfrm>
            <a:off x="2286000" y="411480"/>
            <a:ext cx="7315200" cy="384048"/>
          </a:xfrm>
          <a:prstGeom prst="rect">
            <a:avLst/>
          </a:prstGeom>
          <a:noFill/>
          <a:ln/>
        </p:spPr>
        <p:txBody>
          <a:bodyPr wrap="square" lIns="0" tIns="0" rIns="0" bIns="0" rtlCol="0" anchor="ctr"/>
          <a:lstStyle/>
          <a:p>
            <a:pPr indent="0" marL="0">
              <a:buNone/>
            </a:pPr>
            <a:r>
              <a:rPr lang="en-US" sz="1300" b="1" spc="200" kern="0" dirty="0">
                <a:solidFill>
                  <a:srgbClr val="7B42BC"/>
                </a:solidFill>
                <a:latin typeface="Calibri" pitchFamily="34" charset="0"/>
                <a:ea typeface="Calibri" pitchFamily="34" charset="-122"/>
                <a:cs typeface="Calibri" pitchFamily="34" charset="-120"/>
              </a:rPr>
              <a:t>PROVIDER, AUTO SCALING &amp; LOAD BALANCER</a:t>
            </a:r>
            <a:endParaRPr lang="en-US" sz="1300" dirty="0"/>
          </a:p>
        </p:txBody>
      </p:sp>
      <p:sp>
        <p:nvSpPr>
          <p:cNvPr id="5" name="Text 3"/>
          <p:cNvSpPr/>
          <p:nvPr/>
        </p:nvSpPr>
        <p:spPr>
          <a:xfrm>
            <a:off x="548640" y="960120"/>
            <a:ext cx="10515600" cy="548640"/>
          </a:xfrm>
          <a:prstGeom prst="rect">
            <a:avLst/>
          </a:prstGeom>
          <a:noFill/>
          <a:ln/>
        </p:spPr>
        <p:txBody>
          <a:bodyPr wrap="square" lIns="0" tIns="0" rIns="0" bIns="0" rtlCol="0" anchor="ctr"/>
          <a:lstStyle/>
          <a:p>
            <a:pPr indent="0" marL="0">
              <a:buNone/>
            </a:pPr>
            <a:r>
              <a:rPr lang="en-US" sz="2400" b="1" dirty="0">
                <a:solidFill>
                  <a:srgbClr val="241C3E"/>
                </a:solidFill>
                <a:latin typeface="Cambria" pitchFamily="34" charset="0"/>
                <a:ea typeface="Cambria" pitchFamily="34" charset="-122"/>
                <a:cs typeface="Cambria" pitchFamily="34" charset="-120"/>
              </a:rPr>
              <a:t>Steps 1–2 — Provider, launch template, ASG &amp; ALB</a:t>
            </a:r>
            <a:endParaRPr lang="en-US" sz="2400" dirty="0"/>
          </a:p>
        </p:txBody>
      </p:sp>
      <p:sp>
        <p:nvSpPr>
          <p:cNvPr id="6" name="Shape 4"/>
          <p:cNvSpPr/>
          <p:nvPr/>
        </p:nvSpPr>
        <p:spPr>
          <a:xfrm>
            <a:off x="548640" y="1600200"/>
            <a:ext cx="5943600" cy="4526280"/>
          </a:xfrm>
          <a:prstGeom prst="roundRect">
            <a:avLst>
              <a:gd name="adj" fmla="val 1616"/>
            </a:avLst>
          </a:prstGeom>
          <a:solidFill>
            <a:srgbClr val="241B3D"/>
          </a:solidFill>
          <a:ln/>
          <a:effectLst>
            <a:outerShdw sx="100000" sy="100000" kx="0" ky="0" algn="bl" rotWithShape="0" blurRad="101600" dist="38100" dir="2700000">
              <a:srgbClr val="000000">
                <a:alpha val="15000"/>
              </a:srgbClr>
            </a:outerShdw>
          </a:effectLst>
        </p:spPr>
      </p:sp>
      <p:sp>
        <p:nvSpPr>
          <p:cNvPr id="7" name="Shape 5"/>
          <p:cNvSpPr/>
          <p:nvPr/>
        </p:nvSpPr>
        <p:spPr>
          <a:xfrm>
            <a:off x="749808" y="1764792"/>
            <a:ext cx="109728" cy="109728"/>
          </a:xfrm>
          <a:prstGeom prst="ellipse">
            <a:avLst/>
          </a:prstGeom>
          <a:solidFill>
            <a:srgbClr val="FF6159"/>
          </a:solidFill>
          <a:ln/>
        </p:spPr>
      </p:sp>
      <p:sp>
        <p:nvSpPr>
          <p:cNvPr id="8" name="Shape 6"/>
          <p:cNvSpPr/>
          <p:nvPr/>
        </p:nvSpPr>
        <p:spPr>
          <a:xfrm>
            <a:off x="950976" y="1764792"/>
            <a:ext cx="109728" cy="109728"/>
          </a:xfrm>
          <a:prstGeom prst="ellipse">
            <a:avLst/>
          </a:prstGeom>
          <a:solidFill>
            <a:srgbClr val="FFBD2E"/>
          </a:solidFill>
          <a:ln/>
        </p:spPr>
      </p:sp>
      <p:sp>
        <p:nvSpPr>
          <p:cNvPr id="9" name="Shape 7"/>
          <p:cNvSpPr/>
          <p:nvPr/>
        </p:nvSpPr>
        <p:spPr>
          <a:xfrm>
            <a:off x="1152144" y="1764792"/>
            <a:ext cx="109728" cy="109728"/>
          </a:xfrm>
          <a:prstGeom prst="ellipse">
            <a:avLst/>
          </a:prstGeom>
          <a:solidFill>
            <a:srgbClr val="28C840"/>
          </a:solidFill>
          <a:ln/>
        </p:spPr>
      </p:sp>
      <p:sp>
        <p:nvSpPr>
          <p:cNvPr id="10" name="Text 8"/>
          <p:cNvSpPr/>
          <p:nvPr/>
        </p:nvSpPr>
        <p:spPr>
          <a:xfrm>
            <a:off x="777240" y="2011680"/>
            <a:ext cx="5486400" cy="3931920"/>
          </a:xfrm>
          <a:prstGeom prst="rect">
            <a:avLst/>
          </a:prstGeom>
          <a:noFill/>
          <a:ln/>
        </p:spPr>
        <p:txBody>
          <a:bodyPr wrap="square" lIns="0" tIns="0" rIns="0" bIns="0" rtlCol="0" anchor="t"/>
          <a:lstStyle/>
          <a:p>
            <a:pPr indent="0" marL="0">
              <a:lnSpc>
                <a:spcPct val="112000"/>
              </a:lnSpc>
              <a:buNone/>
            </a:pPr>
            <a:r>
              <a:rPr lang="en-US" sz="1150" dirty="0">
                <a:solidFill>
                  <a:srgbClr val="D9A5FF"/>
                </a:solidFill>
                <a:latin typeface="Courier New" pitchFamily="34" charset="0"/>
                <a:ea typeface="Courier New" pitchFamily="34" charset="-122"/>
                <a:cs typeface="Courier New" pitchFamily="34" charset="-120"/>
              </a:rPr>
              <a:t>provider "aws" {</a:t>
            </a:r>
            <a:endParaRPr lang="en-US" sz="1150" dirty="0"/>
          </a:p>
          <a:p>
            <a:pPr indent="0" marL="0">
              <a:lnSpc>
                <a:spcPct val="112000"/>
              </a:lnSpc>
              <a:buNone/>
            </a:pPr>
            <a:r>
              <a:rPr lang="en-US" sz="1150" dirty="0">
                <a:solidFill>
                  <a:srgbClr val="79E6DC"/>
                </a:solidFill>
                <a:latin typeface="Courier New" pitchFamily="34" charset="0"/>
                <a:ea typeface="Courier New" pitchFamily="34" charset="-122"/>
                <a:cs typeface="Courier New" pitchFamily="34" charset="-120"/>
              </a:rPr>
              <a:t>  region = "us-east-1"</a:t>
            </a:r>
            <a:endParaRPr lang="en-US" sz="1150" dirty="0"/>
          </a:p>
          <a:p>
            <a:pPr indent="0" marL="0">
              <a:lnSpc>
                <a:spcPct val="112000"/>
              </a:lnSpc>
              <a:buNone/>
            </a:pPr>
            <a:r>
              <a:rPr lang="en-US" sz="1150" dirty="0">
                <a:solidFill>
                  <a:srgbClr val="D9A5FF"/>
                </a:solidFill>
                <a:latin typeface="Courier New" pitchFamily="34" charset="0"/>
                <a:ea typeface="Courier New" pitchFamily="34" charset="-122"/>
                <a:cs typeface="Courier New" pitchFamily="34" charset="-120"/>
              </a:rPr>
              <a:t>}</a:t>
            </a:r>
            <a:endParaRPr lang="en-US" sz="1150" dirty="0"/>
          </a:p>
          <a:p>
            <a:pPr indent="0" marL="0">
              <a:lnSpc>
                <a:spcPct val="112000"/>
              </a:lnSpc>
              <a:buNone/>
            </a:pPr>
            <a:endParaRPr lang="en-US" sz="1150" dirty="0"/>
          </a:p>
          <a:p>
            <a:pPr indent="0" marL="0">
              <a:lnSpc>
                <a:spcPct val="112000"/>
              </a:lnSpc>
              <a:buNone/>
            </a:pPr>
            <a:r>
              <a:rPr lang="en-US" sz="1150" dirty="0">
                <a:solidFill>
                  <a:srgbClr val="D9A5FF"/>
                </a:solidFill>
                <a:latin typeface="Courier New" pitchFamily="34" charset="0"/>
                <a:ea typeface="Courier New" pitchFamily="34" charset="-122"/>
                <a:cs typeface="Courier New" pitchFamily="34" charset="-120"/>
              </a:rPr>
              <a:t>resource "aws_launch_template" "web" {</a:t>
            </a:r>
            <a:endParaRPr lang="en-US" sz="1150" dirty="0"/>
          </a:p>
          <a:p>
            <a:pPr indent="0" marL="0">
              <a:lnSpc>
                <a:spcPct val="112000"/>
              </a:lnSpc>
              <a:buNone/>
            </a:pPr>
            <a:r>
              <a:rPr lang="en-US" sz="1150" dirty="0">
                <a:solidFill>
                  <a:srgbClr val="E8E6F0"/>
                </a:solidFill>
                <a:latin typeface="Courier New" pitchFamily="34" charset="0"/>
                <a:ea typeface="Courier New" pitchFamily="34" charset="-122"/>
                <a:cs typeface="Courier New" pitchFamily="34" charset="-120"/>
              </a:rPr>
              <a:t>  name_prefix   = "web-template"</a:t>
            </a:r>
            <a:endParaRPr lang="en-US" sz="1150" dirty="0"/>
          </a:p>
          <a:p>
            <a:pPr indent="0" marL="0">
              <a:lnSpc>
                <a:spcPct val="112000"/>
              </a:lnSpc>
              <a:buNone/>
            </a:pPr>
            <a:r>
              <a:rPr lang="en-US" sz="1150" dirty="0">
                <a:solidFill>
                  <a:srgbClr val="E8E6F0"/>
                </a:solidFill>
                <a:latin typeface="Courier New" pitchFamily="34" charset="0"/>
                <a:ea typeface="Courier New" pitchFamily="34" charset="-122"/>
                <a:cs typeface="Courier New" pitchFamily="34" charset="-120"/>
              </a:rPr>
              <a:t>  image_id      = "ami-0c55b159cbfafe1f0"</a:t>
            </a:r>
            <a:endParaRPr lang="en-US" sz="1150" dirty="0"/>
          </a:p>
          <a:p>
            <a:pPr indent="0" marL="0">
              <a:lnSpc>
                <a:spcPct val="112000"/>
              </a:lnSpc>
              <a:buNone/>
            </a:pPr>
            <a:r>
              <a:rPr lang="en-US" sz="1150" dirty="0">
                <a:solidFill>
                  <a:srgbClr val="E8E6F0"/>
                </a:solidFill>
                <a:latin typeface="Courier New" pitchFamily="34" charset="0"/>
                <a:ea typeface="Courier New" pitchFamily="34" charset="-122"/>
                <a:cs typeface="Courier New" pitchFamily="34" charset="-120"/>
              </a:rPr>
              <a:t>  instance_type = "t2.micro"</a:t>
            </a:r>
            <a:endParaRPr lang="en-US" sz="1150" dirty="0"/>
          </a:p>
          <a:p>
            <a:pPr indent="0" marL="0">
              <a:lnSpc>
                <a:spcPct val="112000"/>
              </a:lnSpc>
              <a:buNone/>
            </a:pPr>
            <a:r>
              <a:rPr lang="en-US" sz="1150" dirty="0">
                <a:solidFill>
                  <a:srgbClr val="D9A5FF"/>
                </a:solidFill>
                <a:latin typeface="Courier New" pitchFamily="34" charset="0"/>
                <a:ea typeface="Courier New" pitchFamily="34" charset="-122"/>
                <a:cs typeface="Courier New" pitchFamily="34" charset="-120"/>
              </a:rPr>
              <a:t>}</a:t>
            </a:r>
            <a:endParaRPr lang="en-US" sz="1150" dirty="0"/>
          </a:p>
          <a:p>
            <a:pPr indent="0" marL="0">
              <a:lnSpc>
                <a:spcPct val="112000"/>
              </a:lnSpc>
              <a:buNone/>
            </a:pPr>
            <a:endParaRPr lang="en-US" sz="1150" dirty="0"/>
          </a:p>
          <a:p>
            <a:pPr indent="0" marL="0">
              <a:lnSpc>
                <a:spcPct val="112000"/>
              </a:lnSpc>
              <a:buNone/>
            </a:pPr>
            <a:r>
              <a:rPr lang="en-US" sz="1150" dirty="0">
                <a:solidFill>
                  <a:srgbClr val="D9A5FF"/>
                </a:solidFill>
                <a:latin typeface="Courier New" pitchFamily="34" charset="0"/>
                <a:ea typeface="Courier New" pitchFamily="34" charset="-122"/>
                <a:cs typeface="Courier New" pitchFamily="34" charset="-120"/>
              </a:rPr>
              <a:t>resource "aws_autoscaling_group" "web" {</a:t>
            </a:r>
            <a:endParaRPr lang="en-US" sz="1150" dirty="0"/>
          </a:p>
          <a:p>
            <a:pPr indent="0" marL="0">
              <a:lnSpc>
                <a:spcPct val="112000"/>
              </a:lnSpc>
              <a:buNone/>
            </a:pPr>
            <a:r>
              <a:rPr lang="en-US" sz="1150" dirty="0">
                <a:solidFill>
                  <a:srgbClr val="E8E6F0"/>
                </a:solidFill>
                <a:latin typeface="Courier New" pitchFamily="34" charset="0"/>
                <a:ea typeface="Courier New" pitchFamily="34" charset="-122"/>
                <a:cs typeface="Courier New" pitchFamily="34" charset="-120"/>
              </a:rPr>
              <a:t>  vpc_zone_identifier = ["subnet-xxxxx"]</a:t>
            </a:r>
            <a:endParaRPr lang="en-US" sz="1150" dirty="0"/>
          </a:p>
          <a:p>
            <a:pPr indent="0" marL="0">
              <a:lnSpc>
                <a:spcPct val="112000"/>
              </a:lnSpc>
              <a:buNone/>
            </a:pPr>
            <a:r>
              <a:rPr lang="en-US" sz="1150" dirty="0">
                <a:solidFill>
                  <a:srgbClr val="F0C674"/>
                </a:solidFill>
                <a:latin typeface="Courier New" pitchFamily="34" charset="0"/>
                <a:ea typeface="Courier New" pitchFamily="34" charset="-122"/>
                <a:cs typeface="Courier New" pitchFamily="34" charset="-120"/>
              </a:rPr>
              <a:t>  desired_capacity    = 2</a:t>
            </a:r>
            <a:endParaRPr lang="en-US" sz="1150" dirty="0"/>
          </a:p>
          <a:p>
            <a:pPr indent="0" marL="0">
              <a:lnSpc>
                <a:spcPct val="112000"/>
              </a:lnSpc>
              <a:buNone/>
            </a:pPr>
            <a:r>
              <a:rPr lang="en-US" sz="1150" dirty="0">
                <a:solidFill>
                  <a:srgbClr val="F0C674"/>
                </a:solidFill>
                <a:latin typeface="Courier New" pitchFamily="34" charset="0"/>
                <a:ea typeface="Courier New" pitchFamily="34" charset="-122"/>
                <a:cs typeface="Courier New" pitchFamily="34" charset="-120"/>
              </a:rPr>
              <a:t>  max_size            = 5</a:t>
            </a:r>
            <a:endParaRPr lang="en-US" sz="1150" dirty="0"/>
          </a:p>
          <a:p>
            <a:pPr indent="0" marL="0">
              <a:lnSpc>
                <a:spcPct val="112000"/>
              </a:lnSpc>
              <a:buNone/>
            </a:pPr>
            <a:r>
              <a:rPr lang="en-US" sz="1150" dirty="0">
                <a:solidFill>
                  <a:srgbClr val="F0C674"/>
                </a:solidFill>
                <a:latin typeface="Courier New" pitchFamily="34" charset="0"/>
                <a:ea typeface="Courier New" pitchFamily="34" charset="-122"/>
                <a:cs typeface="Courier New" pitchFamily="34" charset="-120"/>
              </a:rPr>
              <a:t>  min_size            = 1</a:t>
            </a:r>
            <a:endParaRPr lang="en-US" sz="1150" dirty="0"/>
          </a:p>
          <a:p>
            <a:pPr indent="0" marL="0">
              <a:lnSpc>
                <a:spcPct val="112000"/>
              </a:lnSpc>
              <a:buNone/>
            </a:pPr>
            <a:r>
              <a:rPr lang="en-US" sz="1150" dirty="0">
                <a:solidFill>
                  <a:srgbClr val="E8E6F0"/>
                </a:solidFill>
                <a:latin typeface="Courier New" pitchFamily="34" charset="0"/>
                <a:ea typeface="Courier New" pitchFamily="34" charset="-122"/>
                <a:cs typeface="Courier New" pitchFamily="34" charset="-120"/>
              </a:rPr>
              <a:t>  launch_template {</a:t>
            </a:r>
            <a:endParaRPr lang="en-US" sz="1150" dirty="0"/>
          </a:p>
          <a:p>
            <a:pPr indent="0" marL="0">
              <a:lnSpc>
                <a:spcPct val="112000"/>
              </a:lnSpc>
              <a:buNone/>
            </a:pPr>
            <a:r>
              <a:rPr lang="en-US" sz="1150" dirty="0">
                <a:solidFill>
                  <a:srgbClr val="E8E6F0"/>
                </a:solidFill>
                <a:latin typeface="Courier New" pitchFamily="34" charset="0"/>
                <a:ea typeface="Courier New" pitchFamily="34" charset="-122"/>
                <a:cs typeface="Courier New" pitchFamily="34" charset="-120"/>
              </a:rPr>
              <a:t>    id      = aws_launch_template.web.id</a:t>
            </a:r>
            <a:endParaRPr lang="en-US" sz="1150" dirty="0"/>
          </a:p>
          <a:p>
            <a:pPr indent="0" marL="0">
              <a:lnSpc>
                <a:spcPct val="112000"/>
              </a:lnSpc>
              <a:buNone/>
            </a:pPr>
            <a:r>
              <a:rPr lang="en-US" sz="1150" dirty="0">
                <a:solidFill>
                  <a:srgbClr val="79E6DC"/>
                </a:solidFill>
                <a:latin typeface="Courier New" pitchFamily="34" charset="0"/>
                <a:ea typeface="Courier New" pitchFamily="34" charset="-122"/>
                <a:cs typeface="Courier New" pitchFamily="34" charset="-120"/>
              </a:rPr>
              <a:t>    version = "$Latest"</a:t>
            </a:r>
            <a:endParaRPr lang="en-US" sz="1150" dirty="0"/>
          </a:p>
          <a:p>
            <a:pPr indent="0" marL="0">
              <a:lnSpc>
                <a:spcPct val="112000"/>
              </a:lnSpc>
              <a:buNone/>
            </a:pPr>
            <a:r>
              <a:rPr lang="en-US" sz="1150" dirty="0">
                <a:solidFill>
                  <a:srgbClr val="E8E6F0"/>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D9A5FF"/>
                </a:solidFill>
                <a:latin typeface="Courier New" pitchFamily="34" charset="0"/>
                <a:ea typeface="Courier New" pitchFamily="34" charset="-122"/>
                <a:cs typeface="Courier New" pitchFamily="34" charset="-120"/>
              </a:rPr>
              <a:t>}</a:t>
            </a:r>
            <a:endParaRPr lang="en-US" sz="1150" dirty="0"/>
          </a:p>
        </p:txBody>
      </p:sp>
      <p:sp>
        <p:nvSpPr>
          <p:cNvPr id="11" name="Shape 9"/>
          <p:cNvSpPr/>
          <p:nvPr/>
        </p:nvSpPr>
        <p:spPr>
          <a:xfrm>
            <a:off x="6629400" y="1600200"/>
            <a:ext cx="5029200" cy="1920240"/>
          </a:xfrm>
          <a:prstGeom prst="roundRect">
            <a:avLst>
              <a:gd name="adj" fmla="val 3810"/>
            </a:avLst>
          </a:prstGeom>
          <a:solidFill>
            <a:srgbClr val="241B3D"/>
          </a:solidFill>
          <a:ln/>
          <a:effectLst>
            <a:outerShdw sx="100000" sy="100000" kx="0" ky="0" algn="bl" rotWithShape="0" blurRad="101600" dist="38100" dir="2700000">
              <a:srgbClr val="000000">
                <a:alpha val="15000"/>
              </a:srgbClr>
            </a:outerShdw>
          </a:effectLst>
        </p:spPr>
      </p:sp>
      <p:sp>
        <p:nvSpPr>
          <p:cNvPr id="12" name="Shape 10"/>
          <p:cNvSpPr/>
          <p:nvPr/>
        </p:nvSpPr>
        <p:spPr>
          <a:xfrm>
            <a:off x="6830568" y="1764792"/>
            <a:ext cx="109728" cy="109728"/>
          </a:xfrm>
          <a:prstGeom prst="ellipse">
            <a:avLst/>
          </a:prstGeom>
          <a:solidFill>
            <a:srgbClr val="FF6159"/>
          </a:solidFill>
          <a:ln/>
        </p:spPr>
      </p:sp>
      <p:sp>
        <p:nvSpPr>
          <p:cNvPr id="13" name="Shape 11"/>
          <p:cNvSpPr/>
          <p:nvPr/>
        </p:nvSpPr>
        <p:spPr>
          <a:xfrm>
            <a:off x="7031736" y="1764792"/>
            <a:ext cx="109728" cy="109728"/>
          </a:xfrm>
          <a:prstGeom prst="ellipse">
            <a:avLst/>
          </a:prstGeom>
          <a:solidFill>
            <a:srgbClr val="FFBD2E"/>
          </a:solidFill>
          <a:ln/>
        </p:spPr>
      </p:sp>
      <p:sp>
        <p:nvSpPr>
          <p:cNvPr id="14" name="Shape 12"/>
          <p:cNvSpPr/>
          <p:nvPr/>
        </p:nvSpPr>
        <p:spPr>
          <a:xfrm>
            <a:off x="7232904" y="1764792"/>
            <a:ext cx="109728" cy="109728"/>
          </a:xfrm>
          <a:prstGeom prst="ellipse">
            <a:avLst/>
          </a:prstGeom>
          <a:solidFill>
            <a:srgbClr val="28C840"/>
          </a:solidFill>
          <a:ln/>
        </p:spPr>
      </p:sp>
      <p:sp>
        <p:nvSpPr>
          <p:cNvPr id="15" name="Text 13"/>
          <p:cNvSpPr/>
          <p:nvPr/>
        </p:nvSpPr>
        <p:spPr>
          <a:xfrm>
            <a:off x="6858000" y="2011680"/>
            <a:ext cx="4572000" cy="1325880"/>
          </a:xfrm>
          <a:prstGeom prst="rect">
            <a:avLst/>
          </a:prstGeom>
          <a:noFill/>
          <a:ln/>
        </p:spPr>
        <p:txBody>
          <a:bodyPr wrap="square" lIns="0" tIns="0" rIns="0" bIns="0" rtlCol="0" anchor="t"/>
          <a:lstStyle/>
          <a:p>
            <a:pPr indent="0" marL="0">
              <a:lnSpc>
                <a:spcPct val="112000"/>
              </a:lnSpc>
              <a:buNone/>
            </a:pPr>
            <a:r>
              <a:rPr lang="en-US" sz="1150" dirty="0">
                <a:solidFill>
                  <a:srgbClr val="D9A5FF"/>
                </a:solidFill>
                <a:latin typeface="Courier New" pitchFamily="34" charset="0"/>
                <a:ea typeface="Courier New" pitchFamily="34" charset="-122"/>
                <a:cs typeface="Courier New" pitchFamily="34" charset="-120"/>
              </a:rPr>
              <a:t>resource "aws_lb" "web_lb" {</a:t>
            </a:r>
            <a:endParaRPr lang="en-US" sz="1150" dirty="0"/>
          </a:p>
          <a:p>
            <a:pPr indent="0" marL="0">
              <a:lnSpc>
                <a:spcPct val="112000"/>
              </a:lnSpc>
              <a:buNone/>
            </a:pPr>
            <a:r>
              <a:rPr lang="en-US" sz="1150" dirty="0">
                <a:solidFill>
                  <a:srgbClr val="E8E6F0"/>
                </a:solidFill>
                <a:latin typeface="Courier New" pitchFamily="34" charset="0"/>
                <a:ea typeface="Courier New" pitchFamily="34" charset="-122"/>
                <a:cs typeface="Courier New" pitchFamily="34" charset="-120"/>
              </a:rPr>
              <a:t>  name               = "web-alb"</a:t>
            </a:r>
            <a:endParaRPr lang="en-US" sz="1150" dirty="0"/>
          </a:p>
          <a:p>
            <a:pPr indent="0" marL="0">
              <a:lnSpc>
                <a:spcPct val="112000"/>
              </a:lnSpc>
              <a:buNone/>
            </a:pPr>
            <a:r>
              <a:rPr lang="en-US" sz="1150" dirty="0">
                <a:solidFill>
                  <a:srgbClr val="F0C674"/>
                </a:solidFill>
                <a:latin typeface="Courier New" pitchFamily="34" charset="0"/>
                <a:ea typeface="Courier New" pitchFamily="34" charset="-122"/>
                <a:cs typeface="Courier New" pitchFamily="34" charset="-120"/>
              </a:rPr>
              <a:t>  internal           = false</a:t>
            </a:r>
            <a:endParaRPr lang="en-US" sz="1150" dirty="0"/>
          </a:p>
          <a:p>
            <a:pPr indent="0" marL="0">
              <a:lnSpc>
                <a:spcPct val="112000"/>
              </a:lnSpc>
              <a:buNone/>
            </a:pPr>
            <a:r>
              <a:rPr lang="en-US" sz="1150" dirty="0">
                <a:solidFill>
                  <a:srgbClr val="79E6DC"/>
                </a:solidFill>
                <a:latin typeface="Courier New" pitchFamily="34" charset="0"/>
                <a:ea typeface="Courier New" pitchFamily="34" charset="-122"/>
                <a:cs typeface="Courier New" pitchFamily="34" charset="-120"/>
              </a:rPr>
              <a:t>  load_balancer_type = "application"</a:t>
            </a:r>
            <a:endParaRPr lang="en-US" sz="1150" dirty="0"/>
          </a:p>
          <a:p>
            <a:pPr indent="0" marL="0">
              <a:lnSpc>
                <a:spcPct val="112000"/>
              </a:lnSpc>
              <a:buNone/>
            </a:pPr>
            <a:r>
              <a:rPr lang="en-US" sz="1150" dirty="0">
                <a:solidFill>
                  <a:srgbClr val="E8E6F0"/>
                </a:solidFill>
                <a:latin typeface="Courier New" pitchFamily="34" charset="0"/>
                <a:ea typeface="Courier New" pitchFamily="34" charset="-122"/>
                <a:cs typeface="Courier New" pitchFamily="34" charset="-120"/>
              </a:rPr>
              <a:t>  security_groups    = ["sg-xxxxx"]</a:t>
            </a:r>
            <a:endParaRPr lang="en-US" sz="1150" dirty="0"/>
          </a:p>
          <a:p>
            <a:pPr indent="0" marL="0">
              <a:lnSpc>
                <a:spcPct val="112000"/>
              </a:lnSpc>
              <a:buNone/>
            </a:pPr>
            <a:r>
              <a:rPr lang="en-US" sz="1150" dirty="0">
                <a:solidFill>
                  <a:srgbClr val="E8E6F0"/>
                </a:solidFill>
                <a:latin typeface="Courier New" pitchFamily="34" charset="0"/>
                <a:ea typeface="Courier New" pitchFamily="34" charset="-122"/>
                <a:cs typeface="Courier New" pitchFamily="34" charset="-120"/>
              </a:rPr>
              <a:t>  subnets            = ["subnet-xxxxx"]</a:t>
            </a:r>
            <a:endParaRPr lang="en-US" sz="1150" dirty="0"/>
          </a:p>
          <a:p>
            <a:pPr indent="0" marL="0">
              <a:lnSpc>
                <a:spcPct val="112000"/>
              </a:lnSpc>
              <a:buNone/>
            </a:pPr>
            <a:r>
              <a:rPr lang="en-US" sz="1150" dirty="0">
                <a:solidFill>
                  <a:srgbClr val="D9A5FF"/>
                </a:solidFill>
                <a:latin typeface="Courier New" pitchFamily="34" charset="0"/>
                <a:ea typeface="Courier New" pitchFamily="34" charset="-122"/>
                <a:cs typeface="Courier New" pitchFamily="34" charset="-120"/>
              </a:rPr>
              <a:t>}</a:t>
            </a:r>
            <a:endParaRPr lang="en-US" sz="1150" dirty="0"/>
          </a:p>
        </p:txBody>
      </p:sp>
      <p:sp>
        <p:nvSpPr>
          <p:cNvPr id="16" name="Shape 14"/>
          <p:cNvSpPr/>
          <p:nvPr/>
        </p:nvSpPr>
        <p:spPr>
          <a:xfrm>
            <a:off x="6629400" y="3703320"/>
            <a:ext cx="5029200" cy="2423160"/>
          </a:xfrm>
          <a:prstGeom prst="roundRect">
            <a:avLst>
              <a:gd name="adj" fmla="val 3774"/>
            </a:avLst>
          </a:prstGeom>
          <a:solidFill>
            <a:srgbClr val="EAF7EF"/>
          </a:solidFill>
          <a:ln/>
          <a:effectLst>
            <a:outerShdw sx="100000" sy="100000" kx="0" ky="0" algn="bl" rotWithShape="0" blurRad="101600" dist="38100" dir="2700000">
              <a:srgbClr val="000000">
                <a:alpha val="15000"/>
              </a:srgbClr>
            </a:outerShdw>
          </a:effectLst>
        </p:spPr>
      </p:sp>
      <p:pic>
        <p:nvPicPr>
          <p:cNvPr id="17" name="Image 0" descr="icons/check_teal.png">    </p:cNvPr>
          <p:cNvPicPr>
            <a:picLocks noChangeAspect="1"/>
          </p:cNvPicPr>
          <p:nvPr/>
        </p:nvPicPr>
        <p:blipFill>
          <a:blip r:embed="rId1"/>
          <a:stretch>
            <a:fillRect/>
          </a:stretch>
        </p:blipFill>
        <p:spPr>
          <a:xfrm>
            <a:off x="6903720" y="3931920"/>
            <a:ext cx="384048" cy="384048"/>
          </a:xfrm>
          <a:prstGeom prst="rect">
            <a:avLst/>
          </a:prstGeom>
        </p:spPr>
      </p:pic>
      <p:sp>
        <p:nvSpPr>
          <p:cNvPr id="18" name="Text 15"/>
          <p:cNvSpPr/>
          <p:nvPr/>
        </p:nvSpPr>
        <p:spPr>
          <a:xfrm>
            <a:off x="7498080" y="3840480"/>
            <a:ext cx="3977640" cy="2148840"/>
          </a:xfrm>
          <a:prstGeom prst="rect">
            <a:avLst/>
          </a:prstGeom>
          <a:noFill/>
          <a:ln/>
        </p:spPr>
        <p:txBody>
          <a:bodyPr wrap="square" lIns="0" tIns="0" rIns="0" bIns="0" rtlCol="0" anchor="t"/>
          <a:lstStyle/>
          <a:p>
            <a:pPr indent="0" marL="0">
              <a:lnSpc>
                <a:spcPct val="125000"/>
              </a:lnSpc>
              <a:buNone/>
            </a:pPr>
            <a:r>
              <a:rPr lang="en-US" sz="1400" b="1" dirty="0">
                <a:solidFill>
                  <a:srgbClr val="1D8A5F"/>
                </a:solidFill>
                <a:latin typeface="Calibri" pitchFamily="34" charset="0"/>
                <a:ea typeface="Calibri" pitchFamily="34" charset="-122"/>
                <a:cs typeface="Calibri" pitchFamily="34" charset="-120"/>
              </a:rPr>
              <a:t>Why this works
</a:t>
            </a:r>
            <a:endParaRPr lang="en-US" sz="1400" dirty="0"/>
          </a:p>
          <a:p>
            <a:pPr indent="0" marL="0">
              <a:lnSpc>
                <a:spcPct val="125000"/>
              </a:lnSpc>
              <a:buNone/>
            </a:pPr>
            <a:r>
              <a:rPr lang="en-US" sz="1250" dirty="0">
                <a:solidFill>
                  <a:srgbClr val="241C3E"/>
                </a:solidFill>
                <a:latin typeface="Calibri" pitchFamily="34" charset="0"/>
                <a:ea typeface="Calibri" pitchFamily="34" charset="-122"/>
                <a:cs typeface="Calibri" pitchFamily="34" charset="-120"/>
              </a:rPr>
              <a:t>The launch template defines what each instance looks like. The Auto Scaling Group keeps 1–5 of them running based on demand, and the ALB spreads traffic across whichever instances are healthy — together, this removes any single point of failure.</a:t>
            </a:r>
            <a:endParaRPr lang="en-US" sz="1400" dirty="0"/>
          </a:p>
        </p:txBody>
      </p:sp>
      <p:sp>
        <p:nvSpPr>
          <p:cNvPr id="19" name="Text 16"/>
          <p:cNvSpPr/>
          <p:nvPr/>
        </p:nvSpPr>
        <p:spPr>
          <a:xfrm>
            <a:off x="457200" y="6446520"/>
            <a:ext cx="6400800" cy="274320"/>
          </a:xfrm>
          <a:prstGeom prst="rect">
            <a:avLst/>
          </a:prstGeom>
          <a:noFill/>
          <a:ln/>
        </p:spPr>
        <p:txBody>
          <a:bodyPr wrap="square" lIns="0" tIns="0" rIns="0" bIns="0" rtlCol="0" anchor="ctr"/>
          <a:lstStyle/>
          <a:p>
            <a:pPr algn="l" indent="0" marL="0">
              <a:buNone/>
            </a:pPr>
            <a:r>
              <a:rPr lang="en-US" sz="1000" dirty="0">
                <a:solidFill>
                  <a:srgbClr val="6B6483"/>
                </a:solidFill>
                <a:latin typeface="Calibri" pitchFamily="34" charset="0"/>
                <a:ea typeface="Calibri" pitchFamily="34" charset="-122"/>
                <a:cs typeface="Calibri" pitchFamily="34" charset="-120"/>
              </a:rPr>
              <a:t>Real-World Projects &amp; Hands-On Labs</a:t>
            </a:r>
            <a:endParaRPr lang="en-US" sz="1000" dirty="0"/>
          </a:p>
        </p:txBody>
      </p:sp>
      <p:sp>
        <p:nvSpPr>
          <p:cNvPr id="20" name="Text 17"/>
          <p:cNvSpPr/>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6B6483"/>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C"/>
        </a:solidFill>
      </p:bgPr>
    </p:bg>
    <p:spTree>
      <p:nvGrpSpPr>
        <p:cNvPr id="1" name=""/>
        <p:cNvGrpSpPr/>
        <p:nvPr/>
      </p:nvGrpSpPr>
      <p:grpSpPr>
        <a:xfrm>
          <a:off x="0" y="0"/>
          <a:ext cx="0" cy="0"/>
          <a:chOff x="0" y="0"/>
          <a:chExt cx="0" cy="0"/>
        </a:xfrm>
      </p:grpSpPr>
      <p:sp>
        <p:nvSpPr>
          <p:cNvPr id="2" name="Shape 0"/>
          <p:cNvSpPr/>
          <p:nvPr/>
        </p:nvSpPr>
        <p:spPr>
          <a:xfrm>
            <a:off x="548640" y="411480"/>
            <a:ext cx="1600200" cy="384048"/>
          </a:xfrm>
          <a:prstGeom prst="roundRect">
            <a:avLst>
              <a:gd name="adj" fmla="val 50000"/>
            </a:avLst>
          </a:prstGeom>
          <a:solidFill>
            <a:srgbClr val="7B42BC"/>
          </a:solidFill>
          <a:ln/>
        </p:spPr>
      </p:sp>
      <p:sp>
        <p:nvSpPr>
          <p:cNvPr id="3" name="Text 1"/>
          <p:cNvSpPr/>
          <p:nvPr/>
        </p:nvSpPr>
        <p:spPr>
          <a:xfrm>
            <a:off x="548640" y="411480"/>
            <a:ext cx="1600200"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PROJECT 1</a:t>
            </a:r>
            <a:endParaRPr lang="en-US" sz="1200" dirty="0"/>
          </a:p>
        </p:txBody>
      </p:sp>
      <p:sp>
        <p:nvSpPr>
          <p:cNvPr id="4" name="Text 2"/>
          <p:cNvSpPr/>
          <p:nvPr/>
        </p:nvSpPr>
        <p:spPr>
          <a:xfrm>
            <a:off x="2286000" y="411480"/>
            <a:ext cx="7315200" cy="384048"/>
          </a:xfrm>
          <a:prstGeom prst="rect">
            <a:avLst/>
          </a:prstGeom>
          <a:noFill/>
          <a:ln/>
        </p:spPr>
        <p:txBody>
          <a:bodyPr wrap="square" lIns="0" tIns="0" rIns="0" bIns="0" rtlCol="0" anchor="ctr"/>
          <a:lstStyle/>
          <a:p>
            <a:pPr indent="0" marL="0">
              <a:buNone/>
            </a:pPr>
            <a:r>
              <a:rPr lang="en-US" sz="1300" b="1" spc="200" kern="0" dirty="0">
                <a:solidFill>
                  <a:srgbClr val="7B42BC"/>
                </a:solidFill>
                <a:latin typeface="Calibri" pitchFamily="34" charset="0"/>
                <a:ea typeface="Calibri" pitchFamily="34" charset="-122"/>
                <a:cs typeface="Calibri" pitchFamily="34" charset="-120"/>
              </a:rPr>
              <a:t>DATABASE LAYER</a:t>
            </a:r>
            <a:endParaRPr lang="en-US" sz="1300" dirty="0"/>
          </a:p>
        </p:txBody>
      </p:sp>
      <p:sp>
        <p:nvSpPr>
          <p:cNvPr id="5" name="Text 3"/>
          <p:cNvSpPr/>
          <p:nvPr/>
        </p:nvSpPr>
        <p:spPr>
          <a:xfrm>
            <a:off x="548640" y="960120"/>
            <a:ext cx="10058400" cy="640080"/>
          </a:xfrm>
          <a:prstGeom prst="rect">
            <a:avLst/>
          </a:prstGeom>
          <a:noFill/>
          <a:ln/>
        </p:spPr>
        <p:txBody>
          <a:bodyPr wrap="square" lIns="0" tIns="0" rIns="0" bIns="0" rtlCol="0" anchor="ctr"/>
          <a:lstStyle/>
          <a:p>
            <a:pPr indent="0" marL="0">
              <a:buNone/>
            </a:pPr>
            <a:r>
              <a:rPr lang="en-US" sz="2800" b="1" dirty="0">
                <a:solidFill>
                  <a:srgbClr val="241C3E"/>
                </a:solidFill>
                <a:latin typeface="Cambria" pitchFamily="34" charset="0"/>
                <a:ea typeface="Cambria" pitchFamily="34" charset="-122"/>
                <a:cs typeface="Cambria" pitchFamily="34" charset="-120"/>
              </a:rPr>
              <a:t>Step 3 — Deploy the RDS database</a:t>
            </a:r>
            <a:endParaRPr lang="en-US" sz="2800" dirty="0"/>
          </a:p>
        </p:txBody>
      </p:sp>
      <p:sp>
        <p:nvSpPr>
          <p:cNvPr id="6" name="Shape 4"/>
          <p:cNvSpPr/>
          <p:nvPr/>
        </p:nvSpPr>
        <p:spPr>
          <a:xfrm>
            <a:off x="548640" y="1737360"/>
            <a:ext cx="6492240" cy="2377440"/>
          </a:xfrm>
          <a:prstGeom prst="roundRect">
            <a:avLst>
              <a:gd name="adj" fmla="val 3077"/>
            </a:avLst>
          </a:prstGeom>
          <a:solidFill>
            <a:srgbClr val="241B3D"/>
          </a:solidFill>
          <a:ln/>
          <a:effectLst>
            <a:outerShdw sx="100000" sy="100000" kx="0" ky="0" algn="bl" rotWithShape="0" blurRad="101600" dist="38100" dir="2700000">
              <a:srgbClr val="000000">
                <a:alpha val="15000"/>
              </a:srgbClr>
            </a:outerShdw>
          </a:effectLst>
        </p:spPr>
      </p:sp>
      <p:sp>
        <p:nvSpPr>
          <p:cNvPr id="7" name="Shape 5"/>
          <p:cNvSpPr/>
          <p:nvPr/>
        </p:nvSpPr>
        <p:spPr>
          <a:xfrm>
            <a:off x="749808" y="1901952"/>
            <a:ext cx="109728" cy="109728"/>
          </a:xfrm>
          <a:prstGeom prst="ellipse">
            <a:avLst/>
          </a:prstGeom>
          <a:solidFill>
            <a:srgbClr val="FF6159"/>
          </a:solidFill>
          <a:ln/>
        </p:spPr>
      </p:sp>
      <p:sp>
        <p:nvSpPr>
          <p:cNvPr id="8" name="Shape 6"/>
          <p:cNvSpPr/>
          <p:nvPr/>
        </p:nvSpPr>
        <p:spPr>
          <a:xfrm>
            <a:off x="950976" y="1901952"/>
            <a:ext cx="109728" cy="109728"/>
          </a:xfrm>
          <a:prstGeom prst="ellipse">
            <a:avLst/>
          </a:prstGeom>
          <a:solidFill>
            <a:srgbClr val="FFBD2E"/>
          </a:solidFill>
          <a:ln/>
        </p:spPr>
      </p:sp>
      <p:sp>
        <p:nvSpPr>
          <p:cNvPr id="9" name="Shape 7"/>
          <p:cNvSpPr/>
          <p:nvPr/>
        </p:nvSpPr>
        <p:spPr>
          <a:xfrm>
            <a:off x="1152144" y="1901952"/>
            <a:ext cx="109728" cy="109728"/>
          </a:xfrm>
          <a:prstGeom prst="ellipse">
            <a:avLst/>
          </a:prstGeom>
          <a:solidFill>
            <a:srgbClr val="28C840"/>
          </a:solidFill>
          <a:ln/>
        </p:spPr>
      </p:sp>
      <p:sp>
        <p:nvSpPr>
          <p:cNvPr id="10" name="Text 8"/>
          <p:cNvSpPr/>
          <p:nvPr/>
        </p:nvSpPr>
        <p:spPr>
          <a:xfrm>
            <a:off x="777240" y="2148840"/>
            <a:ext cx="6035040" cy="1783080"/>
          </a:xfrm>
          <a:prstGeom prst="rect">
            <a:avLst/>
          </a:prstGeom>
          <a:noFill/>
          <a:ln/>
        </p:spPr>
        <p:txBody>
          <a:bodyPr wrap="square" lIns="0" tIns="0" rIns="0" bIns="0" rtlCol="0" anchor="t"/>
          <a:lstStyle/>
          <a:p>
            <a:pPr indent="0" marL="0">
              <a:lnSpc>
                <a:spcPct val="112000"/>
              </a:lnSpc>
              <a:buNone/>
            </a:pPr>
            <a:r>
              <a:rPr lang="en-US" sz="1500" dirty="0">
                <a:solidFill>
                  <a:srgbClr val="D9A5FF"/>
                </a:solidFill>
                <a:latin typeface="Courier New" pitchFamily="34" charset="0"/>
                <a:ea typeface="Courier New" pitchFamily="34" charset="-122"/>
                <a:cs typeface="Courier New" pitchFamily="34" charset="-120"/>
              </a:rPr>
              <a:t>resource "aws_db_instance" "web_db" {</a:t>
            </a:r>
            <a:endParaRPr lang="en-US" sz="1500" dirty="0"/>
          </a:p>
          <a:p>
            <a:pPr indent="0" marL="0">
              <a:lnSpc>
                <a:spcPct val="112000"/>
              </a:lnSpc>
              <a:buNone/>
            </a:pPr>
            <a:r>
              <a:rPr lang="en-US" sz="1500" dirty="0">
                <a:solidFill>
                  <a:srgbClr val="F0C674"/>
                </a:solidFill>
                <a:latin typeface="Courier New" pitchFamily="34" charset="0"/>
                <a:ea typeface="Courier New" pitchFamily="34" charset="-122"/>
                <a:cs typeface="Courier New" pitchFamily="34" charset="-120"/>
              </a:rPr>
              <a:t>  allocated_storage = 20</a:t>
            </a:r>
            <a:endParaRPr lang="en-US" sz="1500" dirty="0"/>
          </a:p>
          <a:p>
            <a:pPr indent="0" marL="0">
              <a:lnSpc>
                <a:spcPct val="112000"/>
              </a:lnSpc>
              <a:buNone/>
            </a:pPr>
            <a:r>
              <a:rPr lang="en-US" sz="1500" dirty="0">
                <a:solidFill>
                  <a:srgbClr val="79E6DC"/>
                </a:solidFill>
                <a:latin typeface="Courier New" pitchFamily="34" charset="0"/>
                <a:ea typeface="Courier New" pitchFamily="34" charset="-122"/>
                <a:cs typeface="Courier New" pitchFamily="34" charset="-120"/>
              </a:rPr>
              <a:t>  engine            = "mysql"</a:t>
            </a:r>
            <a:endParaRPr lang="en-US" sz="1500" dirty="0"/>
          </a:p>
          <a:p>
            <a:pPr indent="0" marL="0">
              <a:lnSpc>
                <a:spcPct val="112000"/>
              </a:lnSpc>
              <a:buNone/>
            </a:pPr>
            <a:r>
              <a:rPr lang="en-US" sz="1500" dirty="0">
                <a:solidFill>
                  <a:srgbClr val="E8E6F0"/>
                </a:solidFill>
                <a:latin typeface="Courier New" pitchFamily="34" charset="0"/>
                <a:ea typeface="Courier New" pitchFamily="34" charset="-122"/>
                <a:cs typeface="Courier New" pitchFamily="34" charset="-120"/>
              </a:rPr>
              <a:t>  instance_class    = "db.t2.micro"</a:t>
            </a:r>
            <a:endParaRPr lang="en-US" sz="1500" dirty="0"/>
          </a:p>
          <a:p>
            <a:pPr indent="0" marL="0">
              <a:lnSpc>
                <a:spcPct val="112000"/>
              </a:lnSpc>
              <a:buNone/>
            </a:pPr>
            <a:r>
              <a:rPr lang="en-US" sz="1500" dirty="0">
                <a:solidFill>
                  <a:srgbClr val="E8E6F0"/>
                </a:solidFill>
                <a:latin typeface="Courier New" pitchFamily="34" charset="0"/>
                <a:ea typeface="Courier New" pitchFamily="34" charset="-122"/>
                <a:cs typeface="Courier New" pitchFamily="34" charset="-120"/>
              </a:rPr>
              <a:t>  username          = "admin"</a:t>
            </a:r>
            <a:endParaRPr lang="en-US" sz="1500" dirty="0"/>
          </a:p>
          <a:p>
            <a:pPr indent="0" marL="0">
              <a:lnSpc>
                <a:spcPct val="112000"/>
              </a:lnSpc>
              <a:buNone/>
            </a:pPr>
            <a:r>
              <a:rPr lang="en-US" sz="1500" dirty="0">
                <a:solidFill>
                  <a:srgbClr val="E8E6F0"/>
                </a:solidFill>
                <a:latin typeface="Courier New" pitchFamily="34" charset="0"/>
                <a:ea typeface="Courier New" pitchFamily="34" charset="-122"/>
                <a:cs typeface="Courier New" pitchFamily="34" charset="-120"/>
              </a:rPr>
              <a:t>  password          = "password123"</a:t>
            </a:r>
            <a:endParaRPr lang="en-US" sz="1500" dirty="0"/>
          </a:p>
          <a:p>
            <a:pPr indent="0" marL="0">
              <a:lnSpc>
                <a:spcPct val="112000"/>
              </a:lnSpc>
              <a:buNone/>
            </a:pPr>
            <a:r>
              <a:rPr lang="en-US" sz="1500" dirty="0">
                <a:solidFill>
                  <a:srgbClr val="D9A5FF"/>
                </a:solidFill>
                <a:latin typeface="Courier New" pitchFamily="34" charset="0"/>
                <a:ea typeface="Courier New" pitchFamily="34" charset="-122"/>
                <a:cs typeface="Courier New" pitchFamily="34" charset="-120"/>
              </a:rPr>
              <a:t>}</a:t>
            </a:r>
            <a:endParaRPr lang="en-US" sz="1500" dirty="0"/>
          </a:p>
        </p:txBody>
      </p:sp>
      <p:sp>
        <p:nvSpPr>
          <p:cNvPr id="11" name="Shape 9"/>
          <p:cNvSpPr/>
          <p:nvPr/>
        </p:nvSpPr>
        <p:spPr>
          <a:xfrm>
            <a:off x="7269480" y="1737360"/>
            <a:ext cx="4343400" cy="2377440"/>
          </a:xfrm>
          <a:prstGeom prst="roundRect">
            <a:avLst>
              <a:gd name="adj" fmla="val 3846"/>
            </a:avLst>
          </a:prstGeom>
          <a:solidFill>
            <a:srgbClr val="EAF7EF"/>
          </a:solidFill>
          <a:ln/>
          <a:effectLst>
            <a:outerShdw sx="100000" sy="100000" kx="0" ky="0" algn="bl" rotWithShape="0" blurRad="101600" dist="38100" dir="2700000">
              <a:srgbClr val="000000">
                <a:alpha val="15000"/>
              </a:srgbClr>
            </a:outerShdw>
          </a:effectLst>
        </p:spPr>
      </p:sp>
      <p:pic>
        <p:nvPicPr>
          <p:cNvPr id="12" name="Image 0" descr="icons/database_purple.png">    </p:cNvPr>
          <p:cNvPicPr>
            <a:picLocks noChangeAspect="1"/>
          </p:cNvPicPr>
          <p:nvPr/>
        </p:nvPicPr>
        <p:blipFill>
          <a:blip r:embed="rId1"/>
          <a:stretch>
            <a:fillRect/>
          </a:stretch>
        </p:blipFill>
        <p:spPr>
          <a:xfrm>
            <a:off x="7543800" y="1965960"/>
            <a:ext cx="384048" cy="384048"/>
          </a:xfrm>
          <a:prstGeom prst="rect">
            <a:avLst/>
          </a:prstGeom>
        </p:spPr>
      </p:pic>
      <p:sp>
        <p:nvSpPr>
          <p:cNvPr id="13" name="Text 10"/>
          <p:cNvSpPr/>
          <p:nvPr/>
        </p:nvSpPr>
        <p:spPr>
          <a:xfrm>
            <a:off x="7818120" y="1920240"/>
            <a:ext cx="3657600" cy="2148840"/>
          </a:xfrm>
          <a:prstGeom prst="rect">
            <a:avLst/>
          </a:prstGeom>
          <a:noFill/>
          <a:ln/>
        </p:spPr>
        <p:txBody>
          <a:bodyPr wrap="square" lIns="0" tIns="0" rIns="0" bIns="0" rtlCol="0" anchor="t"/>
          <a:lstStyle/>
          <a:p>
            <a:pPr indent="0" marL="0">
              <a:lnSpc>
                <a:spcPct val="125000"/>
              </a:lnSpc>
              <a:buNone/>
            </a:pPr>
            <a:r>
              <a:rPr lang="en-US" sz="1400" b="1" dirty="0">
                <a:solidFill>
                  <a:srgbClr val="1D8A5F"/>
                </a:solidFill>
                <a:latin typeface="Calibri" pitchFamily="34" charset="0"/>
                <a:ea typeface="Calibri" pitchFamily="34" charset="-122"/>
                <a:cs typeface="Calibri" pitchFamily="34" charset="-120"/>
              </a:rPr>
              <a:t>Why separate it
</a:t>
            </a:r>
            <a:endParaRPr lang="en-US" sz="1400" dirty="0"/>
          </a:p>
          <a:p>
            <a:pPr indent="0" marL="0">
              <a:lnSpc>
                <a:spcPct val="125000"/>
              </a:lnSpc>
              <a:buNone/>
            </a:pPr>
            <a:r>
              <a:rPr lang="en-US" sz="1300" dirty="0">
                <a:solidFill>
                  <a:srgbClr val="241C3E"/>
                </a:solidFill>
                <a:latin typeface="Calibri" pitchFamily="34" charset="0"/>
                <a:ea typeface="Calibri" pitchFamily="34" charset="-122"/>
                <a:cs typeface="Calibri" pitchFamily="34" charset="-120"/>
              </a:rPr>
              <a:t>Running the database as its own RDS instance — instead of on an app server — lets it scale, back up, and fail over independently of the web tier.</a:t>
            </a:r>
            <a:endParaRPr lang="en-US" sz="1400" dirty="0"/>
          </a:p>
        </p:txBody>
      </p:sp>
      <p:sp>
        <p:nvSpPr>
          <p:cNvPr id="14" name="Shape 11"/>
          <p:cNvSpPr/>
          <p:nvPr/>
        </p:nvSpPr>
        <p:spPr>
          <a:xfrm>
            <a:off x="548640" y="4434840"/>
            <a:ext cx="11064240" cy="1280160"/>
          </a:xfrm>
          <a:prstGeom prst="roundRect">
            <a:avLst>
              <a:gd name="adj" fmla="val 7143"/>
            </a:avLst>
          </a:prstGeom>
          <a:solidFill>
            <a:srgbClr val="FBEAEA"/>
          </a:solidFill>
          <a:ln/>
          <a:effectLst>
            <a:outerShdw sx="100000" sy="100000" kx="0" ky="0" algn="bl" rotWithShape="0" blurRad="101600" dist="38100" dir="2700000">
              <a:srgbClr val="000000">
                <a:alpha val="15000"/>
              </a:srgbClr>
            </a:outerShdw>
          </a:effectLst>
        </p:spPr>
      </p:sp>
      <p:pic>
        <p:nvPicPr>
          <p:cNvPr id="15" name="Image 1" descr="icons/shield_purple.png">    </p:cNvPr>
          <p:cNvPicPr>
            <a:picLocks noChangeAspect="1"/>
          </p:cNvPicPr>
          <p:nvPr/>
        </p:nvPicPr>
        <p:blipFill>
          <a:blip r:embed="rId2"/>
          <a:stretch>
            <a:fillRect/>
          </a:stretch>
        </p:blipFill>
        <p:spPr>
          <a:xfrm>
            <a:off x="822960" y="4754880"/>
            <a:ext cx="457200" cy="457200"/>
          </a:xfrm>
          <a:prstGeom prst="rect">
            <a:avLst/>
          </a:prstGeom>
        </p:spPr>
      </p:pic>
      <p:sp>
        <p:nvSpPr>
          <p:cNvPr id="16" name="Text 12"/>
          <p:cNvSpPr/>
          <p:nvPr/>
        </p:nvSpPr>
        <p:spPr>
          <a:xfrm>
            <a:off x="1417320" y="4434840"/>
            <a:ext cx="9966960" cy="1280160"/>
          </a:xfrm>
          <a:prstGeom prst="rect">
            <a:avLst/>
          </a:prstGeom>
          <a:noFill/>
          <a:ln/>
        </p:spPr>
        <p:txBody>
          <a:bodyPr wrap="square" lIns="0" tIns="0" rIns="0" bIns="0" rtlCol="0" anchor="ctr"/>
          <a:lstStyle/>
          <a:p>
            <a:pPr indent="0" marL="0">
              <a:buNone/>
            </a:pPr>
            <a:r>
              <a:rPr lang="en-US" sz="1400" b="1" dirty="0">
                <a:solidFill>
                  <a:srgbClr val="B03A3A"/>
                </a:solidFill>
                <a:latin typeface="Calibri" pitchFamily="34" charset="0"/>
                <a:ea typeface="Calibri" pitchFamily="34" charset="-122"/>
                <a:cs typeface="Calibri" pitchFamily="34" charset="-120"/>
              </a:rPr>
              <a:t>Production checklist: </a:t>
            </a:r>
            <a:pPr indent="0" marL="0">
              <a:buNone/>
            </a:pPr>
            <a:r>
              <a:rPr lang="en-US" sz="1400" dirty="0">
                <a:solidFill>
                  <a:srgbClr val="241C3E"/>
                </a:solidFill>
                <a:latin typeface="Calibri" pitchFamily="34" charset="0"/>
                <a:ea typeface="Calibri" pitchFamily="34" charset="-122"/>
                <a:cs typeface="Calibri" pitchFamily="34" charset="-120"/>
              </a:rPr>
              <a:t>never hard-code credentials as shown here — use a secrets manager or Terraform variables marked </a:t>
            </a:r>
            <a:pPr indent="0" marL="0">
              <a:buNone/>
            </a:pPr>
            <a:r>
              <a:rPr lang="en-US" sz="1400" b="1" dirty="0">
                <a:solidFill>
                  <a:srgbClr val="7B42BC"/>
                </a:solidFill>
                <a:latin typeface="Courier New" pitchFamily="34" charset="0"/>
                <a:ea typeface="Courier New" pitchFamily="34" charset="-122"/>
                <a:cs typeface="Courier New" pitchFamily="34" charset="-120"/>
              </a:rPr>
              <a:t>sensitive = true</a:t>
            </a:r>
            <a:pPr indent="0" marL="0">
              <a:buNone/>
            </a:pPr>
            <a:r>
              <a:rPr lang="en-US" sz="1400" dirty="0">
                <a:solidFill>
                  <a:srgbClr val="241C3E"/>
                </a:solidFill>
                <a:latin typeface="Calibri" pitchFamily="34" charset="0"/>
                <a:ea typeface="Calibri" pitchFamily="34" charset="-122"/>
                <a:cs typeface="Calibri" pitchFamily="34" charset="-120"/>
              </a:rPr>
              <a:t>, and enable Multi-AZ for real failover.</a:t>
            </a:r>
            <a:endParaRPr lang="en-US" sz="1400" dirty="0"/>
          </a:p>
        </p:txBody>
      </p:sp>
      <p:sp>
        <p:nvSpPr>
          <p:cNvPr id="17" name="Text 13"/>
          <p:cNvSpPr/>
          <p:nvPr/>
        </p:nvSpPr>
        <p:spPr>
          <a:xfrm>
            <a:off x="457200" y="6446520"/>
            <a:ext cx="6400800" cy="274320"/>
          </a:xfrm>
          <a:prstGeom prst="rect">
            <a:avLst/>
          </a:prstGeom>
          <a:noFill/>
          <a:ln/>
        </p:spPr>
        <p:txBody>
          <a:bodyPr wrap="square" lIns="0" tIns="0" rIns="0" bIns="0" rtlCol="0" anchor="ctr"/>
          <a:lstStyle/>
          <a:p>
            <a:pPr algn="l" indent="0" marL="0">
              <a:buNone/>
            </a:pPr>
            <a:r>
              <a:rPr lang="en-US" sz="1000" dirty="0">
                <a:solidFill>
                  <a:srgbClr val="6B6483"/>
                </a:solidFill>
                <a:latin typeface="Calibri" pitchFamily="34" charset="0"/>
                <a:ea typeface="Calibri" pitchFamily="34" charset="-122"/>
                <a:cs typeface="Calibri" pitchFamily="34" charset="-120"/>
              </a:rPr>
              <a:t>Real-World Projects &amp; Hands-On Labs</a:t>
            </a:r>
            <a:endParaRPr lang="en-US" sz="1000" dirty="0"/>
          </a:p>
        </p:txBody>
      </p:sp>
      <p:sp>
        <p:nvSpPr>
          <p:cNvPr id="18" name="Text 14"/>
          <p:cNvSpPr/>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6B6483"/>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C"/>
        </a:solidFill>
      </p:bgPr>
    </p:bg>
    <p:spTree>
      <p:nvGrpSpPr>
        <p:cNvPr id="1" name=""/>
        <p:cNvGrpSpPr/>
        <p:nvPr/>
      </p:nvGrpSpPr>
      <p:grpSpPr>
        <a:xfrm>
          <a:off x="0" y="0"/>
          <a:ext cx="0" cy="0"/>
          <a:chOff x="0" y="0"/>
          <a:chExt cx="0" cy="0"/>
        </a:xfrm>
      </p:grpSpPr>
      <p:sp>
        <p:nvSpPr>
          <p:cNvPr id="2" name="Shape 0"/>
          <p:cNvSpPr/>
          <p:nvPr/>
        </p:nvSpPr>
        <p:spPr>
          <a:xfrm>
            <a:off x="548640" y="411480"/>
            <a:ext cx="1600200" cy="384048"/>
          </a:xfrm>
          <a:prstGeom prst="roundRect">
            <a:avLst>
              <a:gd name="adj" fmla="val 50000"/>
            </a:avLst>
          </a:prstGeom>
          <a:solidFill>
            <a:srgbClr val="7B42BC"/>
          </a:solidFill>
          <a:ln/>
        </p:spPr>
      </p:sp>
      <p:sp>
        <p:nvSpPr>
          <p:cNvPr id="3" name="Text 1"/>
          <p:cNvSpPr/>
          <p:nvPr/>
        </p:nvSpPr>
        <p:spPr>
          <a:xfrm>
            <a:off x="548640" y="411480"/>
            <a:ext cx="1600200"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PROJECT 2</a:t>
            </a:r>
            <a:endParaRPr lang="en-US" sz="1200" dirty="0"/>
          </a:p>
        </p:txBody>
      </p:sp>
      <p:sp>
        <p:nvSpPr>
          <p:cNvPr id="4" name="Text 2"/>
          <p:cNvSpPr/>
          <p:nvPr/>
        </p:nvSpPr>
        <p:spPr>
          <a:xfrm>
            <a:off x="2286000" y="411480"/>
            <a:ext cx="7315200" cy="384048"/>
          </a:xfrm>
          <a:prstGeom prst="rect">
            <a:avLst/>
          </a:prstGeom>
          <a:noFill/>
          <a:ln/>
        </p:spPr>
        <p:txBody>
          <a:bodyPr wrap="square" lIns="0" tIns="0" rIns="0" bIns="0" rtlCol="0" anchor="ctr"/>
          <a:lstStyle/>
          <a:p>
            <a:pPr indent="0" marL="0">
              <a:buNone/>
            </a:pPr>
            <a:r>
              <a:rPr lang="en-US" sz="1300" b="1" spc="200" kern="0" dirty="0">
                <a:solidFill>
                  <a:srgbClr val="7B42BC"/>
                </a:solidFill>
                <a:latin typeface="Calibri" pitchFamily="34" charset="0"/>
                <a:ea typeface="Calibri" pitchFamily="34" charset="-122"/>
                <a:cs typeface="Calibri" pitchFamily="34" charset="-120"/>
              </a:rPr>
              <a:t>KUBERNETES CLUSTER WITH TERRAFORM</a:t>
            </a:r>
            <a:endParaRPr lang="en-US" sz="1300" dirty="0"/>
          </a:p>
        </p:txBody>
      </p:sp>
      <p:sp>
        <p:nvSpPr>
          <p:cNvPr id="5" name="Text 3"/>
          <p:cNvSpPr/>
          <p:nvPr/>
        </p:nvSpPr>
        <p:spPr>
          <a:xfrm>
            <a:off x="548640" y="960120"/>
            <a:ext cx="10058400" cy="640080"/>
          </a:xfrm>
          <a:prstGeom prst="rect">
            <a:avLst/>
          </a:prstGeom>
          <a:noFill/>
          <a:ln/>
        </p:spPr>
        <p:txBody>
          <a:bodyPr wrap="square" lIns="0" tIns="0" rIns="0" bIns="0" rtlCol="0" anchor="ctr"/>
          <a:lstStyle/>
          <a:p>
            <a:pPr indent="0" marL="0">
              <a:buNone/>
            </a:pPr>
            <a:r>
              <a:rPr lang="en-US" sz="3000" b="1" dirty="0">
                <a:solidFill>
                  <a:srgbClr val="241C3E"/>
                </a:solidFill>
                <a:latin typeface="Cambria" pitchFamily="34" charset="0"/>
                <a:ea typeface="Cambria" pitchFamily="34" charset="-122"/>
                <a:cs typeface="Cambria" pitchFamily="34" charset="-120"/>
              </a:rPr>
              <a:t>Provision EKS &amp; deploy a workload</a:t>
            </a:r>
            <a:endParaRPr lang="en-US" sz="3000" dirty="0"/>
          </a:p>
        </p:txBody>
      </p:sp>
      <p:sp>
        <p:nvSpPr>
          <p:cNvPr id="6" name="Text 4"/>
          <p:cNvSpPr/>
          <p:nvPr/>
        </p:nvSpPr>
        <p:spPr>
          <a:xfrm>
            <a:off x="548640" y="1600200"/>
            <a:ext cx="10058400" cy="457200"/>
          </a:xfrm>
          <a:prstGeom prst="rect">
            <a:avLst/>
          </a:prstGeom>
          <a:noFill/>
          <a:ln/>
        </p:spPr>
        <p:txBody>
          <a:bodyPr wrap="square" lIns="0" tIns="0" rIns="0" bIns="0" rtlCol="0" anchor="ctr"/>
          <a:lstStyle/>
          <a:p>
            <a:pPr indent="0" marL="0">
              <a:buNone/>
            </a:pPr>
            <a:r>
              <a:rPr lang="en-US" sz="1500" dirty="0">
                <a:solidFill>
                  <a:srgbClr val="6B6483"/>
                </a:solidFill>
                <a:latin typeface="Calibri" pitchFamily="34" charset="0"/>
                <a:ea typeface="Calibri" pitchFamily="34" charset="-122"/>
                <a:cs typeface="Calibri" pitchFamily="34" charset="-120"/>
              </a:rPr>
              <a:t>Terraform doesn't stop at infrastructure — it can hand off directly into the Kubernetes API.</a:t>
            </a:r>
            <a:endParaRPr lang="en-US" sz="1500" dirty="0"/>
          </a:p>
        </p:txBody>
      </p:sp>
      <p:sp>
        <p:nvSpPr>
          <p:cNvPr id="7" name="Shape 5"/>
          <p:cNvSpPr/>
          <p:nvPr/>
        </p:nvSpPr>
        <p:spPr>
          <a:xfrm>
            <a:off x="548640" y="2331720"/>
            <a:ext cx="5349240" cy="2651760"/>
          </a:xfrm>
          <a:prstGeom prst="roundRect">
            <a:avLst>
              <a:gd name="adj" fmla="val 3448"/>
            </a:avLst>
          </a:prstGeom>
          <a:solidFill>
            <a:srgbClr val="4B2A82"/>
          </a:solidFill>
          <a:ln/>
          <a:effectLst>
            <a:outerShdw sx="100000" sy="100000" kx="0" ky="0" algn="bl" rotWithShape="0" blurRad="101600" dist="38100" dir="2700000">
              <a:srgbClr val="000000">
                <a:alpha val="15000"/>
              </a:srgbClr>
            </a:outerShdw>
          </a:effectLst>
        </p:spPr>
      </p:sp>
      <p:sp>
        <p:nvSpPr>
          <p:cNvPr id="8" name="Shape 6"/>
          <p:cNvSpPr/>
          <p:nvPr/>
        </p:nvSpPr>
        <p:spPr>
          <a:xfrm>
            <a:off x="868680" y="2651760"/>
            <a:ext cx="685800" cy="685800"/>
          </a:xfrm>
          <a:prstGeom prst="ellipse">
            <a:avLst/>
          </a:prstGeom>
          <a:solidFill>
            <a:srgbClr val="00D9C0"/>
          </a:solidFill>
          <a:ln/>
        </p:spPr>
      </p:sp>
      <p:pic>
        <p:nvPicPr>
          <p:cNvPr id="9" name="Image 0" descr="icons/wheel_white.png">    </p:cNvPr>
          <p:cNvPicPr>
            <a:picLocks noChangeAspect="1"/>
          </p:cNvPicPr>
          <p:nvPr/>
        </p:nvPicPr>
        <p:blipFill>
          <a:blip r:embed="rId1"/>
          <a:stretch>
            <a:fillRect/>
          </a:stretch>
        </p:blipFill>
        <p:spPr>
          <a:xfrm>
            <a:off x="1051560" y="2834640"/>
            <a:ext cx="320040" cy="320040"/>
          </a:xfrm>
          <a:prstGeom prst="rect">
            <a:avLst/>
          </a:prstGeom>
        </p:spPr>
      </p:pic>
      <p:sp>
        <p:nvSpPr>
          <p:cNvPr id="10" name="Text 7"/>
          <p:cNvSpPr/>
          <p:nvPr/>
        </p:nvSpPr>
        <p:spPr>
          <a:xfrm>
            <a:off x="868680" y="3520440"/>
            <a:ext cx="4709160" cy="45720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Provision the cluster</a:t>
            </a:r>
            <a:endParaRPr lang="en-US" sz="1900" dirty="0"/>
          </a:p>
        </p:txBody>
      </p:sp>
      <p:sp>
        <p:nvSpPr>
          <p:cNvPr id="11" name="Text 8"/>
          <p:cNvSpPr/>
          <p:nvPr/>
        </p:nvSpPr>
        <p:spPr>
          <a:xfrm>
            <a:off x="868680" y="4023360"/>
            <a:ext cx="4709160" cy="914400"/>
          </a:xfrm>
          <a:prstGeom prst="rect">
            <a:avLst/>
          </a:prstGeom>
          <a:noFill/>
          <a:ln/>
        </p:spPr>
        <p:txBody>
          <a:bodyPr wrap="square" lIns="0" tIns="0" rIns="0" bIns="0" rtlCol="0" anchor="ctr"/>
          <a:lstStyle/>
          <a:p>
            <a:pPr indent="0" marL="0">
              <a:lnSpc>
                <a:spcPct val="125000"/>
              </a:lnSpc>
              <a:buNone/>
            </a:pPr>
            <a:r>
              <a:rPr lang="en-US" sz="1350" dirty="0">
                <a:solidFill>
                  <a:srgbClr val="D9D1EF"/>
                </a:solidFill>
                <a:latin typeface="Calibri" pitchFamily="34" charset="0"/>
                <a:ea typeface="Calibri" pitchFamily="34" charset="-122"/>
                <a:cs typeface="Calibri" pitchFamily="34" charset="-120"/>
              </a:rPr>
              <a:t>Use the terraform-aws-modules/eks module to stand up an EKS control plane and node groups.</a:t>
            </a:r>
            <a:endParaRPr lang="en-US" sz="1350" dirty="0"/>
          </a:p>
        </p:txBody>
      </p:sp>
      <p:sp>
        <p:nvSpPr>
          <p:cNvPr id="12" name="Shape 9"/>
          <p:cNvSpPr/>
          <p:nvPr/>
        </p:nvSpPr>
        <p:spPr>
          <a:xfrm>
            <a:off x="6263640" y="2331720"/>
            <a:ext cx="5349240" cy="2651760"/>
          </a:xfrm>
          <a:prstGeom prst="roundRect">
            <a:avLst>
              <a:gd name="adj" fmla="val 3448"/>
            </a:avLst>
          </a:prstGeom>
          <a:solidFill>
            <a:srgbClr val="4B2A82"/>
          </a:solidFill>
          <a:ln/>
          <a:effectLst>
            <a:outerShdw sx="100000" sy="100000" kx="0" ky="0" algn="bl" rotWithShape="0" blurRad="101600" dist="38100" dir="2700000">
              <a:srgbClr val="000000">
                <a:alpha val="15000"/>
              </a:srgbClr>
            </a:outerShdw>
          </a:effectLst>
        </p:spPr>
      </p:sp>
      <p:sp>
        <p:nvSpPr>
          <p:cNvPr id="13" name="Shape 10"/>
          <p:cNvSpPr/>
          <p:nvPr/>
        </p:nvSpPr>
        <p:spPr>
          <a:xfrm>
            <a:off x="6583680" y="2651760"/>
            <a:ext cx="685800" cy="685800"/>
          </a:xfrm>
          <a:prstGeom prst="ellipse">
            <a:avLst/>
          </a:prstGeom>
          <a:solidFill>
            <a:srgbClr val="00D9C0"/>
          </a:solidFill>
          <a:ln/>
        </p:spPr>
      </p:sp>
      <p:pic>
        <p:nvPicPr>
          <p:cNvPr id="14" name="Image 1" descr="icons/cubes_white.png">    </p:cNvPr>
          <p:cNvPicPr>
            <a:picLocks noChangeAspect="1"/>
          </p:cNvPicPr>
          <p:nvPr/>
        </p:nvPicPr>
        <p:blipFill>
          <a:blip r:embed="rId2"/>
          <a:stretch>
            <a:fillRect/>
          </a:stretch>
        </p:blipFill>
        <p:spPr>
          <a:xfrm>
            <a:off x="6766560" y="2834640"/>
            <a:ext cx="320040" cy="320040"/>
          </a:xfrm>
          <a:prstGeom prst="rect">
            <a:avLst/>
          </a:prstGeom>
        </p:spPr>
      </p:pic>
      <p:sp>
        <p:nvSpPr>
          <p:cNvPr id="15" name="Text 11"/>
          <p:cNvSpPr/>
          <p:nvPr/>
        </p:nvSpPr>
        <p:spPr>
          <a:xfrm>
            <a:off x="6583680" y="3520440"/>
            <a:ext cx="4709160" cy="45720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Deploy a workload</a:t>
            </a:r>
            <a:endParaRPr lang="en-US" sz="1900" dirty="0"/>
          </a:p>
        </p:txBody>
      </p:sp>
      <p:sp>
        <p:nvSpPr>
          <p:cNvPr id="16" name="Text 12"/>
          <p:cNvSpPr/>
          <p:nvPr/>
        </p:nvSpPr>
        <p:spPr>
          <a:xfrm>
            <a:off x="6583680" y="4023360"/>
            <a:ext cx="4709160" cy="914400"/>
          </a:xfrm>
          <a:prstGeom prst="rect">
            <a:avLst/>
          </a:prstGeom>
          <a:noFill/>
          <a:ln/>
        </p:spPr>
        <p:txBody>
          <a:bodyPr wrap="square" lIns="0" tIns="0" rIns="0" bIns="0" rtlCol="0" anchor="ctr"/>
          <a:lstStyle/>
          <a:p>
            <a:pPr indent="0" marL="0">
              <a:lnSpc>
                <a:spcPct val="125000"/>
              </a:lnSpc>
              <a:buNone/>
            </a:pPr>
            <a:r>
              <a:rPr lang="en-US" sz="1350" dirty="0">
                <a:solidFill>
                  <a:srgbClr val="D9D1EF"/>
                </a:solidFill>
                <a:latin typeface="Calibri" pitchFamily="34" charset="0"/>
                <a:ea typeface="Calibri" pitchFamily="34" charset="-122"/>
                <a:cs typeface="Calibri" pitchFamily="34" charset="-120"/>
              </a:rPr>
              <a:t>Use the kubernetes provider to declare a Deployment — here, a 2-replica Nginx app.</a:t>
            </a:r>
            <a:endParaRPr lang="en-US" sz="1350" dirty="0"/>
          </a:p>
        </p:txBody>
      </p:sp>
      <p:sp>
        <p:nvSpPr>
          <p:cNvPr id="17" name="Text 13"/>
          <p:cNvSpPr/>
          <p:nvPr/>
        </p:nvSpPr>
        <p:spPr>
          <a:xfrm>
            <a:off x="457200" y="6446520"/>
            <a:ext cx="6400800" cy="274320"/>
          </a:xfrm>
          <a:prstGeom prst="rect">
            <a:avLst/>
          </a:prstGeom>
          <a:noFill/>
          <a:ln/>
        </p:spPr>
        <p:txBody>
          <a:bodyPr wrap="square" lIns="0" tIns="0" rIns="0" bIns="0" rtlCol="0" anchor="ctr"/>
          <a:lstStyle/>
          <a:p>
            <a:pPr algn="l" indent="0" marL="0">
              <a:buNone/>
            </a:pPr>
            <a:r>
              <a:rPr lang="en-US" sz="1000" dirty="0">
                <a:solidFill>
                  <a:srgbClr val="6B6483"/>
                </a:solidFill>
                <a:latin typeface="Calibri" pitchFamily="34" charset="0"/>
                <a:ea typeface="Calibri" pitchFamily="34" charset="-122"/>
                <a:cs typeface="Calibri" pitchFamily="34" charset="-120"/>
              </a:rPr>
              <a:t>Real-World Projects &amp; Hands-On Labs</a:t>
            </a:r>
            <a:endParaRPr lang="en-US" sz="1000" dirty="0"/>
          </a:p>
        </p:txBody>
      </p:sp>
      <p:sp>
        <p:nvSpPr>
          <p:cNvPr id="18" name="Text 14"/>
          <p:cNvSpPr/>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6B6483"/>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C"/>
        </a:solidFill>
      </p:bgPr>
    </p:bg>
    <p:spTree>
      <p:nvGrpSpPr>
        <p:cNvPr id="1" name=""/>
        <p:cNvGrpSpPr/>
        <p:nvPr/>
      </p:nvGrpSpPr>
      <p:grpSpPr>
        <a:xfrm>
          <a:off x="0" y="0"/>
          <a:ext cx="0" cy="0"/>
          <a:chOff x="0" y="0"/>
          <a:chExt cx="0" cy="0"/>
        </a:xfrm>
      </p:grpSpPr>
      <p:sp>
        <p:nvSpPr>
          <p:cNvPr id="2" name="Shape 0"/>
          <p:cNvSpPr/>
          <p:nvPr/>
        </p:nvSpPr>
        <p:spPr>
          <a:xfrm>
            <a:off x="548640" y="411480"/>
            <a:ext cx="1600200" cy="384048"/>
          </a:xfrm>
          <a:prstGeom prst="roundRect">
            <a:avLst>
              <a:gd name="adj" fmla="val 50000"/>
            </a:avLst>
          </a:prstGeom>
          <a:solidFill>
            <a:srgbClr val="7B42BC"/>
          </a:solidFill>
          <a:ln/>
        </p:spPr>
      </p:sp>
      <p:sp>
        <p:nvSpPr>
          <p:cNvPr id="3" name="Text 1"/>
          <p:cNvSpPr/>
          <p:nvPr/>
        </p:nvSpPr>
        <p:spPr>
          <a:xfrm>
            <a:off x="548640" y="411480"/>
            <a:ext cx="1600200"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PROJECT 2</a:t>
            </a:r>
            <a:endParaRPr lang="en-US" sz="1200" dirty="0"/>
          </a:p>
        </p:txBody>
      </p:sp>
      <p:sp>
        <p:nvSpPr>
          <p:cNvPr id="4" name="Text 2"/>
          <p:cNvSpPr/>
          <p:nvPr/>
        </p:nvSpPr>
        <p:spPr>
          <a:xfrm>
            <a:off x="2286000" y="411480"/>
            <a:ext cx="7315200" cy="384048"/>
          </a:xfrm>
          <a:prstGeom prst="rect">
            <a:avLst/>
          </a:prstGeom>
          <a:noFill/>
          <a:ln/>
        </p:spPr>
        <p:txBody>
          <a:bodyPr wrap="square" lIns="0" tIns="0" rIns="0" bIns="0" rtlCol="0" anchor="ctr"/>
          <a:lstStyle/>
          <a:p>
            <a:pPr indent="0" marL="0">
              <a:buNone/>
            </a:pPr>
            <a:r>
              <a:rPr lang="en-US" sz="1300" b="1" spc="200" kern="0" dirty="0">
                <a:solidFill>
                  <a:srgbClr val="7B42BC"/>
                </a:solidFill>
                <a:latin typeface="Calibri" pitchFamily="34" charset="0"/>
                <a:ea typeface="Calibri" pitchFamily="34" charset="-122"/>
                <a:cs typeface="Calibri" pitchFamily="34" charset="-120"/>
              </a:rPr>
              <a:t>CLUSTER PROVISIONING</a:t>
            </a:r>
            <a:endParaRPr lang="en-US" sz="1300" dirty="0"/>
          </a:p>
        </p:txBody>
      </p:sp>
      <p:sp>
        <p:nvSpPr>
          <p:cNvPr id="5" name="Text 3"/>
          <p:cNvSpPr/>
          <p:nvPr/>
        </p:nvSpPr>
        <p:spPr>
          <a:xfrm>
            <a:off x="548640" y="960120"/>
            <a:ext cx="10058400" cy="640080"/>
          </a:xfrm>
          <a:prstGeom prst="rect">
            <a:avLst/>
          </a:prstGeom>
          <a:noFill/>
          <a:ln/>
        </p:spPr>
        <p:txBody>
          <a:bodyPr wrap="square" lIns="0" tIns="0" rIns="0" bIns="0" rtlCol="0" anchor="ctr"/>
          <a:lstStyle/>
          <a:p>
            <a:pPr indent="0" marL="0">
              <a:buNone/>
            </a:pPr>
            <a:r>
              <a:rPr lang="en-US" sz="2800" b="1" dirty="0">
                <a:solidFill>
                  <a:srgbClr val="241C3E"/>
                </a:solidFill>
                <a:latin typeface="Cambria" pitchFamily="34" charset="0"/>
                <a:ea typeface="Cambria" pitchFamily="34" charset="-122"/>
                <a:cs typeface="Cambria" pitchFamily="34" charset="-120"/>
              </a:rPr>
              <a:t>Step 1 — Deploy an EKS cluster</a:t>
            </a:r>
            <a:endParaRPr lang="en-US" sz="2800" dirty="0"/>
          </a:p>
        </p:txBody>
      </p:sp>
      <p:sp>
        <p:nvSpPr>
          <p:cNvPr id="6" name="Shape 4"/>
          <p:cNvSpPr/>
          <p:nvPr/>
        </p:nvSpPr>
        <p:spPr>
          <a:xfrm>
            <a:off x="548640" y="1737360"/>
            <a:ext cx="6492240" cy="2377440"/>
          </a:xfrm>
          <a:prstGeom prst="roundRect">
            <a:avLst>
              <a:gd name="adj" fmla="val 3077"/>
            </a:avLst>
          </a:prstGeom>
          <a:solidFill>
            <a:srgbClr val="241B3D"/>
          </a:solidFill>
          <a:ln/>
          <a:effectLst>
            <a:outerShdw sx="100000" sy="100000" kx="0" ky="0" algn="bl" rotWithShape="0" blurRad="101600" dist="38100" dir="2700000">
              <a:srgbClr val="000000">
                <a:alpha val="15000"/>
              </a:srgbClr>
            </a:outerShdw>
          </a:effectLst>
        </p:spPr>
      </p:sp>
      <p:sp>
        <p:nvSpPr>
          <p:cNvPr id="7" name="Shape 5"/>
          <p:cNvSpPr/>
          <p:nvPr/>
        </p:nvSpPr>
        <p:spPr>
          <a:xfrm>
            <a:off x="749808" y="1901952"/>
            <a:ext cx="109728" cy="109728"/>
          </a:xfrm>
          <a:prstGeom prst="ellipse">
            <a:avLst/>
          </a:prstGeom>
          <a:solidFill>
            <a:srgbClr val="FF6159"/>
          </a:solidFill>
          <a:ln/>
        </p:spPr>
      </p:sp>
      <p:sp>
        <p:nvSpPr>
          <p:cNvPr id="8" name="Shape 6"/>
          <p:cNvSpPr/>
          <p:nvPr/>
        </p:nvSpPr>
        <p:spPr>
          <a:xfrm>
            <a:off x="950976" y="1901952"/>
            <a:ext cx="109728" cy="109728"/>
          </a:xfrm>
          <a:prstGeom prst="ellipse">
            <a:avLst/>
          </a:prstGeom>
          <a:solidFill>
            <a:srgbClr val="FFBD2E"/>
          </a:solidFill>
          <a:ln/>
        </p:spPr>
      </p:sp>
      <p:sp>
        <p:nvSpPr>
          <p:cNvPr id="9" name="Shape 7"/>
          <p:cNvSpPr/>
          <p:nvPr/>
        </p:nvSpPr>
        <p:spPr>
          <a:xfrm>
            <a:off x="1152144" y="1901952"/>
            <a:ext cx="109728" cy="109728"/>
          </a:xfrm>
          <a:prstGeom prst="ellipse">
            <a:avLst/>
          </a:prstGeom>
          <a:solidFill>
            <a:srgbClr val="28C840"/>
          </a:solidFill>
          <a:ln/>
        </p:spPr>
      </p:sp>
      <p:sp>
        <p:nvSpPr>
          <p:cNvPr id="10" name="Text 8"/>
          <p:cNvSpPr/>
          <p:nvPr/>
        </p:nvSpPr>
        <p:spPr>
          <a:xfrm>
            <a:off x="777240" y="2148840"/>
            <a:ext cx="6035040" cy="1783080"/>
          </a:xfrm>
          <a:prstGeom prst="rect">
            <a:avLst/>
          </a:prstGeom>
          <a:noFill/>
          <a:ln/>
        </p:spPr>
        <p:txBody>
          <a:bodyPr wrap="square" lIns="0" tIns="0" rIns="0" bIns="0" rtlCol="0" anchor="t"/>
          <a:lstStyle/>
          <a:p>
            <a:pPr indent="0" marL="0">
              <a:lnSpc>
                <a:spcPct val="112000"/>
              </a:lnSpc>
              <a:buNone/>
            </a:pPr>
            <a:r>
              <a:rPr lang="en-US" sz="1500" dirty="0">
                <a:solidFill>
                  <a:srgbClr val="D9A5FF"/>
                </a:solidFill>
                <a:latin typeface="Courier New" pitchFamily="34" charset="0"/>
                <a:ea typeface="Courier New" pitchFamily="34" charset="-122"/>
                <a:cs typeface="Courier New" pitchFamily="34" charset="-120"/>
              </a:rPr>
              <a:t>module "eks" {</a:t>
            </a:r>
            <a:endParaRPr lang="en-US" sz="1500" dirty="0"/>
          </a:p>
          <a:p>
            <a:pPr indent="0" marL="0">
              <a:lnSpc>
                <a:spcPct val="112000"/>
              </a:lnSpc>
              <a:buNone/>
            </a:pPr>
            <a:r>
              <a:rPr lang="en-US" sz="1500" dirty="0">
                <a:solidFill>
                  <a:srgbClr val="79E6DC"/>
                </a:solidFill>
                <a:latin typeface="Courier New" pitchFamily="34" charset="0"/>
                <a:ea typeface="Courier New" pitchFamily="34" charset="-122"/>
                <a:cs typeface="Courier New" pitchFamily="34" charset="-120"/>
              </a:rPr>
              <a:t>  source          = "terraform-aws-modules/eks/aws"</a:t>
            </a:r>
            <a:endParaRPr lang="en-US" sz="1500" dirty="0"/>
          </a:p>
          <a:p>
            <a:pPr indent="0" marL="0">
              <a:lnSpc>
                <a:spcPct val="112000"/>
              </a:lnSpc>
              <a:buNone/>
            </a:pPr>
            <a:r>
              <a:rPr lang="en-US" sz="1500" dirty="0">
                <a:solidFill>
                  <a:srgbClr val="E8E6F0"/>
                </a:solidFill>
                <a:latin typeface="Courier New" pitchFamily="34" charset="0"/>
                <a:ea typeface="Courier New" pitchFamily="34" charset="-122"/>
                <a:cs typeface="Courier New" pitchFamily="34" charset="-120"/>
              </a:rPr>
              <a:t>  cluster_name    = "my-cluster"</a:t>
            </a:r>
            <a:endParaRPr lang="en-US" sz="1500" dirty="0"/>
          </a:p>
          <a:p>
            <a:pPr indent="0" marL="0">
              <a:lnSpc>
                <a:spcPct val="112000"/>
              </a:lnSpc>
              <a:buNone/>
            </a:pPr>
            <a:r>
              <a:rPr lang="en-US" sz="1500" dirty="0">
                <a:solidFill>
                  <a:srgbClr val="F0C674"/>
                </a:solidFill>
                <a:latin typeface="Courier New" pitchFamily="34" charset="0"/>
                <a:ea typeface="Courier New" pitchFamily="34" charset="-122"/>
                <a:cs typeface="Courier New" pitchFamily="34" charset="-120"/>
              </a:rPr>
              <a:t>  cluster_version = "1.27"</a:t>
            </a:r>
            <a:endParaRPr lang="en-US" sz="1500" dirty="0"/>
          </a:p>
          <a:p>
            <a:pPr indent="0" marL="0">
              <a:lnSpc>
                <a:spcPct val="112000"/>
              </a:lnSpc>
              <a:buNone/>
            </a:pPr>
            <a:r>
              <a:rPr lang="en-US" sz="1500" dirty="0">
                <a:solidFill>
                  <a:srgbClr val="E8E6F0"/>
                </a:solidFill>
                <a:latin typeface="Courier New" pitchFamily="34" charset="0"/>
                <a:ea typeface="Courier New" pitchFamily="34" charset="-122"/>
                <a:cs typeface="Courier New" pitchFamily="34" charset="-120"/>
              </a:rPr>
              <a:t>  subnets         = ["subnet-xxxxx"]</a:t>
            </a:r>
            <a:endParaRPr lang="en-US" sz="1500" dirty="0"/>
          </a:p>
          <a:p>
            <a:pPr indent="0" marL="0">
              <a:lnSpc>
                <a:spcPct val="112000"/>
              </a:lnSpc>
              <a:buNone/>
            </a:pPr>
            <a:r>
              <a:rPr lang="en-US" sz="1500" dirty="0">
                <a:solidFill>
                  <a:srgbClr val="E8E6F0"/>
                </a:solidFill>
                <a:latin typeface="Courier New" pitchFamily="34" charset="0"/>
                <a:ea typeface="Courier New" pitchFamily="34" charset="-122"/>
                <a:cs typeface="Courier New" pitchFamily="34" charset="-120"/>
              </a:rPr>
              <a:t>  vpc_id          = "vpc-xxxxx"</a:t>
            </a:r>
            <a:endParaRPr lang="en-US" sz="1500" dirty="0"/>
          </a:p>
          <a:p>
            <a:pPr indent="0" marL="0">
              <a:lnSpc>
                <a:spcPct val="112000"/>
              </a:lnSpc>
              <a:buNone/>
            </a:pPr>
            <a:r>
              <a:rPr lang="en-US" sz="1500" dirty="0">
                <a:solidFill>
                  <a:srgbClr val="D9A5FF"/>
                </a:solidFill>
                <a:latin typeface="Courier New" pitchFamily="34" charset="0"/>
                <a:ea typeface="Courier New" pitchFamily="34" charset="-122"/>
                <a:cs typeface="Courier New" pitchFamily="34" charset="-120"/>
              </a:rPr>
              <a:t>}</a:t>
            </a:r>
            <a:endParaRPr lang="en-US" sz="1500" dirty="0"/>
          </a:p>
        </p:txBody>
      </p:sp>
      <p:sp>
        <p:nvSpPr>
          <p:cNvPr id="11" name="Shape 9"/>
          <p:cNvSpPr/>
          <p:nvPr/>
        </p:nvSpPr>
        <p:spPr>
          <a:xfrm>
            <a:off x="7269480" y="1737360"/>
            <a:ext cx="4343400" cy="3977640"/>
          </a:xfrm>
          <a:prstGeom prst="roundRect">
            <a:avLst>
              <a:gd name="adj" fmla="val 2299"/>
            </a:avLst>
          </a:prstGeom>
          <a:solidFill>
            <a:srgbClr val="F1EDF9"/>
          </a:solidFill>
          <a:ln/>
          <a:effectLst>
            <a:outerShdw sx="100000" sy="100000" kx="0" ky="0" algn="bl" rotWithShape="0" blurRad="101600" dist="38100" dir="2700000">
              <a:srgbClr val="000000">
                <a:alpha val="15000"/>
              </a:srgbClr>
            </a:outerShdw>
          </a:effectLst>
        </p:spPr>
      </p:sp>
      <p:sp>
        <p:nvSpPr>
          <p:cNvPr id="12" name="Text 10"/>
          <p:cNvSpPr/>
          <p:nvPr/>
        </p:nvSpPr>
        <p:spPr>
          <a:xfrm>
            <a:off x="7543800" y="1965960"/>
            <a:ext cx="3840480" cy="365760"/>
          </a:xfrm>
          <a:prstGeom prst="rect">
            <a:avLst/>
          </a:prstGeom>
          <a:noFill/>
          <a:ln/>
        </p:spPr>
        <p:txBody>
          <a:bodyPr wrap="square" lIns="0" tIns="0" rIns="0" bIns="0" rtlCol="0" anchor="ctr"/>
          <a:lstStyle/>
          <a:p>
            <a:pPr indent="0" marL="0">
              <a:buNone/>
            </a:pPr>
            <a:r>
              <a:rPr lang="en-US" sz="1600" b="1" dirty="0">
                <a:solidFill>
                  <a:srgbClr val="7B42BC"/>
                </a:solidFill>
                <a:latin typeface="Cambria" pitchFamily="34" charset="0"/>
                <a:ea typeface="Cambria" pitchFamily="34" charset="-122"/>
                <a:cs typeface="Cambria" pitchFamily="34" charset="-120"/>
              </a:rPr>
              <a:t>What this module gives you</a:t>
            </a:r>
            <a:endParaRPr lang="en-US" sz="1600" dirty="0"/>
          </a:p>
        </p:txBody>
      </p:sp>
      <p:sp>
        <p:nvSpPr>
          <p:cNvPr id="13" name="Shape 11"/>
          <p:cNvSpPr/>
          <p:nvPr/>
        </p:nvSpPr>
        <p:spPr>
          <a:xfrm>
            <a:off x="7543800" y="2569464"/>
            <a:ext cx="128016" cy="128016"/>
          </a:xfrm>
          <a:prstGeom prst="ellipse">
            <a:avLst/>
          </a:prstGeom>
          <a:solidFill>
            <a:srgbClr val="00D9C0"/>
          </a:solidFill>
          <a:ln/>
        </p:spPr>
      </p:sp>
      <p:sp>
        <p:nvSpPr>
          <p:cNvPr id="14" name="Text 12"/>
          <p:cNvSpPr/>
          <p:nvPr/>
        </p:nvSpPr>
        <p:spPr>
          <a:xfrm>
            <a:off x="7818120" y="2404872"/>
            <a:ext cx="3566160" cy="502920"/>
          </a:xfrm>
          <a:prstGeom prst="rect">
            <a:avLst/>
          </a:prstGeom>
          <a:noFill/>
          <a:ln/>
        </p:spPr>
        <p:txBody>
          <a:bodyPr wrap="square" lIns="0" tIns="0" rIns="0" bIns="0" rtlCol="0" anchor="t"/>
          <a:lstStyle/>
          <a:p>
            <a:pPr indent="0" marL="0">
              <a:buNone/>
            </a:pPr>
            <a:r>
              <a:rPr lang="en-US" sz="1350" dirty="0">
                <a:solidFill>
                  <a:srgbClr val="241C3E"/>
                </a:solidFill>
                <a:latin typeface="Calibri" pitchFamily="34" charset="0"/>
                <a:ea typeface="Calibri" pitchFamily="34" charset="-122"/>
                <a:cs typeface="Calibri" pitchFamily="34" charset="-120"/>
              </a:rPr>
              <a:t>A managed EKS control plane</a:t>
            </a:r>
            <a:endParaRPr lang="en-US" sz="1350" dirty="0"/>
          </a:p>
        </p:txBody>
      </p:sp>
      <p:sp>
        <p:nvSpPr>
          <p:cNvPr id="15" name="Shape 13"/>
          <p:cNvSpPr/>
          <p:nvPr/>
        </p:nvSpPr>
        <p:spPr>
          <a:xfrm>
            <a:off x="7543800" y="3255264"/>
            <a:ext cx="128016" cy="128016"/>
          </a:xfrm>
          <a:prstGeom prst="ellipse">
            <a:avLst/>
          </a:prstGeom>
          <a:solidFill>
            <a:srgbClr val="00D9C0"/>
          </a:solidFill>
          <a:ln/>
        </p:spPr>
      </p:sp>
      <p:sp>
        <p:nvSpPr>
          <p:cNvPr id="16" name="Text 14"/>
          <p:cNvSpPr/>
          <p:nvPr/>
        </p:nvSpPr>
        <p:spPr>
          <a:xfrm>
            <a:off x="7818120" y="3090672"/>
            <a:ext cx="3566160" cy="502920"/>
          </a:xfrm>
          <a:prstGeom prst="rect">
            <a:avLst/>
          </a:prstGeom>
          <a:noFill/>
          <a:ln/>
        </p:spPr>
        <p:txBody>
          <a:bodyPr wrap="square" lIns="0" tIns="0" rIns="0" bIns="0" rtlCol="0" anchor="t"/>
          <a:lstStyle/>
          <a:p>
            <a:pPr indent="0" marL="0">
              <a:buNone/>
            </a:pPr>
            <a:r>
              <a:rPr lang="en-US" sz="1350" dirty="0">
                <a:solidFill>
                  <a:srgbClr val="241C3E"/>
                </a:solidFill>
                <a:latin typeface="Calibri" pitchFamily="34" charset="0"/>
                <a:ea typeface="Calibri" pitchFamily="34" charset="-122"/>
                <a:cs typeface="Calibri" pitchFamily="34" charset="-120"/>
              </a:rPr>
              <a:t>Worker node groups wired to your VPC</a:t>
            </a:r>
            <a:endParaRPr lang="en-US" sz="1350" dirty="0"/>
          </a:p>
        </p:txBody>
      </p:sp>
      <p:sp>
        <p:nvSpPr>
          <p:cNvPr id="17" name="Shape 15"/>
          <p:cNvSpPr/>
          <p:nvPr/>
        </p:nvSpPr>
        <p:spPr>
          <a:xfrm>
            <a:off x="7543800" y="3941064"/>
            <a:ext cx="128016" cy="128016"/>
          </a:xfrm>
          <a:prstGeom prst="ellipse">
            <a:avLst/>
          </a:prstGeom>
          <a:solidFill>
            <a:srgbClr val="00D9C0"/>
          </a:solidFill>
          <a:ln/>
        </p:spPr>
      </p:sp>
      <p:sp>
        <p:nvSpPr>
          <p:cNvPr id="18" name="Text 16"/>
          <p:cNvSpPr/>
          <p:nvPr/>
        </p:nvSpPr>
        <p:spPr>
          <a:xfrm>
            <a:off x="7818120" y="3776472"/>
            <a:ext cx="3566160" cy="502920"/>
          </a:xfrm>
          <a:prstGeom prst="rect">
            <a:avLst/>
          </a:prstGeom>
          <a:noFill/>
          <a:ln/>
        </p:spPr>
        <p:txBody>
          <a:bodyPr wrap="square" lIns="0" tIns="0" rIns="0" bIns="0" rtlCol="0" anchor="t"/>
          <a:lstStyle/>
          <a:p>
            <a:pPr indent="0" marL="0">
              <a:buNone/>
            </a:pPr>
            <a:r>
              <a:rPr lang="en-US" sz="1350" dirty="0">
                <a:solidFill>
                  <a:srgbClr val="241C3E"/>
                </a:solidFill>
                <a:latin typeface="Calibri" pitchFamily="34" charset="0"/>
                <a:ea typeface="Calibri" pitchFamily="34" charset="-122"/>
                <a:cs typeface="Calibri" pitchFamily="34" charset="-120"/>
              </a:rPr>
              <a:t>IAM roles &amp; security groups pre-wired</a:t>
            </a:r>
            <a:endParaRPr lang="en-US" sz="1350" dirty="0"/>
          </a:p>
        </p:txBody>
      </p:sp>
      <p:sp>
        <p:nvSpPr>
          <p:cNvPr id="19" name="Shape 17"/>
          <p:cNvSpPr/>
          <p:nvPr/>
        </p:nvSpPr>
        <p:spPr>
          <a:xfrm>
            <a:off x="7543800" y="4626864"/>
            <a:ext cx="128016" cy="128016"/>
          </a:xfrm>
          <a:prstGeom prst="ellipse">
            <a:avLst/>
          </a:prstGeom>
          <a:solidFill>
            <a:srgbClr val="00D9C0"/>
          </a:solidFill>
          <a:ln/>
        </p:spPr>
      </p:sp>
      <p:sp>
        <p:nvSpPr>
          <p:cNvPr id="20" name="Text 18"/>
          <p:cNvSpPr/>
          <p:nvPr/>
        </p:nvSpPr>
        <p:spPr>
          <a:xfrm>
            <a:off x="7818120" y="4462272"/>
            <a:ext cx="3566160" cy="502920"/>
          </a:xfrm>
          <a:prstGeom prst="rect">
            <a:avLst/>
          </a:prstGeom>
          <a:noFill/>
          <a:ln/>
        </p:spPr>
        <p:txBody>
          <a:bodyPr wrap="square" lIns="0" tIns="0" rIns="0" bIns="0" rtlCol="0" anchor="t"/>
          <a:lstStyle/>
          <a:p>
            <a:pPr indent="0" marL="0">
              <a:buNone/>
            </a:pPr>
            <a:r>
              <a:rPr lang="en-US" sz="1350" dirty="0">
                <a:solidFill>
                  <a:srgbClr val="241C3E"/>
                </a:solidFill>
                <a:latin typeface="Calibri" pitchFamily="34" charset="0"/>
                <a:ea typeface="Calibri" pitchFamily="34" charset="-122"/>
                <a:cs typeface="Calibri" pitchFamily="34" charset="-120"/>
              </a:rPr>
              <a:t>A pinned Kubernetes version (1.27)</a:t>
            </a:r>
            <a:endParaRPr lang="en-US" sz="1350" dirty="0"/>
          </a:p>
        </p:txBody>
      </p:sp>
      <p:sp>
        <p:nvSpPr>
          <p:cNvPr id="21" name="Text 19"/>
          <p:cNvSpPr/>
          <p:nvPr/>
        </p:nvSpPr>
        <p:spPr>
          <a:xfrm>
            <a:off x="457200" y="6446520"/>
            <a:ext cx="6400800" cy="274320"/>
          </a:xfrm>
          <a:prstGeom prst="rect">
            <a:avLst/>
          </a:prstGeom>
          <a:noFill/>
          <a:ln/>
        </p:spPr>
        <p:txBody>
          <a:bodyPr wrap="square" lIns="0" tIns="0" rIns="0" bIns="0" rtlCol="0" anchor="ctr"/>
          <a:lstStyle/>
          <a:p>
            <a:pPr algn="l" indent="0" marL="0">
              <a:buNone/>
            </a:pPr>
            <a:r>
              <a:rPr lang="en-US" sz="1000" dirty="0">
                <a:solidFill>
                  <a:srgbClr val="6B6483"/>
                </a:solidFill>
                <a:latin typeface="Calibri" pitchFamily="34" charset="0"/>
                <a:ea typeface="Calibri" pitchFamily="34" charset="-122"/>
                <a:cs typeface="Calibri" pitchFamily="34" charset="-120"/>
              </a:rPr>
              <a:t>Real-World Projects &amp; Hands-On Labs</a:t>
            </a:r>
            <a:endParaRPr lang="en-US" sz="1000" dirty="0"/>
          </a:p>
        </p:txBody>
      </p:sp>
      <p:sp>
        <p:nvSpPr>
          <p:cNvPr id="22" name="Text 20"/>
          <p:cNvSpPr/>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6B6483"/>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C"/>
        </a:solidFill>
      </p:bgPr>
    </p:bg>
    <p:spTree>
      <p:nvGrpSpPr>
        <p:cNvPr id="1" name=""/>
        <p:cNvGrpSpPr/>
        <p:nvPr/>
      </p:nvGrpSpPr>
      <p:grpSpPr>
        <a:xfrm>
          <a:off x="0" y="0"/>
          <a:ext cx="0" cy="0"/>
          <a:chOff x="0" y="0"/>
          <a:chExt cx="0" cy="0"/>
        </a:xfrm>
      </p:grpSpPr>
      <p:sp>
        <p:nvSpPr>
          <p:cNvPr id="2" name="Shape 0"/>
          <p:cNvSpPr/>
          <p:nvPr/>
        </p:nvSpPr>
        <p:spPr>
          <a:xfrm>
            <a:off x="548640" y="411480"/>
            <a:ext cx="1600200" cy="384048"/>
          </a:xfrm>
          <a:prstGeom prst="roundRect">
            <a:avLst>
              <a:gd name="adj" fmla="val 50000"/>
            </a:avLst>
          </a:prstGeom>
          <a:solidFill>
            <a:srgbClr val="7B42BC"/>
          </a:solidFill>
          <a:ln/>
        </p:spPr>
      </p:sp>
      <p:sp>
        <p:nvSpPr>
          <p:cNvPr id="3" name="Text 1"/>
          <p:cNvSpPr/>
          <p:nvPr/>
        </p:nvSpPr>
        <p:spPr>
          <a:xfrm>
            <a:off x="548640" y="411480"/>
            <a:ext cx="1600200"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PROJECT 2</a:t>
            </a:r>
            <a:endParaRPr lang="en-US" sz="1200" dirty="0"/>
          </a:p>
        </p:txBody>
      </p:sp>
      <p:sp>
        <p:nvSpPr>
          <p:cNvPr id="4" name="Text 2"/>
          <p:cNvSpPr/>
          <p:nvPr/>
        </p:nvSpPr>
        <p:spPr>
          <a:xfrm>
            <a:off x="2286000" y="411480"/>
            <a:ext cx="7315200" cy="384048"/>
          </a:xfrm>
          <a:prstGeom prst="rect">
            <a:avLst/>
          </a:prstGeom>
          <a:noFill/>
          <a:ln/>
        </p:spPr>
        <p:txBody>
          <a:bodyPr wrap="square" lIns="0" tIns="0" rIns="0" bIns="0" rtlCol="0" anchor="ctr"/>
          <a:lstStyle/>
          <a:p>
            <a:pPr indent="0" marL="0">
              <a:buNone/>
            </a:pPr>
            <a:r>
              <a:rPr lang="en-US" sz="1300" b="1" spc="200" kern="0" dirty="0">
                <a:solidFill>
                  <a:srgbClr val="7B42BC"/>
                </a:solidFill>
                <a:latin typeface="Calibri" pitchFamily="34" charset="0"/>
                <a:ea typeface="Calibri" pitchFamily="34" charset="-122"/>
                <a:cs typeface="Calibri" pitchFamily="34" charset="-120"/>
              </a:rPr>
              <a:t>WORKLOAD DEPLOYMENT</a:t>
            </a:r>
            <a:endParaRPr lang="en-US" sz="1300" dirty="0"/>
          </a:p>
        </p:txBody>
      </p:sp>
      <p:sp>
        <p:nvSpPr>
          <p:cNvPr id="5" name="Text 3"/>
          <p:cNvSpPr/>
          <p:nvPr/>
        </p:nvSpPr>
        <p:spPr>
          <a:xfrm>
            <a:off x="548640" y="960120"/>
            <a:ext cx="10058400" cy="640080"/>
          </a:xfrm>
          <a:prstGeom prst="rect">
            <a:avLst/>
          </a:prstGeom>
          <a:noFill/>
          <a:ln/>
        </p:spPr>
        <p:txBody>
          <a:bodyPr wrap="square" lIns="0" tIns="0" rIns="0" bIns="0" rtlCol="0" anchor="ctr"/>
          <a:lstStyle/>
          <a:p>
            <a:pPr indent="0" marL="0">
              <a:buNone/>
            </a:pPr>
            <a:r>
              <a:rPr lang="en-US" sz="2800" b="1" dirty="0">
                <a:solidFill>
                  <a:srgbClr val="241C3E"/>
                </a:solidFill>
                <a:latin typeface="Cambria" pitchFamily="34" charset="0"/>
                <a:ea typeface="Cambria" pitchFamily="34" charset="-122"/>
                <a:cs typeface="Cambria" pitchFamily="34" charset="-120"/>
              </a:rPr>
              <a:t>Step 2 — Deploy the Nginx application</a:t>
            </a:r>
            <a:endParaRPr lang="en-US" sz="2800" dirty="0"/>
          </a:p>
        </p:txBody>
      </p:sp>
      <p:sp>
        <p:nvSpPr>
          <p:cNvPr id="6" name="Shape 4"/>
          <p:cNvSpPr/>
          <p:nvPr/>
        </p:nvSpPr>
        <p:spPr>
          <a:xfrm>
            <a:off x="548640" y="1737360"/>
            <a:ext cx="6675120" cy="4434840"/>
          </a:xfrm>
          <a:prstGeom prst="roundRect">
            <a:avLst>
              <a:gd name="adj" fmla="val 1649"/>
            </a:avLst>
          </a:prstGeom>
          <a:solidFill>
            <a:srgbClr val="241B3D"/>
          </a:solidFill>
          <a:ln/>
          <a:effectLst>
            <a:outerShdw sx="100000" sy="100000" kx="0" ky="0" algn="bl" rotWithShape="0" blurRad="101600" dist="38100" dir="2700000">
              <a:srgbClr val="000000">
                <a:alpha val="15000"/>
              </a:srgbClr>
            </a:outerShdw>
          </a:effectLst>
        </p:spPr>
      </p:sp>
      <p:sp>
        <p:nvSpPr>
          <p:cNvPr id="7" name="Shape 5"/>
          <p:cNvSpPr/>
          <p:nvPr/>
        </p:nvSpPr>
        <p:spPr>
          <a:xfrm>
            <a:off x="749808" y="1901952"/>
            <a:ext cx="109728" cy="109728"/>
          </a:xfrm>
          <a:prstGeom prst="ellipse">
            <a:avLst/>
          </a:prstGeom>
          <a:solidFill>
            <a:srgbClr val="FF6159"/>
          </a:solidFill>
          <a:ln/>
        </p:spPr>
      </p:sp>
      <p:sp>
        <p:nvSpPr>
          <p:cNvPr id="8" name="Shape 6"/>
          <p:cNvSpPr/>
          <p:nvPr/>
        </p:nvSpPr>
        <p:spPr>
          <a:xfrm>
            <a:off x="950976" y="1901952"/>
            <a:ext cx="109728" cy="109728"/>
          </a:xfrm>
          <a:prstGeom prst="ellipse">
            <a:avLst/>
          </a:prstGeom>
          <a:solidFill>
            <a:srgbClr val="FFBD2E"/>
          </a:solidFill>
          <a:ln/>
        </p:spPr>
      </p:sp>
      <p:sp>
        <p:nvSpPr>
          <p:cNvPr id="9" name="Shape 7"/>
          <p:cNvSpPr/>
          <p:nvPr/>
        </p:nvSpPr>
        <p:spPr>
          <a:xfrm>
            <a:off x="1152144" y="1901952"/>
            <a:ext cx="109728" cy="109728"/>
          </a:xfrm>
          <a:prstGeom prst="ellipse">
            <a:avLst/>
          </a:prstGeom>
          <a:solidFill>
            <a:srgbClr val="28C840"/>
          </a:solidFill>
          <a:ln/>
        </p:spPr>
      </p:sp>
      <p:sp>
        <p:nvSpPr>
          <p:cNvPr id="10" name="Text 8"/>
          <p:cNvSpPr/>
          <p:nvPr/>
        </p:nvSpPr>
        <p:spPr>
          <a:xfrm>
            <a:off x="777240" y="2148840"/>
            <a:ext cx="6217920" cy="3840480"/>
          </a:xfrm>
          <a:prstGeom prst="rect">
            <a:avLst/>
          </a:prstGeom>
          <a:noFill/>
          <a:ln/>
        </p:spPr>
        <p:txBody>
          <a:bodyPr wrap="square" lIns="0" tIns="0" rIns="0" bIns="0" rtlCol="0" anchor="t"/>
          <a:lstStyle/>
          <a:p>
            <a:pPr indent="0" marL="0">
              <a:lnSpc>
                <a:spcPct val="112000"/>
              </a:lnSpc>
              <a:buNone/>
            </a:pPr>
            <a:r>
              <a:rPr lang="en-US" sz="1250" dirty="0">
                <a:solidFill>
                  <a:srgbClr val="D9A5FF"/>
                </a:solidFill>
                <a:latin typeface="Courier New" pitchFamily="34" charset="0"/>
                <a:ea typeface="Courier New" pitchFamily="34" charset="-122"/>
                <a:cs typeface="Courier New" pitchFamily="34" charset="-120"/>
              </a:rPr>
              <a:t>resource "kubernetes_deployment" "nginx" {</a:t>
            </a:r>
            <a:endParaRPr lang="en-US" sz="1250" dirty="0"/>
          </a:p>
          <a:p>
            <a:pPr indent="0" marL="0">
              <a:lnSpc>
                <a:spcPct val="112000"/>
              </a:lnSpc>
              <a:buNone/>
            </a:pPr>
            <a:r>
              <a:rPr lang="en-US" sz="1250" dirty="0">
                <a:solidFill>
                  <a:srgbClr val="E8E6F0"/>
                </a:solidFill>
                <a:latin typeface="Courier New" pitchFamily="34" charset="0"/>
                <a:ea typeface="Courier New" pitchFamily="34" charset="-122"/>
                <a:cs typeface="Courier New" pitchFamily="34" charset="-120"/>
              </a:rPr>
              <a:t>  metadata {</a:t>
            </a:r>
            <a:endParaRPr lang="en-US" sz="1250" dirty="0"/>
          </a:p>
          <a:p>
            <a:pPr indent="0" marL="0">
              <a:lnSpc>
                <a:spcPct val="112000"/>
              </a:lnSpc>
              <a:buNone/>
            </a:pPr>
            <a:r>
              <a:rPr lang="en-US" sz="1250" dirty="0">
                <a:solidFill>
                  <a:srgbClr val="79E6DC"/>
                </a:solidFill>
                <a:latin typeface="Courier New" pitchFamily="34" charset="0"/>
                <a:ea typeface="Courier New" pitchFamily="34" charset="-122"/>
                <a:cs typeface="Courier New" pitchFamily="34" charset="-120"/>
              </a:rPr>
              <a:t>    name = "nginx"</a:t>
            </a:r>
            <a:endParaRPr lang="en-US" sz="1250" dirty="0"/>
          </a:p>
          <a:p>
            <a:pPr indent="0" marL="0">
              <a:lnSpc>
                <a:spcPct val="112000"/>
              </a:lnSpc>
              <a:buNone/>
            </a:pPr>
            <a:r>
              <a:rPr lang="en-US" sz="1250" dirty="0">
                <a:solidFill>
                  <a:srgbClr val="E8E6F0"/>
                </a:solidFill>
                <a:latin typeface="Courier New" pitchFamily="34" charset="0"/>
                <a:ea typeface="Courier New" pitchFamily="34" charset="-122"/>
                <a:cs typeface="Courier New" pitchFamily="34" charset="-120"/>
              </a:rPr>
              <a:t>  }</a:t>
            </a:r>
            <a:endParaRPr lang="en-US" sz="1250" dirty="0"/>
          </a:p>
          <a:p>
            <a:pPr indent="0" marL="0">
              <a:lnSpc>
                <a:spcPct val="112000"/>
              </a:lnSpc>
              <a:buNone/>
            </a:pPr>
            <a:r>
              <a:rPr lang="en-US" sz="1250" dirty="0">
                <a:solidFill>
                  <a:srgbClr val="E8E6F0"/>
                </a:solidFill>
                <a:latin typeface="Courier New" pitchFamily="34" charset="0"/>
                <a:ea typeface="Courier New" pitchFamily="34" charset="-122"/>
                <a:cs typeface="Courier New" pitchFamily="34" charset="-120"/>
              </a:rPr>
              <a:t>  spec {</a:t>
            </a:r>
            <a:endParaRPr lang="en-US" sz="1250" dirty="0"/>
          </a:p>
          <a:p>
            <a:pPr indent="0" marL="0">
              <a:lnSpc>
                <a:spcPct val="112000"/>
              </a:lnSpc>
              <a:buNone/>
            </a:pPr>
            <a:r>
              <a:rPr lang="en-US" sz="1250" dirty="0">
                <a:solidFill>
                  <a:srgbClr val="F0C674"/>
                </a:solidFill>
                <a:latin typeface="Courier New" pitchFamily="34" charset="0"/>
                <a:ea typeface="Courier New" pitchFamily="34" charset="-122"/>
                <a:cs typeface="Courier New" pitchFamily="34" charset="-120"/>
              </a:rPr>
              <a:t>    replicas = 2</a:t>
            </a:r>
            <a:endParaRPr lang="en-US" sz="1250" dirty="0"/>
          </a:p>
          <a:p>
            <a:pPr indent="0" marL="0">
              <a:lnSpc>
                <a:spcPct val="112000"/>
              </a:lnSpc>
              <a:buNone/>
            </a:pPr>
            <a:r>
              <a:rPr lang="en-US" sz="1250" dirty="0">
                <a:solidFill>
                  <a:srgbClr val="E8E6F0"/>
                </a:solidFill>
                <a:latin typeface="Courier New" pitchFamily="34" charset="0"/>
                <a:ea typeface="Courier New" pitchFamily="34" charset="-122"/>
                <a:cs typeface="Courier New" pitchFamily="34" charset="-120"/>
              </a:rPr>
              <a:t>    template {</a:t>
            </a:r>
            <a:endParaRPr lang="en-US" sz="1250" dirty="0"/>
          </a:p>
          <a:p>
            <a:pPr indent="0" marL="0">
              <a:lnSpc>
                <a:spcPct val="112000"/>
              </a:lnSpc>
              <a:buNone/>
            </a:pPr>
            <a:r>
              <a:rPr lang="en-US" sz="1250" dirty="0">
                <a:solidFill>
                  <a:srgbClr val="E8E6F0"/>
                </a:solidFill>
                <a:latin typeface="Courier New" pitchFamily="34" charset="0"/>
                <a:ea typeface="Courier New" pitchFamily="34" charset="-122"/>
                <a:cs typeface="Courier New" pitchFamily="34" charset="-120"/>
              </a:rPr>
              <a:t>      metadata {</a:t>
            </a:r>
            <a:endParaRPr lang="en-US" sz="1250" dirty="0"/>
          </a:p>
          <a:p>
            <a:pPr indent="0" marL="0">
              <a:lnSpc>
                <a:spcPct val="112000"/>
              </a:lnSpc>
              <a:buNone/>
            </a:pPr>
            <a:r>
              <a:rPr lang="en-US" sz="1250" dirty="0">
                <a:solidFill>
                  <a:srgbClr val="E8E6F0"/>
                </a:solidFill>
                <a:latin typeface="Courier New" pitchFamily="34" charset="0"/>
                <a:ea typeface="Courier New" pitchFamily="34" charset="-122"/>
                <a:cs typeface="Courier New" pitchFamily="34" charset="-120"/>
              </a:rPr>
              <a:t>        labels = {</a:t>
            </a:r>
            <a:endParaRPr lang="en-US" sz="1250" dirty="0"/>
          </a:p>
          <a:p>
            <a:pPr indent="0" marL="0">
              <a:lnSpc>
                <a:spcPct val="112000"/>
              </a:lnSpc>
              <a:buNone/>
            </a:pPr>
            <a:r>
              <a:rPr lang="en-US" sz="1250" dirty="0">
                <a:solidFill>
                  <a:srgbClr val="79E6DC"/>
                </a:solidFill>
                <a:latin typeface="Courier New" pitchFamily="34" charset="0"/>
                <a:ea typeface="Courier New" pitchFamily="34" charset="-122"/>
                <a:cs typeface="Courier New" pitchFamily="34" charset="-120"/>
              </a:rPr>
              <a:t>          app = "nginx"</a:t>
            </a:r>
            <a:endParaRPr lang="en-US" sz="1250" dirty="0"/>
          </a:p>
          <a:p>
            <a:pPr indent="0" marL="0">
              <a:lnSpc>
                <a:spcPct val="112000"/>
              </a:lnSpc>
              <a:buNone/>
            </a:pPr>
            <a:r>
              <a:rPr lang="en-US" sz="1250" dirty="0">
                <a:solidFill>
                  <a:srgbClr val="E8E6F0"/>
                </a:solidFill>
                <a:latin typeface="Courier New" pitchFamily="34" charset="0"/>
                <a:ea typeface="Courier New" pitchFamily="34" charset="-122"/>
                <a:cs typeface="Courier New" pitchFamily="34" charset="-120"/>
              </a:rPr>
              <a:t>        }</a:t>
            </a:r>
            <a:endParaRPr lang="en-US" sz="1250" dirty="0"/>
          </a:p>
          <a:p>
            <a:pPr indent="0" marL="0">
              <a:lnSpc>
                <a:spcPct val="112000"/>
              </a:lnSpc>
              <a:buNone/>
            </a:pPr>
            <a:r>
              <a:rPr lang="en-US" sz="1250" dirty="0">
                <a:solidFill>
                  <a:srgbClr val="E8E6F0"/>
                </a:solidFill>
                <a:latin typeface="Courier New" pitchFamily="34" charset="0"/>
                <a:ea typeface="Courier New" pitchFamily="34" charset="-122"/>
                <a:cs typeface="Courier New" pitchFamily="34" charset="-120"/>
              </a:rPr>
              <a:t>      }</a:t>
            </a:r>
            <a:endParaRPr lang="en-US" sz="1250" dirty="0"/>
          </a:p>
          <a:p>
            <a:pPr indent="0" marL="0">
              <a:lnSpc>
                <a:spcPct val="112000"/>
              </a:lnSpc>
              <a:buNone/>
            </a:pPr>
            <a:r>
              <a:rPr lang="en-US" sz="1250" dirty="0">
                <a:solidFill>
                  <a:srgbClr val="E8E6F0"/>
                </a:solidFill>
                <a:latin typeface="Courier New" pitchFamily="34" charset="0"/>
                <a:ea typeface="Courier New" pitchFamily="34" charset="-122"/>
                <a:cs typeface="Courier New" pitchFamily="34" charset="-120"/>
              </a:rPr>
              <a:t>      spec {</a:t>
            </a:r>
            <a:endParaRPr lang="en-US" sz="1250" dirty="0"/>
          </a:p>
          <a:p>
            <a:pPr indent="0" marL="0">
              <a:lnSpc>
                <a:spcPct val="112000"/>
              </a:lnSpc>
              <a:buNone/>
            </a:pPr>
            <a:r>
              <a:rPr lang="en-US" sz="1250" dirty="0">
                <a:solidFill>
                  <a:srgbClr val="E8E6F0"/>
                </a:solidFill>
                <a:latin typeface="Courier New" pitchFamily="34" charset="0"/>
                <a:ea typeface="Courier New" pitchFamily="34" charset="-122"/>
                <a:cs typeface="Courier New" pitchFamily="34" charset="-120"/>
              </a:rPr>
              <a:t>        container {</a:t>
            </a:r>
            <a:endParaRPr lang="en-US" sz="1250" dirty="0"/>
          </a:p>
          <a:p>
            <a:pPr indent="0" marL="0">
              <a:lnSpc>
                <a:spcPct val="112000"/>
              </a:lnSpc>
              <a:buNone/>
            </a:pPr>
            <a:r>
              <a:rPr lang="en-US" sz="1250" dirty="0">
                <a:solidFill>
                  <a:srgbClr val="79E6DC"/>
                </a:solidFill>
                <a:latin typeface="Courier New" pitchFamily="34" charset="0"/>
                <a:ea typeface="Courier New" pitchFamily="34" charset="-122"/>
                <a:cs typeface="Courier New" pitchFamily="34" charset="-120"/>
              </a:rPr>
              <a:t>          image = "nginx:latest"</a:t>
            </a:r>
            <a:endParaRPr lang="en-US" sz="1250" dirty="0"/>
          </a:p>
          <a:p>
            <a:pPr indent="0" marL="0">
              <a:lnSpc>
                <a:spcPct val="112000"/>
              </a:lnSpc>
              <a:buNone/>
            </a:pPr>
            <a:r>
              <a:rPr lang="en-US" sz="1250" dirty="0">
                <a:solidFill>
                  <a:srgbClr val="E8E6F0"/>
                </a:solidFill>
                <a:latin typeface="Courier New" pitchFamily="34" charset="0"/>
                <a:ea typeface="Courier New" pitchFamily="34" charset="-122"/>
                <a:cs typeface="Courier New" pitchFamily="34" charset="-120"/>
              </a:rPr>
              <a:t>          name  = "nginx"</a:t>
            </a:r>
            <a:endParaRPr lang="en-US" sz="1250" dirty="0"/>
          </a:p>
          <a:p>
            <a:pPr indent="0" marL="0">
              <a:lnSpc>
                <a:spcPct val="112000"/>
              </a:lnSpc>
              <a:buNone/>
            </a:pPr>
            <a:r>
              <a:rPr lang="en-US" sz="1250" dirty="0">
                <a:solidFill>
                  <a:srgbClr val="E8E6F0"/>
                </a:solidFill>
                <a:latin typeface="Courier New" pitchFamily="34" charset="0"/>
                <a:ea typeface="Courier New" pitchFamily="34" charset="-122"/>
                <a:cs typeface="Courier New" pitchFamily="34" charset="-120"/>
              </a:rPr>
              <a:t>        }</a:t>
            </a:r>
            <a:endParaRPr lang="en-US" sz="1250" dirty="0"/>
          </a:p>
          <a:p>
            <a:pPr indent="0" marL="0">
              <a:lnSpc>
                <a:spcPct val="112000"/>
              </a:lnSpc>
              <a:buNone/>
            </a:pPr>
            <a:r>
              <a:rPr lang="en-US" sz="1250" dirty="0">
                <a:solidFill>
                  <a:srgbClr val="E8E6F0"/>
                </a:solidFill>
                <a:latin typeface="Courier New" pitchFamily="34" charset="0"/>
                <a:ea typeface="Courier New" pitchFamily="34" charset="-122"/>
                <a:cs typeface="Courier New" pitchFamily="34" charset="-120"/>
              </a:rPr>
              <a:t>      }</a:t>
            </a:r>
            <a:endParaRPr lang="en-US" sz="1250" dirty="0"/>
          </a:p>
          <a:p>
            <a:pPr indent="0" marL="0">
              <a:lnSpc>
                <a:spcPct val="112000"/>
              </a:lnSpc>
              <a:buNone/>
            </a:pPr>
            <a:r>
              <a:rPr lang="en-US" sz="1250" dirty="0">
                <a:solidFill>
                  <a:srgbClr val="E8E6F0"/>
                </a:solidFill>
                <a:latin typeface="Courier New" pitchFamily="34" charset="0"/>
                <a:ea typeface="Courier New" pitchFamily="34" charset="-122"/>
                <a:cs typeface="Courier New" pitchFamily="34" charset="-120"/>
              </a:rPr>
              <a:t>    }</a:t>
            </a:r>
            <a:endParaRPr lang="en-US" sz="1250" dirty="0"/>
          </a:p>
          <a:p>
            <a:pPr indent="0" marL="0">
              <a:lnSpc>
                <a:spcPct val="112000"/>
              </a:lnSpc>
              <a:buNone/>
            </a:pPr>
            <a:r>
              <a:rPr lang="en-US" sz="1250" dirty="0">
                <a:solidFill>
                  <a:srgbClr val="E8E6F0"/>
                </a:solidFill>
                <a:latin typeface="Courier New" pitchFamily="34" charset="0"/>
                <a:ea typeface="Courier New" pitchFamily="34" charset="-122"/>
                <a:cs typeface="Courier New" pitchFamily="34" charset="-120"/>
              </a:rPr>
              <a:t>  }</a:t>
            </a:r>
            <a:endParaRPr lang="en-US" sz="1250" dirty="0"/>
          </a:p>
          <a:p>
            <a:pPr indent="0" marL="0">
              <a:lnSpc>
                <a:spcPct val="112000"/>
              </a:lnSpc>
              <a:buNone/>
            </a:pPr>
            <a:r>
              <a:rPr lang="en-US" sz="1250" dirty="0">
                <a:solidFill>
                  <a:srgbClr val="D9A5FF"/>
                </a:solidFill>
                <a:latin typeface="Courier New" pitchFamily="34" charset="0"/>
                <a:ea typeface="Courier New" pitchFamily="34" charset="-122"/>
                <a:cs typeface="Courier New" pitchFamily="34" charset="-120"/>
              </a:rPr>
              <a:t>}</a:t>
            </a:r>
            <a:endParaRPr lang="en-US" sz="1250" dirty="0"/>
          </a:p>
        </p:txBody>
      </p:sp>
      <p:sp>
        <p:nvSpPr>
          <p:cNvPr id="11" name="Shape 9"/>
          <p:cNvSpPr/>
          <p:nvPr/>
        </p:nvSpPr>
        <p:spPr>
          <a:xfrm>
            <a:off x="7452360" y="1737360"/>
            <a:ext cx="4160520" cy="4434840"/>
          </a:xfrm>
          <a:prstGeom prst="roundRect">
            <a:avLst>
              <a:gd name="adj" fmla="val 2198"/>
            </a:avLst>
          </a:prstGeom>
          <a:solidFill>
            <a:srgbClr val="EAF7EF"/>
          </a:solidFill>
          <a:ln/>
          <a:effectLst>
            <a:outerShdw sx="100000" sy="100000" kx="0" ky="0" algn="bl" rotWithShape="0" blurRad="101600" dist="38100" dir="2700000">
              <a:srgbClr val="000000">
                <a:alpha val="15000"/>
              </a:srgbClr>
            </a:outerShdw>
          </a:effectLst>
        </p:spPr>
      </p:sp>
      <p:pic>
        <p:nvPicPr>
          <p:cNvPr id="12" name="Image 0" descr="icons/check_teal.png">    </p:cNvPr>
          <p:cNvPicPr>
            <a:picLocks noChangeAspect="1"/>
          </p:cNvPicPr>
          <p:nvPr/>
        </p:nvPicPr>
        <p:blipFill>
          <a:blip r:embed="rId1"/>
          <a:stretch>
            <a:fillRect/>
          </a:stretch>
        </p:blipFill>
        <p:spPr>
          <a:xfrm>
            <a:off x="7726680" y="1965960"/>
            <a:ext cx="384048" cy="384048"/>
          </a:xfrm>
          <a:prstGeom prst="rect">
            <a:avLst/>
          </a:prstGeom>
        </p:spPr>
      </p:pic>
      <p:sp>
        <p:nvSpPr>
          <p:cNvPr id="13" name="Text 10"/>
          <p:cNvSpPr/>
          <p:nvPr/>
        </p:nvSpPr>
        <p:spPr>
          <a:xfrm>
            <a:off x="8229600" y="2011680"/>
            <a:ext cx="3200400" cy="365760"/>
          </a:xfrm>
          <a:prstGeom prst="rect">
            <a:avLst/>
          </a:prstGeom>
          <a:noFill/>
          <a:ln/>
        </p:spPr>
        <p:txBody>
          <a:bodyPr wrap="square" lIns="0" tIns="0" rIns="0" bIns="0" rtlCol="0" anchor="ctr"/>
          <a:lstStyle/>
          <a:p>
            <a:pPr indent="0" marL="0">
              <a:buNone/>
            </a:pPr>
            <a:r>
              <a:rPr lang="en-US" sz="1600" b="1" dirty="0">
                <a:solidFill>
                  <a:srgbClr val="1D8A5F"/>
                </a:solidFill>
                <a:latin typeface="Cambria" pitchFamily="34" charset="0"/>
                <a:ea typeface="Cambria" pitchFamily="34" charset="-122"/>
                <a:cs typeface="Cambria" pitchFamily="34" charset="-120"/>
              </a:rPr>
              <a:t>Result</a:t>
            </a:r>
            <a:endParaRPr lang="en-US" sz="1600" dirty="0"/>
          </a:p>
        </p:txBody>
      </p:sp>
      <p:sp>
        <p:nvSpPr>
          <p:cNvPr id="14" name="Text 11"/>
          <p:cNvSpPr/>
          <p:nvPr/>
        </p:nvSpPr>
        <p:spPr>
          <a:xfrm>
            <a:off x="7726680" y="2468880"/>
            <a:ext cx="3566160" cy="914400"/>
          </a:xfrm>
          <a:prstGeom prst="rect">
            <a:avLst/>
          </a:prstGeom>
          <a:noFill/>
          <a:ln/>
        </p:spPr>
        <p:txBody>
          <a:bodyPr wrap="square" lIns="0" tIns="0" rIns="0" bIns="0" rtlCol="0" anchor="t"/>
          <a:lstStyle/>
          <a:p>
            <a:pPr indent="0" marL="0">
              <a:lnSpc>
                <a:spcPct val="125000"/>
              </a:lnSpc>
              <a:buNone/>
            </a:pPr>
            <a:r>
              <a:rPr lang="en-US" sz="1300" dirty="0">
                <a:solidFill>
                  <a:srgbClr val="241C3E"/>
                </a:solidFill>
                <a:latin typeface="Calibri" pitchFamily="34" charset="0"/>
                <a:ea typeface="Calibri" pitchFamily="34" charset="-122"/>
                <a:cs typeface="Calibri" pitchFamily="34" charset="-120"/>
              </a:rPr>
              <a:t>Two Nginx pods come online behind the deployment, labeled app: nginx so a Service can target them.</a:t>
            </a:r>
            <a:endParaRPr lang="en-US" sz="1300" dirty="0"/>
          </a:p>
        </p:txBody>
      </p:sp>
      <p:sp>
        <p:nvSpPr>
          <p:cNvPr id="15" name="Shape 12"/>
          <p:cNvSpPr/>
          <p:nvPr/>
        </p:nvSpPr>
        <p:spPr>
          <a:xfrm>
            <a:off x="7726680" y="3520440"/>
            <a:ext cx="3566160" cy="0"/>
          </a:xfrm>
          <a:prstGeom prst="line">
            <a:avLst/>
          </a:prstGeom>
          <a:noFill/>
          <a:ln w="12700">
            <a:solidFill>
              <a:srgbClr val="D6ECDD"/>
            </a:solidFill>
            <a:prstDash val="solid"/>
          </a:ln>
        </p:spPr>
      </p:sp>
      <p:sp>
        <p:nvSpPr>
          <p:cNvPr id="16" name="Text 13"/>
          <p:cNvSpPr/>
          <p:nvPr/>
        </p:nvSpPr>
        <p:spPr>
          <a:xfrm>
            <a:off x="7726680" y="3703320"/>
            <a:ext cx="3566160" cy="1645920"/>
          </a:xfrm>
          <a:prstGeom prst="rect">
            <a:avLst/>
          </a:prstGeom>
          <a:noFill/>
          <a:ln/>
        </p:spPr>
        <p:txBody>
          <a:bodyPr wrap="square" lIns="0" tIns="0" rIns="0" bIns="0" rtlCol="0" anchor="t"/>
          <a:lstStyle/>
          <a:p>
            <a:pPr indent="0" marL="0">
              <a:lnSpc>
                <a:spcPct val="125000"/>
              </a:lnSpc>
              <a:buNone/>
            </a:pPr>
            <a:r>
              <a:rPr lang="en-US" sz="1250" i="1" dirty="0">
                <a:solidFill>
                  <a:srgbClr val="6B6483"/>
                </a:solidFill>
                <a:latin typeface="Calibri" pitchFamily="34" charset="0"/>
                <a:ea typeface="Calibri" pitchFamily="34" charset="-122"/>
                <a:cs typeface="Calibri" pitchFamily="34" charset="-120"/>
              </a:rPr>
              <a:t>Same workflow scales to any Helm-less workload — Deployments, Services, ConfigMaps, and Secrets are all native Terraform resources via the kubernetes provider.</a:t>
            </a:r>
            <a:endParaRPr lang="en-US" sz="1250" dirty="0"/>
          </a:p>
        </p:txBody>
      </p:sp>
      <p:sp>
        <p:nvSpPr>
          <p:cNvPr id="17" name="Text 14"/>
          <p:cNvSpPr/>
          <p:nvPr/>
        </p:nvSpPr>
        <p:spPr>
          <a:xfrm>
            <a:off x="457200" y="6446520"/>
            <a:ext cx="6400800" cy="274320"/>
          </a:xfrm>
          <a:prstGeom prst="rect">
            <a:avLst/>
          </a:prstGeom>
          <a:noFill/>
          <a:ln/>
        </p:spPr>
        <p:txBody>
          <a:bodyPr wrap="square" lIns="0" tIns="0" rIns="0" bIns="0" rtlCol="0" anchor="ctr"/>
          <a:lstStyle/>
          <a:p>
            <a:pPr algn="l" indent="0" marL="0">
              <a:buNone/>
            </a:pPr>
            <a:r>
              <a:rPr lang="en-US" sz="1000" dirty="0">
                <a:solidFill>
                  <a:srgbClr val="6B6483"/>
                </a:solidFill>
                <a:latin typeface="Calibri" pitchFamily="34" charset="0"/>
                <a:ea typeface="Calibri" pitchFamily="34" charset="-122"/>
                <a:cs typeface="Calibri" pitchFamily="34" charset="-120"/>
              </a:rPr>
              <a:t>Real-World Projects &amp; Hands-On Labs</a:t>
            </a:r>
            <a:endParaRPr lang="en-US" sz="1000" dirty="0"/>
          </a:p>
        </p:txBody>
      </p:sp>
      <p:sp>
        <p:nvSpPr>
          <p:cNvPr id="18" name="Text 15"/>
          <p:cNvSpPr/>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6B6483"/>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C"/>
        </a:solidFill>
      </p:bgPr>
    </p:bg>
    <p:spTree>
      <p:nvGrpSpPr>
        <p:cNvPr id="1" name=""/>
        <p:cNvGrpSpPr/>
        <p:nvPr/>
      </p:nvGrpSpPr>
      <p:grpSpPr>
        <a:xfrm>
          <a:off x="0" y="0"/>
          <a:ext cx="0" cy="0"/>
          <a:chOff x="0" y="0"/>
          <a:chExt cx="0" cy="0"/>
        </a:xfrm>
      </p:grpSpPr>
      <p:sp>
        <p:nvSpPr>
          <p:cNvPr id="2" name="Shape 0"/>
          <p:cNvSpPr/>
          <p:nvPr/>
        </p:nvSpPr>
        <p:spPr>
          <a:xfrm>
            <a:off x="548640" y="411480"/>
            <a:ext cx="1600200" cy="384048"/>
          </a:xfrm>
          <a:prstGeom prst="roundRect">
            <a:avLst>
              <a:gd name="adj" fmla="val 50000"/>
            </a:avLst>
          </a:prstGeom>
          <a:solidFill>
            <a:srgbClr val="7B42BC"/>
          </a:solidFill>
          <a:ln/>
        </p:spPr>
      </p:sp>
      <p:sp>
        <p:nvSpPr>
          <p:cNvPr id="3" name="Text 1"/>
          <p:cNvSpPr/>
          <p:nvPr/>
        </p:nvSpPr>
        <p:spPr>
          <a:xfrm>
            <a:off x="548640" y="411480"/>
            <a:ext cx="1600200"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PROJECT 3</a:t>
            </a:r>
            <a:endParaRPr lang="en-US" sz="1200" dirty="0"/>
          </a:p>
        </p:txBody>
      </p:sp>
      <p:sp>
        <p:nvSpPr>
          <p:cNvPr id="4" name="Text 2"/>
          <p:cNvSpPr/>
          <p:nvPr/>
        </p:nvSpPr>
        <p:spPr>
          <a:xfrm>
            <a:off x="2286000" y="411480"/>
            <a:ext cx="7315200" cy="384048"/>
          </a:xfrm>
          <a:prstGeom prst="rect">
            <a:avLst/>
          </a:prstGeom>
          <a:noFill/>
          <a:ln/>
        </p:spPr>
        <p:txBody>
          <a:bodyPr wrap="square" lIns="0" tIns="0" rIns="0" bIns="0" rtlCol="0" anchor="ctr"/>
          <a:lstStyle/>
          <a:p>
            <a:pPr indent="0" marL="0">
              <a:buNone/>
            </a:pPr>
            <a:r>
              <a:rPr lang="en-US" sz="1300" b="1" spc="200" kern="0" dirty="0">
                <a:solidFill>
                  <a:srgbClr val="7B42BC"/>
                </a:solidFill>
                <a:latin typeface="Calibri" pitchFamily="34" charset="0"/>
                <a:ea typeface="Calibri" pitchFamily="34" charset="-122"/>
                <a:cs typeface="Calibri" pitchFamily="34" charset="-120"/>
              </a:rPr>
              <a:t>TERRAFORM IN CI/CD</a:t>
            </a:r>
            <a:endParaRPr lang="en-US" sz="1300" dirty="0"/>
          </a:p>
        </p:txBody>
      </p:sp>
      <p:sp>
        <p:nvSpPr>
          <p:cNvPr id="5" name="Text 3"/>
          <p:cNvSpPr/>
          <p:nvPr/>
        </p:nvSpPr>
        <p:spPr>
          <a:xfrm>
            <a:off x="548640" y="960120"/>
            <a:ext cx="10515600" cy="640080"/>
          </a:xfrm>
          <a:prstGeom prst="rect">
            <a:avLst/>
          </a:prstGeom>
          <a:noFill/>
          <a:ln/>
        </p:spPr>
        <p:txBody>
          <a:bodyPr wrap="square" lIns="0" tIns="0" rIns="0" bIns="0" rtlCol="0" anchor="ctr"/>
          <a:lstStyle/>
          <a:p>
            <a:pPr indent="0" marL="0">
              <a:buNone/>
            </a:pPr>
            <a:r>
              <a:rPr lang="en-US" sz="2600" b="1" dirty="0">
                <a:solidFill>
                  <a:srgbClr val="241C3E"/>
                </a:solidFill>
                <a:latin typeface="Cambria" pitchFamily="34" charset="0"/>
                <a:ea typeface="Cambria" pitchFamily="34" charset="-122"/>
                <a:cs typeface="Cambria" pitchFamily="34" charset="-120"/>
              </a:rPr>
              <a:t>Automate provisioning with GitLab CI/CD</a:t>
            </a:r>
            <a:endParaRPr lang="en-US" sz="2600" dirty="0"/>
          </a:p>
        </p:txBody>
      </p:sp>
      <p:sp>
        <p:nvSpPr>
          <p:cNvPr id="6" name="Text 4"/>
          <p:cNvSpPr/>
          <p:nvPr/>
        </p:nvSpPr>
        <p:spPr>
          <a:xfrm>
            <a:off x="548640" y="1554480"/>
            <a:ext cx="10058400" cy="411480"/>
          </a:xfrm>
          <a:prstGeom prst="rect">
            <a:avLst/>
          </a:prstGeom>
          <a:noFill/>
          <a:ln/>
        </p:spPr>
        <p:txBody>
          <a:bodyPr wrap="square" lIns="0" tIns="0" rIns="0" bIns="0" rtlCol="0" anchor="ctr"/>
          <a:lstStyle/>
          <a:p>
            <a:pPr indent="0" marL="0">
              <a:buNone/>
            </a:pPr>
            <a:r>
              <a:rPr lang="en-US" sz="1450" dirty="0">
                <a:solidFill>
                  <a:srgbClr val="6B6483"/>
                </a:solidFill>
                <a:latin typeface="Calibri" pitchFamily="34" charset="0"/>
                <a:ea typeface="Calibri" pitchFamily="34" charset="-122"/>
                <a:cs typeface="Calibri" pitchFamily="34" charset="-120"/>
              </a:rPr>
              <a:t>A .gitlab-ci.yml with two stages: plan on every push, apply only after review.</a:t>
            </a:r>
            <a:endParaRPr lang="en-US" sz="1450" dirty="0"/>
          </a:p>
        </p:txBody>
      </p:sp>
      <p:sp>
        <p:nvSpPr>
          <p:cNvPr id="7" name="Shape 5"/>
          <p:cNvSpPr/>
          <p:nvPr/>
        </p:nvSpPr>
        <p:spPr>
          <a:xfrm>
            <a:off x="548640" y="2103120"/>
            <a:ext cx="5486400" cy="4023360"/>
          </a:xfrm>
          <a:prstGeom prst="roundRect">
            <a:avLst>
              <a:gd name="adj" fmla="val 1818"/>
            </a:avLst>
          </a:prstGeom>
          <a:solidFill>
            <a:srgbClr val="241B3D"/>
          </a:solidFill>
          <a:ln/>
          <a:effectLst>
            <a:outerShdw sx="100000" sy="100000" kx="0" ky="0" algn="bl" rotWithShape="0" blurRad="101600" dist="38100" dir="2700000">
              <a:srgbClr val="000000">
                <a:alpha val="15000"/>
              </a:srgbClr>
            </a:outerShdw>
          </a:effectLst>
        </p:spPr>
      </p:sp>
      <p:sp>
        <p:nvSpPr>
          <p:cNvPr id="8" name="Shape 6"/>
          <p:cNvSpPr/>
          <p:nvPr/>
        </p:nvSpPr>
        <p:spPr>
          <a:xfrm>
            <a:off x="749808" y="2267712"/>
            <a:ext cx="109728" cy="109728"/>
          </a:xfrm>
          <a:prstGeom prst="ellipse">
            <a:avLst/>
          </a:prstGeom>
          <a:solidFill>
            <a:srgbClr val="FF6159"/>
          </a:solidFill>
          <a:ln/>
        </p:spPr>
      </p:sp>
      <p:sp>
        <p:nvSpPr>
          <p:cNvPr id="9" name="Shape 7"/>
          <p:cNvSpPr/>
          <p:nvPr/>
        </p:nvSpPr>
        <p:spPr>
          <a:xfrm>
            <a:off x="950976" y="2267712"/>
            <a:ext cx="109728" cy="109728"/>
          </a:xfrm>
          <a:prstGeom prst="ellipse">
            <a:avLst/>
          </a:prstGeom>
          <a:solidFill>
            <a:srgbClr val="FFBD2E"/>
          </a:solidFill>
          <a:ln/>
        </p:spPr>
      </p:sp>
      <p:sp>
        <p:nvSpPr>
          <p:cNvPr id="10" name="Shape 8"/>
          <p:cNvSpPr/>
          <p:nvPr/>
        </p:nvSpPr>
        <p:spPr>
          <a:xfrm>
            <a:off x="1152144" y="2267712"/>
            <a:ext cx="109728" cy="109728"/>
          </a:xfrm>
          <a:prstGeom prst="ellipse">
            <a:avLst/>
          </a:prstGeom>
          <a:solidFill>
            <a:srgbClr val="28C840"/>
          </a:solidFill>
          <a:ln/>
        </p:spPr>
      </p:sp>
      <p:sp>
        <p:nvSpPr>
          <p:cNvPr id="11" name="Text 9"/>
          <p:cNvSpPr/>
          <p:nvPr/>
        </p:nvSpPr>
        <p:spPr>
          <a:xfrm>
            <a:off x="777240" y="2514600"/>
            <a:ext cx="5029200" cy="3429000"/>
          </a:xfrm>
          <a:prstGeom prst="rect">
            <a:avLst/>
          </a:prstGeom>
          <a:noFill/>
          <a:ln/>
        </p:spPr>
        <p:txBody>
          <a:bodyPr wrap="square" lIns="0" tIns="0" rIns="0" bIns="0" rtlCol="0" anchor="t"/>
          <a:lstStyle/>
          <a:p>
            <a:pPr indent="0" marL="0">
              <a:lnSpc>
                <a:spcPct val="112000"/>
              </a:lnSpc>
              <a:buNone/>
            </a:pPr>
            <a:r>
              <a:rPr lang="en-US" sz="1300" dirty="0">
                <a:solidFill>
                  <a:srgbClr val="D9A5FF"/>
                </a:solidFill>
                <a:latin typeface="Courier New" pitchFamily="34" charset="0"/>
                <a:ea typeface="Courier New" pitchFamily="34" charset="-122"/>
                <a:cs typeface="Courier New" pitchFamily="34" charset="-120"/>
              </a:rPr>
              <a:t>stages:</a:t>
            </a:r>
            <a:endParaRPr lang="en-US" sz="1300" dirty="0"/>
          </a:p>
          <a:p>
            <a:pPr indent="0" marL="0">
              <a:lnSpc>
                <a:spcPct val="112000"/>
              </a:lnSpc>
              <a:buNone/>
            </a:pPr>
            <a:r>
              <a:rPr lang="en-US" sz="1300" dirty="0">
                <a:solidFill>
                  <a:srgbClr val="79E6DC"/>
                </a:solidFill>
                <a:latin typeface="Courier New" pitchFamily="34" charset="0"/>
                <a:ea typeface="Courier New" pitchFamily="34" charset="-122"/>
                <a:cs typeface="Courier New" pitchFamily="34" charset="-120"/>
              </a:rPr>
              <a:t>  - plan</a:t>
            </a:r>
            <a:endParaRPr lang="en-US" sz="1300" dirty="0"/>
          </a:p>
          <a:p>
            <a:pPr indent="0" marL="0">
              <a:lnSpc>
                <a:spcPct val="112000"/>
              </a:lnSpc>
              <a:buNone/>
            </a:pPr>
            <a:r>
              <a:rPr lang="en-US" sz="1300" dirty="0">
                <a:solidFill>
                  <a:srgbClr val="79E6DC"/>
                </a:solidFill>
                <a:latin typeface="Courier New" pitchFamily="34" charset="0"/>
                <a:ea typeface="Courier New" pitchFamily="34" charset="-122"/>
                <a:cs typeface="Courier New" pitchFamily="34" charset="-120"/>
              </a:rPr>
              <a:t>  - apply</a:t>
            </a:r>
            <a:endParaRPr lang="en-US" sz="1300" dirty="0"/>
          </a:p>
          <a:p>
            <a:pPr indent="0" marL="0">
              <a:lnSpc>
                <a:spcPct val="112000"/>
              </a:lnSpc>
              <a:buNone/>
            </a:pPr>
            <a:endParaRPr lang="en-US" sz="1300" dirty="0"/>
          </a:p>
          <a:p>
            <a:pPr indent="0" marL="0">
              <a:lnSpc>
                <a:spcPct val="112000"/>
              </a:lnSpc>
              <a:buNone/>
            </a:pPr>
            <a:r>
              <a:rPr lang="en-US" sz="1300" dirty="0">
                <a:solidFill>
                  <a:srgbClr val="D9A5FF"/>
                </a:solidFill>
                <a:latin typeface="Courier New" pitchFamily="34" charset="0"/>
                <a:ea typeface="Courier New" pitchFamily="34" charset="-122"/>
                <a:cs typeface="Courier New" pitchFamily="34" charset="-120"/>
              </a:rPr>
              <a:t>terraform:</a:t>
            </a:r>
            <a:endParaRPr lang="en-US" sz="1300" dirty="0"/>
          </a:p>
          <a:p>
            <a:pPr indent="0" marL="0">
              <a:lnSpc>
                <a:spcPct val="112000"/>
              </a:lnSpc>
              <a:buNone/>
            </a:pPr>
            <a:r>
              <a:rPr lang="en-US" sz="1300" dirty="0">
                <a:solidFill>
                  <a:srgbClr val="E8E6F0"/>
                </a:solidFill>
                <a:latin typeface="Courier New" pitchFamily="34" charset="0"/>
                <a:ea typeface="Courier New" pitchFamily="34" charset="-122"/>
                <a:cs typeface="Courier New" pitchFamily="34" charset="-120"/>
              </a:rPr>
              <a:t>  image: hashicorp/terraform:latest</a:t>
            </a:r>
            <a:endParaRPr lang="en-US" sz="1300" dirty="0"/>
          </a:p>
          <a:p>
            <a:pPr indent="0" marL="0">
              <a:lnSpc>
                <a:spcPct val="112000"/>
              </a:lnSpc>
              <a:buNone/>
            </a:pPr>
            <a:r>
              <a:rPr lang="en-US" sz="1300" dirty="0">
                <a:solidFill>
                  <a:srgbClr val="E8E6F0"/>
                </a:solidFill>
                <a:latin typeface="Courier New" pitchFamily="34" charset="0"/>
                <a:ea typeface="Courier New" pitchFamily="34" charset="-122"/>
                <a:cs typeface="Courier New" pitchFamily="34" charset="-120"/>
              </a:rPr>
              <a:t>  script:</a:t>
            </a:r>
            <a:endParaRPr lang="en-US" sz="1300" dirty="0"/>
          </a:p>
          <a:p>
            <a:pPr indent="0" marL="0">
              <a:lnSpc>
                <a:spcPct val="112000"/>
              </a:lnSpc>
              <a:buNone/>
            </a:pPr>
            <a:r>
              <a:rPr lang="en-US" sz="1300" dirty="0">
                <a:solidFill>
                  <a:srgbClr val="F0C674"/>
                </a:solidFill>
                <a:latin typeface="Courier New" pitchFamily="34" charset="0"/>
                <a:ea typeface="Courier New" pitchFamily="34" charset="-122"/>
                <a:cs typeface="Courier New" pitchFamily="34" charset="-120"/>
              </a:rPr>
              <a:t>    - terraform init</a:t>
            </a:r>
            <a:endParaRPr lang="en-US" sz="1300" dirty="0"/>
          </a:p>
          <a:p>
            <a:pPr indent="0" marL="0">
              <a:lnSpc>
                <a:spcPct val="112000"/>
              </a:lnSpc>
              <a:buNone/>
            </a:pPr>
            <a:r>
              <a:rPr lang="en-US" sz="1300" dirty="0">
                <a:solidFill>
                  <a:srgbClr val="F0C674"/>
                </a:solidFill>
                <a:latin typeface="Courier New" pitchFamily="34" charset="0"/>
                <a:ea typeface="Courier New" pitchFamily="34" charset="-122"/>
                <a:cs typeface="Courier New" pitchFamily="34" charset="-120"/>
              </a:rPr>
              <a:t>    - terraform plan -out=tfplan</a:t>
            </a:r>
            <a:endParaRPr lang="en-US" sz="1300" dirty="0"/>
          </a:p>
          <a:p>
            <a:pPr indent="0" marL="0">
              <a:lnSpc>
                <a:spcPct val="112000"/>
              </a:lnSpc>
              <a:buNone/>
            </a:pPr>
            <a:r>
              <a:rPr lang="en-US" sz="1300" dirty="0">
                <a:solidFill>
                  <a:srgbClr val="E8E6F0"/>
                </a:solidFill>
                <a:latin typeface="Courier New" pitchFamily="34" charset="0"/>
                <a:ea typeface="Courier New" pitchFamily="34" charset="-122"/>
                <a:cs typeface="Courier New" pitchFamily="34" charset="-120"/>
              </a:rPr>
              <a:t>  only:</a:t>
            </a:r>
            <a:endParaRPr lang="en-US" sz="1300" dirty="0"/>
          </a:p>
          <a:p>
            <a:pPr indent="0" marL="0">
              <a:lnSpc>
                <a:spcPct val="112000"/>
              </a:lnSpc>
              <a:buNone/>
            </a:pPr>
            <a:r>
              <a:rPr lang="en-US" sz="1300" dirty="0">
                <a:solidFill>
                  <a:srgbClr val="79E6DC"/>
                </a:solidFill>
                <a:latin typeface="Courier New" pitchFamily="34" charset="0"/>
                <a:ea typeface="Courier New" pitchFamily="34" charset="-122"/>
                <a:cs typeface="Courier New" pitchFamily="34" charset="-120"/>
              </a:rPr>
              <a:t>    - main</a:t>
            </a:r>
            <a:endParaRPr lang="en-US" sz="1300" dirty="0"/>
          </a:p>
        </p:txBody>
      </p:sp>
      <p:sp>
        <p:nvSpPr>
          <p:cNvPr id="12" name="Shape 10"/>
          <p:cNvSpPr/>
          <p:nvPr/>
        </p:nvSpPr>
        <p:spPr>
          <a:xfrm>
            <a:off x="6172200" y="2103120"/>
            <a:ext cx="5486400" cy="2286000"/>
          </a:xfrm>
          <a:prstGeom prst="roundRect">
            <a:avLst>
              <a:gd name="adj" fmla="val 3200"/>
            </a:avLst>
          </a:prstGeom>
          <a:solidFill>
            <a:srgbClr val="241B3D"/>
          </a:solidFill>
          <a:ln/>
          <a:effectLst>
            <a:outerShdw sx="100000" sy="100000" kx="0" ky="0" algn="bl" rotWithShape="0" blurRad="101600" dist="38100" dir="2700000">
              <a:srgbClr val="000000">
                <a:alpha val="15000"/>
              </a:srgbClr>
            </a:outerShdw>
          </a:effectLst>
        </p:spPr>
      </p:sp>
      <p:sp>
        <p:nvSpPr>
          <p:cNvPr id="13" name="Shape 11"/>
          <p:cNvSpPr/>
          <p:nvPr/>
        </p:nvSpPr>
        <p:spPr>
          <a:xfrm>
            <a:off x="6373368" y="2267712"/>
            <a:ext cx="109728" cy="109728"/>
          </a:xfrm>
          <a:prstGeom prst="ellipse">
            <a:avLst/>
          </a:prstGeom>
          <a:solidFill>
            <a:srgbClr val="FF6159"/>
          </a:solidFill>
          <a:ln/>
        </p:spPr>
      </p:sp>
      <p:sp>
        <p:nvSpPr>
          <p:cNvPr id="14" name="Shape 12"/>
          <p:cNvSpPr/>
          <p:nvPr/>
        </p:nvSpPr>
        <p:spPr>
          <a:xfrm>
            <a:off x="6574536" y="2267712"/>
            <a:ext cx="109728" cy="109728"/>
          </a:xfrm>
          <a:prstGeom prst="ellipse">
            <a:avLst/>
          </a:prstGeom>
          <a:solidFill>
            <a:srgbClr val="FFBD2E"/>
          </a:solidFill>
          <a:ln/>
        </p:spPr>
      </p:sp>
      <p:sp>
        <p:nvSpPr>
          <p:cNvPr id="15" name="Shape 13"/>
          <p:cNvSpPr/>
          <p:nvPr/>
        </p:nvSpPr>
        <p:spPr>
          <a:xfrm>
            <a:off x="6775704" y="2267712"/>
            <a:ext cx="109728" cy="109728"/>
          </a:xfrm>
          <a:prstGeom prst="ellipse">
            <a:avLst/>
          </a:prstGeom>
          <a:solidFill>
            <a:srgbClr val="28C840"/>
          </a:solidFill>
          <a:ln/>
        </p:spPr>
      </p:sp>
      <p:sp>
        <p:nvSpPr>
          <p:cNvPr id="16" name="Text 14"/>
          <p:cNvSpPr/>
          <p:nvPr/>
        </p:nvSpPr>
        <p:spPr>
          <a:xfrm>
            <a:off x="6400800" y="2514600"/>
            <a:ext cx="5029200" cy="1691640"/>
          </a:xfrm>
          <a:prstGeom prst="rect">
            <a:avLst/>
          </a:prstGeom>
          <a:noFill/>
          <a:ln/>
        </p:spPr>
        <p:txBody>
          <a:bodyPr wrap="square" lIns="0" tIns="0" rIns="0" bIns="0" rtlCol="0" anchor="t"/>
          <a:lstStyle/>
          <a:p>
            <a:pPr indent="0" marL="0">
              <a:lnSpc>
                <a:spcPct val="112000"/>
              </a:lnSpc>
              <a:buNone/>
            </a:pPr>
            <a:r>
              <a:rPr lang="en-US" sz="1300" dirty="0">
                <a:solidFill>
                  <a:srgbClr val="D9A5FF"/>
                </a:solidFill>
                <a:latin typeface="Courier New" pitchFamily="34" charset="0"/>
                <a:ea typeface="Courier New" pitchFamily="34" charset="-122"/>
                <a:cs typeface="Courier New" pitchFamily="34" charset="-120"/>
              </a:rPr>
              <a:t>terraform_apply:</a:t>
            </a:r>
            <a:endParaRPr lang="en-US" sz="1300" dirty="0"/>
          </a:p>
          <a:p>
            <a:pPr indent="0" marL="0">
              <a:lnSpc>
                <a:spcPct val="112000"/>
              </a:lnSpc>
              <a:buNone/>
            </a:pPr>
            <a:r>
              <a:rPr lang="en-US" sz="1300" dirty="0">
                <a:solidFill>
                  <a:srgbClr val="E8E6F0"/>
                </a:solidFill>
                <a:latin typeface="Courier New" pitchFamily="34" charset="0"/>
                <a:ea typeface="Courier New" pitchFamily="34" charset="-122"/>
                <a:cs typeface="Courier New" pitchFamily="34" charset="-120"/>
              </a:rPr>
              <a:t>  image: hashicorp/terraform:latest</a:t>
            </a:r>
            <a:endParaRPr lang="en-US" sz="1300" dirty="0"/>
          </a:p>
          <a:p>
            <a:pPr indent="0" marL="0">
              <a:lnSpc>
                <a:spcPct val="112000"/>
              </a:lnSpc>
              <a:buNone/>
            </a:pPr>
            <a:r>
              <a:rPr lang="en-US" sz="1300" dirty="0">
                <a:solidFill>
                  <a:srgbClr val="E8E6F0"/>
                </a:solidFill>
                <a:latin typeface="Courier New" pitchFamily="34" charset="0"/>
                <a:ea typeface="Courier New" pitchFamily="34" charset="-122"/>
                <a:cs typeface="Courier New" pitchFamily="34" charset="-120"/>
              </a:rPr>
              <a:t>  script:</a:t>
            </a:r>
            <a:endParaRPr lang="en-US" sz="1300" dirty="0"/>
          </a:p>
          <a:p>
            <a:pPr indent="0" marL="0">
              <a:lnSpc>
                <a:spcPct val="112000"/>
              </a:lnSpc>
              <a:buNone/>
            </a:pPr>
            <a:r>
              <a:rPr lang="en-US" sz="1300" dirty="0">
                <a:solidFill>
                  <a:srgbClr val="F0C674"/>
                </a:solidFill>
                <a:latin typeface="Courier New" pitchFamily="34" charset="0"/>
                <a:ea typeface="Courier New" pitchFamily="34" charset="-122"/>
                <a:cs typeface="Courier New" pitchFamily="34" charset="-120"/>
              </a:rPr>
              <a:t>    - terraform apply -auto-approve tfplan</a:t>
            </a:r>
            <a:endParaRPr lang="en-US" sz="1300" dirty="0"/>
          </a:p>
          <a:p>
            <a:pPr indent="0" marL="0">
              <a:lnSpc>
                <a:spcPct val="112000"/>
              </a:lnSpc>
              <a:buNone/>
            </a:pPr>
            <a:r>
              <a:rPr lang="en-US" sz="1300" dirty="0">
                <a:solidFill>
                  <a:srgbClr val="E8E6F0"/>
                </a:solidFill>
                <a:latin typeface="Courier New" pitchFamily="34" charset="0"/>
                <a:ea typeface="Courier New" pitchFamily="34" charset="-122"/>
                <a:cs typeface="Courier New" pitchFamily="34" charset="-120"/>
              </a:rPr>
              <a:t>  only:</a:t>
            </a:r>
            <a:endParaRPr lang="en-US" sz="1300" dirty="0"/>
          </a:p>
          <a:p>
            <a:pPr indent="0" marL="0">
              <a:lnSpc>
                <a:spcPct val="112000"/>
              </a:lnSpc>
              <a:buNone/>
            </a:pPr>
            <a:r>
              <a:rPr lang="en-US" sz="1300" dirty="0">
                <a:solidFill>
                  <a:srgbClr val="79E6DC"/>
                </a:solidFill>
                <a:latin typeface="Courier New" pitchFamily="34" charset="0"/>
                <a:ea typeface="Courier New" pitchFamily="34" charset="-122"/>
                <a:cs typeface="Courier New" pitchFamily="34" charset="-120"/>
              </a:rPr>
              <a:t>    - main</a:t>
            </a:r>
            <a:endParaRPr lang="en-US" sz="1300" dirty="0"/>
          </a:p>
        </p:txBody>
      </p:sp>
      <p:sp>
        <p:nvSpPr>
          <p:cNvPr id="17" name="Shape 15"/>
          <p:cNvSpPr/>
          <p:nvPr/>
        </p:nvSpPr>
        <p:spPr>
          <a:xfrm>
            <a:off x="6172200" y="4572000"/>
            <a:ext cx="5486400" cy="1554480"/>
          </a:xfrm>
          <a:prstGeom prst="roundRect">
            <a:avLst>
              <a:gd name="adj" fmla="val 5882"/>
            </a:avLst>
          </a:prstGeom>
          <a:solidFill>
            <a:srgbClr val="F1EDF9"/>
          </a:solidFill>
          <a:ln/>
          <a:effectLst>
            <a:outerShdw sx="100000" sy="100000" kx="0" ky="0" algn="bl" rotWithShape="0" blurRad="101600" dist="38100" dir="2700000">
              <a:srgbClr val="000000">
                <a:alpha val="15000"/>
              </a:srgbClr>
            </a:outerShdw>
          </a:effectLst>
        </p:spPr>
      </p:sp>
      <p:pic>
        <p:nvPicPr>
          <p:cNvPr id="18" name="Image 0" descr="icons/robot_white.png">    </p:cNvPr>
          <p:cNvPicPr>
            <a:picLocks noChangeAspect="1"/>
          </p:cNvPicPr>
          <p:nvPr/>
        </p:nvPicPr>
        <p:blipFill>
          <a:blip r:embed="rId1"/>
          <a:stretch>
            <a:fillRect/>
          </a:stretch>
        </p:blipFill>
        <p:spPr>
          <a:xfrm>
            <a:off x="6400800" y="4800600"/>
            <a:ext cx="365760" cy="365760"/>
          </a:xfrm>
          <a:prstGeom prst="rect">
            <a:avLst/>
          </a:prstGeom>
        </p:spPr>
      </p:pic>
      <p:sp>
        <p:nvSpPr>
          <p:cNvPr id="19" name="Shape 16"/>
          <p:cNvSpPr/>
          <p:nvPr/>
        </p:nvSpPr>
        <p:spPr>
          <a:xfrm>
            <a:off x="6355080" y="4754880"/>
            <a:ext cx="457200" cy="457200"/>
          </a:xfrm>
          <a:prstGeom prst="ellipse">
            <a:avLst/>
          </a:prstGeom>
          <a:solidFill>
            <a:srgbClr val="7B42BC"/>
          </a:solidFill>
          <a:ln/>
        </p:spPr>
      </p:sp>
      <p:pic>
        <p:nvPicPr>
          <p:cNvPr id="20" name="Image 1" descr="icons/robot_white.png">    </p:cNvPr>
          <p:cNvPicPr>
            <a:picLocks noChangeAspect="1"/>
          </p:cNvPicPr>
          <p:nvPr/>
        </p:nvPicPr>
        <p:blipFill>
          <a:blip r:embed="rId2"/>
          <a:stretch>
            <a:fillRect/>
          </a:stretch>
        </p:blipFill>
        <p:spPr>
          <a:xfrm>
            <a:off x="6464808" y="4864608"/>
            <a:ext cx="237744" cy="237744"/>
          </a:xfrm>
          <a:prstGeom prst="rect">
            <a:avLst/>
          </a:prstGeom>
        </p:spPr>
      </p:pic>
      <p:sp>
        <p:nvSpPr>
          <p:cNvPr id="21" name="Text 17"/>
          <p:cNvSpPr/>
          <p:nvPr/>
        </p:nvSpPr>
        <p:spPr>
          <a:xfrm>
            <a:off x="7040880" y="4709160"/>
            <a:ext cx="4434840" cy="1280160"/>
          </a:xfrm>
          <a:prstGeom prst="rect">
            <a:avLst/>
          </a:prstGeom>
          <a:noFill/>
          <a:ln/>
        </p:spPr>
        <p:txBody>
          <a:bodyPr wrap="square" lIns="0" tIns="0" rIns="0" bIns="0" rtlCol="0" anchor="ctr"/>
          <a:lstStyle/>
          <a:p>
            <a:pPr indent="0" marL="0">
              <a:lnSpc>
                <a:spcPct val="125000"/>
              </a:lnSpc>
              <a:buNone/>
            </a:pPr>
            <a:r>
              <a:rPr lang="en-US" sz="1300" dirty="0">
                <a:solidFill>
                  <a:srgbClr val="241C3E"/>
                </a:solidFill>
                <a:latin typeface="Calibri" pitchFamily="34" charset="0"/>
                <a:ea typeface="Calibri" pitchFamily="34" charset="-122"/>
                <a:cs typeface="Calibri" pitchFamily="34" charset="-120"/>
              </a:rPr>
              <a:t>Both jobs run only on the </a:t>
            </a:r>
            <a:pPr indent="0" marL="0">
              <a:lnSpc>
                <a:spcPct val="125000"/>
              </a:lnSpc>
              <a:buNone/>
            </a:pPr>
            <a:r>
              <a:rPr lang="en-US" sz="1300" b="1" dirty="0">
                <a:solidFill>
                  <a:srgbClr val="7B42BC"/>
                </a:solidFill>
                <a:latin typeface="Courier New" pitchFamily="34" charset="0"/>
                <a:ea typeface="Courier New" pitchFamily="34" charset="-122"/>
                <a:cs typeface="Courier New" pitchFamily="34" charset="-120"/>
              </a:rPr>
              <a:t>main</a:t>
            </a:r>
            <a:pPr indent="0" marL="0">
              <a:lnSpc>
                <a:spcPct val="125000"/>
              </a:lnSpc>
              <a:buNone/>
            </a:pPr>
            <a:r>
              <a:rPr lang="en-US" sz="1300" dirty="0">
                <a:solidFill>
                  <a:srgbClr val="241C3E"/>
                </a:solidFill>
                <a:latin typeface="Calibri" pitchFamily="34" charset="0"/>
                <a:ea typeface="Calibri" pitchFamily="34" charset="-122"/>
                <a:cs typeface="Calibri" pitchFamily="34" charset="-120"/>
              </a:rPr>
              <a:t> branch, and apply reuses the exact plan file from the plan stage — no drift between what was reviewed and what gets applied.</a:t>
            </a:r>
            <a:endParaRPr lang="en-US" sz="1300" dirty="0"/>
          </a:p>
        </p:txBody>
      </p:sp>
      <p:sp>
        <p:nvSpPr>
          <p:cNvPr id="22" name="Text 18"/>
          <p:cNvSpPr/>
          <p:nvPr/>
        </p:nvSpPr>
        <p:spPr>
          <a:xfrm>
            <a:off x="457200" y="6446520"/>
            <a:ext cx="6400800" cy="274320"/>
          </a:xfrm>
          <a:prstGeom prst="rect">
            <a:avLst/>
          </a:prstGeom>
          <a:noFill/>
          <a:ln/>
        </p:spPr>
        <p:txBody>
          <a:bodyPr wrap="square" lIns="0" tIns="0" rIns="0" bIns="0" rtlCol="0" anchor="ctr"/>
          <a:lstStyle/>
          <a:p>
            <a:pPr algn="l" indent="0" marL="0">
              <a:buNone/>
            </a:pPr>
            <a:r>
              <a:rPr lang="en-US" sz="1000" dirty="0">
                <a:solidFill>
                  <a:srgbClr val="6B6483"/>
                </a:solidFill>
                <a:latin typeface="Calibri" pitchFamily="34" charset="0"/>
                <a:ea typeface="Calibri" pitchFamily="34" charset="-122"/>
                <a:cs typeface="Calibri" pitchFamily="34" charset="-120"/>
              </a:rPr>
              <a:t>Real-World Projects &amp; Hands-On Labs</a:t>
            </a:r>
            <a:endParaRPr lang="en-US" sz="1000" dirty="0"/>
          </a:p>
        </p:txBody>
      </p:sp>
      <p:sp>
        <p:nvSpPr>
          <p:cNvPr id="23" name="Text 19"/>
          <p:cNvSpPr/>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6B6483"/>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C"/>
        </a:solidFill>
      </p:bgPr>
    </p:bg>
    <p:spTree>
      <p:nvGrpSpPr>
        <p:cNvPr id="1" name=""/>
        <p:cNvGrpSpPr/>
        <p:nvPr/>
      </p:nvGrpSpPr>
      <p:grpSpPr>
        <a:xfrm>
          <a:off x="0" y="0"/>
          <a:ext cx="0" cy="0"/>
          <a:chOff x="0" y="0"/>
          <a:chExt cx="0" cy="0"/>
        </a:xfrm>
      </p:grpSpPr>
      <p:sp>
        <p:nvSpPr>
          <p:cNvPr id="2" name="Shape 0"/>
          <p:cNvSpPr/>
          <p:nvPr/>
        </p:nvSpPr>
        <p:spPr>
          <a:xfrm>
            <a:off x="548640" y="411480"/>
            <a:ext cx="1600200" cy="384048"/>
          </a:xfrm>
          <a:prstGeom prst="roundRect">
            <a:avLst>
              <a:gd name="adj" fmla="val 50000"/>
            </a:avLst>
          </a:prstGeom>
          <a:solidFill>
            <a:srgbClr val="7B42BC"/>
          </a:solidFill>
          <a:ln/>
        </p:spPr>
      </p:sp>
      <p:sp>
        <p:nvSpPr>
          <p:cNvPr id="3" name="Text 1"/>
          <p:cNvSpPr/>
          <p:nvPr/>
        </p:nvSpPr>
        <p:spPr>
          <a:xfrm>
            <a:off x="548640" y="411480"/>
            <a:ext cx="1600200"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PROJECT 4</a:t>
            </a:r>
            <a:endParaRPr lang="en-US" sz="1200" dirty="0"/>
          </a:p>
        </p:txBody>
      </p:sp>
      <p:sp>
        <p:nvSpPr>
          <p:cNvPr id="4" name="Text 2"/>
          <p:cNvSpPr/>
          <p:nvPr/>
        </p:nvSpPr>
        <p:spPr>
          <a:xfrm>
            <a:off x="2286000" y="411480"/>
            <a:ext cx="7315200" cy="384048"/>
          </a:xfrm>
          <a:prstGeom prst="rect">
            <a:avLst/>
          </a:prstGeom>
          <a:noFill/>
          <a:ln/>
        </p:spPr>
        <p:txBody>
          <a:bodyPr wrap="square" lIns="0" tIns="0" rIns="0" bIns="0" rtlCol="0" anchor="ctr"/>
          <a:lstStyle/>
          <a:p>
            <a:pPr indent="0" marL="0">
              <a:buNone/>
            </a:pPr>
            <a:r>
              <a:rPr lang="en-US" sz="1300" b="1" spc="200" kern="0" dirty="0">
                <a:solidFill>
                  <a:srgbClr val="7B42BC"/>
                </a:solidFill>
                <a:latin typeface="Calibri" pitchFamily="34" charset="0"/>
                <a:ea typeface="Calibri" pitchFamily="34" charset="-122"/>
                <a:cs typeface="Calibri" pitchFamily="34" charset="-120"/>
              </a:rPr>
              <a:t>MULTI-CLOUD SETUP</a:t>
            </a:r>
            <a:endParaRPr lang="en-US" sz="1300" dirty="0"/>
          </a:p>
        </p:txBody>
      </p:sp>
      <p:sp>
        <p:nvSpPr>
          <p:cNvPr id="5" name="Text 3"/>
          <p:cNvSpPr/>
          <p:nvPr/>
        </p:nvSpPr>
        <p:spPr>
          <a:xfrm>
            <a:off x="548640" y="960120"/>
            <a:ext cx="10698480" cy="640080"/>
          </a:xfrm>
          <a:prstGeom prst="rect">
            <a:avLst/>
          </a:prstGeom>
          <a:noFill/>
          <a:ln/>
        </p:spPr>
        <p:txBody>
          <a:bodyPr wrap="square" lIns="0" tIns="0" rIns="0" bIns="0" rtlCol="0" anchor="ctr"/>
          <a:lstStyle/>
          <a:p>
            <a:pPr indent="0" marL="0">
              <a:buNone/>
            </a:pPr>
            <a:r>
              <a:rPr lang="en-US" sz="2400" b="1" dirty="0">
                <a:solidFill>
                  <a:srgbClr val="241C3E"/>
                </a:solidFill>
                <a:latin typeface="Cambria" pitchFamily="34" charset="0"/>
                <a:ea typeface="Cambria" pitchFamily="34" charset="-122"/>
                <a:cs typeface="Cambria" pitchFamily="34" charset="-120"/>
              </a:rPr>
              <a:t>Deploy identical infrastructure to AWS &amp; Azure</a:t>
            </a:r>
            <a:endParaRPr lang="en-US" sz="2400" dirty="0"/>
          </a:p>
        </p:txBody>
      </p:sp>
      <p:sp>
        <p:nvSpPr>
          <p:cNvPr id="6" name="Text 4"/>
          <p:cNvSpPr/>
          <p:nvPr/>
        </p:nvSpPr>
        <p:spPr>
          <a:xfrm>
            <a:off x="548640" y="1554480"/>
            <a:ext cx="10058400" cy="411480"/>
          </a:xfrm>
          <a:prstGeom prst="rect">
            <a:avLst/>
          </a:prstGeom>
          <a:noFill/>
          <a:ln/>
        </p:spPr>
        <p:txBody>
          <a:bodyPr wrap="square" lIns="0" tIns="0" rIns="0" bIns="0" rtlCol="0" anchor="ctr"/>
          <a:lstStyle/>
          <a:p>
            <a:pPr indent="0" marL="0">
              <a:buNone/>
            </a:pPr>
            <a:r>
              <a:rPr lang="en-US" sz="1450" dirty="0">
                <a:solidFill>
                  <a:srgbClr val="6B6483"/>
                </a:solidFill>
                <a:latin typeface="Calibri" pitchFamily="34" charset="0"/>
                <a:ea typeface="Calibri" pitchFamily="34" charset="-122"/>
                <a:cs typeface="Calibri" pitchFamily="34" charset="-120"/>
              </a:rPr>
              <a:t>One configuration, two providers — built for redundancy and failover.</a:t>
            </a:r>
            <a:endParaRPr lang="en-US" sz="1450" dirty="0"/>
          </a:p>
        </p:txBody>
      </p:sp>
      <p:sp>
        <p:nvSpPr>
          <p:cNvPr id="7" name="Shape 5"/>
          <p:cNvSpPr/>
          <p:nvPr/>
        </p:nvSpPr>
        <p:spPr>
          <a:xfrm>
            <a:off x="548640" y="2103120"/>
            <a:ext cx="5486400" cy="2331720"/>
          </a:xfrm>
          <a:prstGeom prst="roundRect">
            <a:avLst>
              <a:gd name="adj" fmla="val 3137"/>
            </a:avLst>
          </a:prstGeom>
          <a:solidFill>
            <a:srgbClr val="241B3D"/>
          </a:solidFill>
          <a:ln/>
          <a:effectLst>
            <a:outerShdw sx="100000" sy="100000" kx="0" ky="0" algn="bl" rotWithShape="0" blurRad="101600" dist="38100" dir="2700000">
              <a:srgbClr val="000000">
                <a:alpha val="15000"/>
              </a:srgbClr>
            </a:outerShdw>
          </a:effectLst>
        </p:spPr>
      </p:sp>
      <p:sp>
        <p:nvSpPr>
          <p:cNvPr id="8" name="Shape 6"/>
          <p:cNvSpPr/>
          <p:nvPr/>
        </p:nvSpPr>
        <p:spPr>
          <a:xfrm>
            <a:off x="749808" y="2267712"/>
            <a:ext cx="109728" cy="109728"/>
          </a:xfrm>
          <a:prstGeom prst="ellipse">
            <a:avLst/>
          </a:prstGeom>
          <a:solidFill>
            <a:srgbClr val="FF6159"/>
          </a:solidFill>
          <a:ln/>
        </p:spPr>
      </p:sp>
      <p:sp>
        <p:nvSpPr>
          <p:cNvPr id="9" name="Shape 7"/>
          <p:cNvSpPr/>
          <p:nvPr/>
        </p:nvSpPr>
        <p:spPr>
          <a:xfrm>
            <a:off x="950976" y="2267712"/>
            <a:ext cx="109728" cy="109728"/>
          </a:xfrm>
          <a:prstGeom prst="ellipse">
            <a:avLst/>
          </a:prstGeom>
          <a:solidFill>
            <a:srgbClr val="FFBD2E"/>
          </a:solidFill>
          <a:ln/>
        </p:spPr>
      </p:sp>
      <p:sp>
        <p:nvSpPr>
          <p:cNvPr id="10" name="Shape 8"/>
          <p:cNvSpPr/>
          <p:nvPr/>
        </p:nvSpPr>
        <p:spPr>
          <a:xfrm>
            <a:off x="1152144" y="2267712"/>
            <a:ext cx="109728" cy="109728"/>
          </a:xfrm>
          <a:prstGeom prst="ellipse">
            <a:avLst/>
          </a:prstGeom>
          <a:solidFill>
            <a:srgbClr val="28C840"/>
          </a:solidFill>
          <a:ln/>
        </p:spPr>
      </p:sp>
      <p:sp>
        <p:nvSpPr>
          <p:cNvPr id="11" name="Text 9"/>
          <p:cNvSpPr/>
          <p:nvPr/>
        </p:nvSpPr>
        <p:spPr>
          <a:xfrm>
            <a:off x="777240" y="2514600"/>
            <a:ext cx="5029200" cy="1737360"/>
          </a:xfrm>
          <a:prstGeom prst="rect">
            <a:avLst/>
          </a:prstGeom>
          <a:noFill/>
          <a:ln/>
        </p:spPr>
        <p:txBody>
          <a:bodyPr wrap="square" lIns="0" tIns="0" rIns="0" bIns="0" rtlCol="0" anchor="t"/>
          <a:lstStyle/>
          <a:p>
            <a:pPr indent="0" marL="0">
              <a:lnSpc>
                <a:spcPct val="112000"/>
              </a:lnSpc>
              <a:buNone/>
            </a:pPr>
            <a:r>
              <a:rPr lang="en-US" sz="1400" dirty="0">
                <a:solidFill>
                  <a:srgbClr val="D9A5FF"/>
                </a:solidFill>
                <a:latin typeface="Courier New" pitchFamily="34" charset="0"/>
                <a:ea typeface="Courier New" pitchFamily="34" charset="-122"/>
                <a:cs typeface="Courier New" pitchFamily="34" charset="-120"/>
              </a:rPr>
              <a:t>provider "aws" {</a:t>
            </a:r>
            <a:endParaRPr lang="en-US" sz="1400" dirty="0"/>
          </a:p>
          <a:p>
            <a:pPr indent="0" marL="0">
              <a:lnSpc>
                <a:spcPct val="112000"/>
              </a:lnSpc>
              <a:buNone/>
            </a:pPr>
            <a:r>
              <a:rPr lang="en-US" sz="1400" dirty="0">
                <a:solidFill>
                  <a:srgbClr val="79E6DC"/>
                </a:solidFill>
                <a:latin typeface="Courier New" pitchFamily="34" charset="0"/>
                <a:ea typeface="Courier New" pitchFamily="34" charset="-122"/>
                <a:cs typeface="Courier New" pitchFamily="34" charset="-120"/>
              </a:rPr>
              <a:t>  region = "us-east-1"</a:t>
            </a:r>
            <a:endParaRPr lang="en-US" sz="1400" dirty="0"/>
          </a:p>
          <a:p>
            <a:pPr indent="0" marL="0">
              <a:lnSpc>
                <a:spcPct val="112000"/>
              </a:lnSpc>
              <a:buNone/>
            </a:pPr>
            <a:r>
              <a:rPr lang="en-US" sz="1400" dirty="0">
                <a:solidFill>
                  <a:srgbClr val="D9A5FF"/>
                </a:solidFill>
                <a:latin typeface="Courier New" pitchFamily="34" charset="0"/>
                <a:ea typeface="Courier New" pitchFamily="34" charset="-122"/>
                <a:cs typeface="Courier New" pitchFamily="34" charset="-120"/>
              </a:rPr>
              <a:t>}</a:t>
            </a:r>
            <a:endParaRPr lang="en-US" sz="1400" dirty="0"/>
          </a:p>
          <a:p>
            <a:pPr indent="0" marL="0">
              <a:lnSpc>
                <a:spcPct val="112000"/>
              </a:lnSpc>
              <a:buNone/>
            </a:pPr>
            <a:endParaRPr lang="en-US" sz="1400" dirty="0"/>
          </a:p>
          <a:p>
            <a:pPr indent="0" marL="0">
              <a:lnSpc>
                <a:spcPct val="112000"/>
              </a:lnSpc>
              <a:buNone/>
            </a:pPr>
            <a:r>
              <a:rPr lang="en-US" sz="1400" dirty="0">
                <a:solidFill>
                  <a:srgbClr val="D9A5FF"/>
                </a:solidFill>
                <a:latin typeface="Courier New" pitchFamily="34" charset="0"/>
                <a:ea typeface="Courier New" pitchFamily="34" charset="-122"/>
                <a:cs typeface="Courier New" pitchFamily="34" charset="-120"/>
              </a:rPr>
              <a:t>provider "azurerm" {</a:t>
            </a:r>
            <a:endParaRPr lang="en-US" sz="1400" dirty="0"/>
          </a:p>
          <a:p>
            <a:pPr indent="0" marL="0">
              <a:lnSpc>
                <a:spcPct val="112000"/>
              </a:lnSpc>
              <a:buNone/>
            </a:pPr>
            <a:r>
              <a:rPr lang="en-US" sz="1400" dirty="0">
                <a:solidFill>
                  <a:srgbClr val="E8E6F0"/>
                </a:solidFill>
                <a:latin typeface="Courier New" pitchFamily="34" charset="0"/>
                <a:ea typeface="Courier New" pitchFamily="34" charset="-122"/>
                <a:cs typeface="Courier New" pitchFamily="34" charset="-120"/>
              </a:rPr>
              <a:t>  features {}</a:t>
            </a:r>
            <a:endParaRPr lang="en-US" sz="1400" dirty="0"/>
          </a:p>
          <a:p>
            <a:pPr indent="0" marL="0">
              <a:lnSpc>
                <a:spcPct val="112000"/>
              </a:lnSpc>
              <a:buNone/>
            </a:pPr>
            <a:r>
              <a:rPr lang="en-US" sz="1400" dirty="0">
                <a:solidFill>
                  <a:srgbClr val="D9A5FF"/>
                </a:solidFill>
                <a:latin typeface="Courier New" pitchFamily="34" charset="0"/>
                <a:ea typeface="Courier New" pitchFamily="34" charset="-122"/>
                <a:cs typeface="Courier New" pitchFamily="34" charset="-120"/>
              </a:rPr>
              <a:t>}</a:t>
            </a:r>
            <a:endParaRPr lang="en-US" sz="1400" dirty="0"/>
          </a:p>
        </p:txBody>
      </p:sp>
      <p:sp>
        <p:nvSpPr>
          <p:cNvPr id="12" name="Shape 10"/>
          <p:cNvSpPr/>
          <p:nvPr/>
        </p:nvSpPr>
        <p:spPr>
          <a:xfrm>
            <a:off x="6172200" y="2103120"/>
            <a:ext cx="5486400" cy="4023360"/>
          </a:xfrm>
          <a:prstGeom prst="roundRect">
            <a:avLst>
              <a:gd name="adj" fmla="val 1818"/>
            </a:avLst>
          </a:prstGeom>
          <a:solidFill>
            <a:srgbClr val="241B3D"/>
          </a:solidFill>
          <a:ln/>
          <a:effectLst>
            <a:outerShdw sx="100000" sy="100000" kx="0" ky="0" algn="bl" rotWithShape="0" blurRad="101600" dist="38100" dir="2700000">
              <a:srgbClr val="000000">
                <a:alpha val="15000"/>
              </a:srgbClr>
            </a:outerShdw>
          </a:effectLst>
        </p:spPr>
      </p:sp>
      <p:sp>
        <p:nvSpPr>
          <p:cNvPr id="13" name="Shape 11"/>
          <p:cNvSpPr/>
          <p:nvPr/>
        </p:nvSpPr>
        <p:spPr>
          <a:xfrm>
            <a:off x="6373368" y="2267712"/>
            <a:ext cx="109728" cy="109728"/>
          </a:xfrm>
          <a:prstGeom prst="ellipse">
            <a:avLst/>
          </a:prstGeom>
          <a:solidFill>
            <a:srgbClr val="FF6159"/>
          </a:solidFill>
          <a:ln/>
        </p:spPr>
      </p:sp>
      <p:sp>
        <p:nvSpPr>
          <p:cNvPr id="14" name="Shape 12"/>
          <p:cNvSpPr/>
          <p:nvPr/>
        </p:nvSpPr>
        <p:spPr>
          <a:xfrm>
            <a:off x="6574536" y="2267712"/>
            <a:ext cx="109728" cy="109728"/>
          </a:xfrm>
          <a:prstGeom prst="ellipse">
            <a:avLst/>
          </a:prstGeom>
          <a:solidFill>
            <a:srgbClr val="FFBD2E"/>
          </a:solidFill>
          <a:ln/>
        </p:spPr>
      </p:sp>
      <p:sp>
        <p:nvSpPr>
          <p:cNvPr id="15" name="Shape 13"/>
          <p:cNvSpPr/>
          <p:nvPr/>
        </p:nvSpPr>
        <p:spPr>
          <a:xfrm>
            <a:off x="6775704" y="2267712"/>
            <a:ext cx="109728" cy="109728"/>
          </a:xfrm>
          <a:prstGeom prst="ellipse">
            <a:avLst/>
          </a:prstGeom>
          <a:solidFill>
            <a:srgbClr val="28C840"/>
          </a:solidFill>
          <a:ln/>
        </p:spPr>
      </p:sp>
      <p:sp>
        <p:nvSpPr>
          <p:cNvPr id="16" name="Text 14"/>
          <p:cNvSpPr/>
          <p:nvPr/>
        </p:nvSpPr>
        <p:spPr>
          <a:xfrm>
            <a:off x="6400800" y="2514600"/>
            <a:ext cx="5029200" cy="3429000"/>
          </a:xfrm>
          <a:prstGeom prst="rect">
            <a:avLst/>
          </a:prstGeom>
          <a:noFill/>
          <a:ln/>
        </p:spPr>
        <p:txBody>
          <a:bodyPr wrap="square" lIns="0" tIns="0" rIns="0" bIns="0" rtlCol="0" anchor="t"/>
          <a:lstStyle/>
          <a:p>
            <a:pPr indent="0" marL="0">
              <a:lnSpc>
                <a:spcPct val="112000"/>
              </a:lnSpc>
              <a:buNone/>
            </a:pPr>
            <a:r>
              <a:rPr lang="en-US" sz="1200" dirty="0">
                <a:solidFill>
                  <a:srgbClr val="D9A5FF"/>
                </a:solidFill>
                <a:latin typeface="Courier New" pitchFamily="34" charset="0"/>
                <a:ea typeface="Courier New" pitchFamily="34" charset="-122"/>
                <a:cs typeface="Courier New" pitchFamily="34" charset="-120"/>
              </a:rPr>
              <a:t>resource "aws_instance" "web_aws" {</a:t>
            </a:r>
            <a:endParaRPr lang="en-US" sz="1200" dirty="0"/>
          </a:p>
          <a:p>
            <a:pPr indent="0" marL="0">
              <a:lnSpc>
                <a:spcPct val="112000"/>
              </a:lnSpc>
              <a:buNone/>
            </a:pPr>
            <a:r>
              <a:rPr lang="en-US" sz="1200" dirty="0">
                <a:solidFill>
                  <a:srgbClr val="E8E6F0"/>
                </a:solidFill>
                <a:latin typeface="Courier New" pitchFamily="34" charset="0"/>
                <a:ea typeface="Courier New" pitchFamily="34" charset="-122"/>
                <a:cs typeface="Courier New" pitchFamily="34" charset="-120"/>
              </a:rPr>
              <a:t>  ami           = "ami-0c55b159cbfafe1f0"</a:t>
            </a:r>
            <a:endParaRPr lang="en-US" sz="1200" dirty="0"/>
          </a:p>
          <a:p>
            <a:pPr indent="0" marL="0">
              <a:lnSpc>
                <a:spcPct val="112000"/>
              </a:lnSpc>
              <a:buNone/>
            </a:pPr>
            <a:r>
              <a:rPr lang="en-US" sz="1200" dirty="0">
                <a:solidFill>
                  <a:srgbClr val="79E6DC"/>
                </a:solidFill>
                <a:latin typeface="Courier New" pitchFamily="34" charset="0"/>
                <a:ea typeface="Courier New" pitchFamily="34" charset="-122"/>
                <a:cs typeface="Courier New" pitchFamily="34" charset="-120"/>
              </a:rPr>
              <a:t>  instance_type = "t2.micro"</a:t>
            </a:r>
            <a:endParaRPr lang="en-US" sz="1200" dirty="0"/>
          </a:p>
          <a:p>
            <a:pPr indent="0" marL="0">
              <a:lnSpc>
                <a:spcPct val="112000"/>
              </a:lnSpc>
              <a:buNone/>
            </a:pPr>
            <a:r>
              <a:rPr lang="en-US" sz="1200" dirty="0">
                <a:solidFill>
                  <a:srgbClr val="D9A5FF"/>
                </a:solidFill>
                <a:latin typeface="Courier New" pitchFamily="34" charset="0"/>
                <a:ea typeface="Courier New" pitchFamily="34" charset="-122"/>
                <a:cs typeface="Courier New" pitchFamily="34" charset="-120"/>
              </a:rPr>
              <a:t>}</a:t>
            </a:r>
            <a:endParaRPr lang="en-US" sz="1200" dirty="0"/>
          </a:p>
          <a:p>
            <a:pPr indent="0" marL="0">
              <a:lnSpc>
                <a:spcPct val="112000"/>
              </a:lnSpc>
              <a:buNone/>
            </a:pPr>
            <a:endParaRPr lang="en-US" sz="1200" dirty="0"/>
          </a:p>
          <a:p>
            <a:pPr indent="0" marL="0">
              <a:lnSpc>
                <a:spcPct val="112000"/>
              </a:lnSpc>
              <a:buNone/>
            </a:pPr>
            <a:r>
              <a:rPr lang="en-US" sz="1200" dirty="0">
                <a:solidFill>
                  <a:srgbClr val="D9A5FF"/>
                </a:solidFill>
                <a:latin typeface="Courier New" pitchFamily="34" charset="0"/>
                <a:ea typeface="Courier New" pitchFamily="34" charset="-122"/>
                <a:cs typeface="Courier New" pitchFamily="34" charset="-120"/>
              </a:rPr>
              <a:t>resource "azurerm_virtual_machine" "web_azure" {</a:t>
            </a:r>
            <a:endParaRPr lang="en-US" sz="1200" dirty="0"/>
          </a:p>
          <a:p>
            <a:pPr indent="0" marL="0">
              <a:lnSpc>
                <a:spcPct val="112000"/>
              </a:lnSpc>
              <a:buNone/>
            </a:pPr>
            <a:r>
              <a:rPr lang="en-US" sz="1200" dirty="0">
                <a:solidFill>
                  <a:srgbClr val="E8E6F0"/>
                </a:solidFill>
                <a:latin typeface="Courier New" pitchFamily="34" charset="0"/>
                <a:ea typeface="Courier New" pitchFamily="34" charset="-122"/>
                <a:cs typeface="Courier New" pitchFamily="34" charset="-120"/>
              </a:rPr>
              <a:t>  name                = "web-vm"</a:t>
            </a:r>
            <a:endParaRPr lang="en-US" sz="1200" dirty="0"/>
          </a:p>
          <a:p>
            <a:pPr indent="0" marL="0">
              <a:lnSpc>
                <a:spcPct val="112000"/>
              </a:lnSpc>
              <a:buNone/>
            </a:pPr>
            <a:r>
              <a:rPr lang="en-US" sz="1200" dirty="0">
                <a:solidFill>
                  <a:srgbClr val="E8E6F0"/>
                </a:solidFill>
                <a:latin typeface="Courier New" pitchFamily="34" charset="0"/>
                <a:ea typeface="Courier New" pitchFamily="34" charset="-122"/>
                <a:cs typeface="Courier New" pitchFamily="34" charset="-120"/>
              </a:rPr>
              <a:t>  location            = "East US"</a:t>
            </a:r>
            <a:endParaRPr lang="en-US" sz="1200" dirty="0"/>
          </a:p>
          <a:p>
            <a:pPr indent="0" marL="0">
              <a:lnSpc>
                <a:spcPct val="112000"/>
              </a:lnSpc>
              <a:buNone/>
            </a:pPr>
            <a:r>
              <a:rPr lang="en-US" sz="1200" dirty="0">
                <a:solidFill>
                  <a:srgbClr val="E8E6F0"/>
                </a:solidFill>
                <a:latin typeface="Courier New" pitchFamily="34" charset="0"/>
                <a:ea typeface="Courier New" pitchFamily="34" charset="-122"/>
                <a:cs typeface="Courier New" pitchFamily="34" charset="-120"/>
              </a:rPr>
              <a:t>  resource_group_name = "my-resource-group"</a:t>
            </a:r>
            <a:endParaRPr lang="en-US" sz="1200" dirty="0"/>
          </a:p>
          <a:p>
            <a:pPr indent="0" marL="0">
              <a:lnSpc>
                <a:spcPct val="112000"/>
              </a:lnSpc>
              <a:buNone/>
            </a:pPr>
            <a:r>
              <a:rPr lang="en-US" sz="1200" dirty="0">
                <a:solidFill>
                  <a:srgbClr val="79E6DC"/>
                </a:solidFill>
                <a:latin typeface="Courier New" pitchFamily="34" charset="0"/>
                <a:ea typeface="Courier New" pitchFamily="34" charset="-122"/>
                <a:cs typeface="Courier New" pitchFamily="34" charset="-120"/>
              </a:rPr>
              <a:t>  vm_size             = "Standard_B1s"</a:t>
            </a:r>
            <a:endParaRPr lang="en-US" sz="1200" dirty="0"/>
          </a:p>
          <a:p>
            <a:pPr indent="0" marL="0">
              <a:lnSpc>
                <a:spcPct val="112000"/>
              </a:lnSpc>
              <a:buNone/>
            </a:pPr>
            <a:r>
              <a:rPr lang="en-US" sz="1200" dirty="0">
                <a:solidFill>
                  <a:srgbClr val="D9A5FF"/>
                </a:solidFill>
                <a:latin typeface="Courier New" pitchFamily="34" charset="0"/>
                <a:ea typeface="Courier New" pitchFamily="34" charset="-122"/>
                <a:cs typeface="Courier New" pitchFamily="34" charset="-120"/>
              </a:rPr>
              <a:t>}</a:t>
            </a:r>
            <a:endParaRPr lang="en-US" sz="1200" dirty="0"/>
          </a:p>
        </p:txBody>
      </p:sp>
      <p:sp>
        <p:nvSpPr>
          <p:cNvPr id="17" name="Shape 15"/>
          <p:cNvSpPr/>
          <p:nvPr/>
        </p:nvSpPr>
        <p:spPr>
          <a:xfrm>
            <a:off x="548640" y="4617720"/>
            <a:ext cx="5486400" cy="1508760"/>
          </a:xfrm>
          <a:prstGeom prst="roundRect">
            <a:avLst>
              <a:gd name="adj" fmla="val 6061"/>
            </a:avLst>
          </a:prstGeom>
          <a:solidFill>
            <a:srgbClr val="EAF7EF"/>
          </a:solidFill>
          <a:ln/>
          <a:effectLst>
            <a:outerShdw sx="100000" sy="100000" kx="0" ky="0" algn="bl" rotWithShape="0" blurRad="101600" dist="38100" dir="2700000">
              <a:srgbClr val="000000">
                <a:alpha val="15000"/>
              </a:srgbClr>
            </a:outerShdw>
          </a:effectLst>
        </p:spPr>
      </p:sp>
      <p:pic>
        <p:nvPicPr>
          <p:cNvPr id="18" name="Image 0" descr="icons/check_teal.png">    </p:cNvPr>
          <p:cNvPicPr>
            <a:picLocks noChangeAspect="1"/>
          </p:cNvPicPr>
          <p:nvPr/>
        </p:nvPicPr>
        <p:blipFill>
          <a:blip r:embed="rId1"/>
          <a:stretch>
            <a:fillRect/>
          </a:stretch>
        </p:blipFill>
        <p:spPr>
          <a:xfrm>
            <a:off x="822960" y="4846320"/>
            <a:ext cx="365760" cy="365760"/>
          </a:xfrm>
          <a:prstGeom prst="rect">
            <a:avLst/>
          </a:prstGeom>
        </p:spPr>
      </p:pic>
      <p:sp>
        <p:nvSpPr>
          <p:cNvPr id="19" name="Text 16"/>
          <p:cNvSpPr/>
          <p:nvPr/>
        </p:nvSpPr>
        <p:spPr>
          <a:xfrm>
            <a:off x="1371600" y="4709160"/>
            <a:ext cx="4480560" cy="1280160"/>
          </a:xfrm>
          <a:prstGeom prst="rect">
            <a:avLst/>
          </a:prstGeom>
          <a:noFill/>
          <a:ln/>
        </p:spPr>
        <p:txBody>
          <a:bodyPr wrap="square" lIns="0" tIns="0" rIns="0" bIns="0" rtlCol="0" anchor="ctr"/>
          <a:lstStyle/>
          <a:p>
            <a:pPr indent="0" marL="0">
              <a:lnSpc>
                <a:spcPct val="125000"/>
              </a:lnSpc>
              <a:buNone/>
            </a:pPr>
            <a:r>
              <a:rPr lang="en-US" sz="1300" dirty="0">
                <a:solidFill>
                  <a:srgbClr val="241C3E"/>
                </a:solidFill>
                <a:latin typeface="Calibri" pitchFamily="34" charset="0"/>
                <a:ea typeface="Calibri" pitchFamily="34" charset="-122"/>
                <a:cs typeface="Calibri" pitchFamily="34" charset="-120"/>
              </a:rPr>
              <a:t>Same app, deployed on both AWS and Azure — if one cloud has an outage, the other keeps serving traffic.</a:t>
            </a:r>
            <a:endParaRPr lang="en-US" sz="1300" dirty="0"/>
          </a:p>
        </p:txBody>
      </p:sp>
      <p:sp>
        <p:nvSpPr>
          <p:cNvPr id="20" name="Text 17"/>
          <p:cNvSpPr/>
          <p:nvPr/>
        </p:nvSpPr>
        <p:spPr>
          <a:xfrm>
            <a:off x="457200" y="6446520"/>
            <a:ext cx="6400800" cy="274320"/>
          </a:xfrm>
          <a:prstGeom prst="rect">
            <a:avLst/>
          </a:prstGeom>
          <a:noFill/>
          <a:ln/>
        </p:spPr>
        <p:txBody>
          <a:bodyPr wrap="square" lIns="0" tIns="0" rIns="0" bIns="0" rtlCol="0" anchor="ctr"/>
          <a:lstStyle/>
          <a:p>
            <a:pPr algn="l" indent="0" marL="0">
              <a:buNone/>
            </a:pPr>
            <a:r>
              <a:rPr lang="en-US" sz="1000" dirty="0">
                <a:solidFill>
                  <a:srgbClr val="6B6483"/>
                </a:solidFill>
                <a:latin typeface="Calibri" pitchFamily="34" charset="0"/>
                <a:ea typeface="Calibri" pitchFamily="34" charset="-122"/>
                <a:cs typeface="Calibri" pitchFamily="34" charset="-120"/>
              </a:rPr>
              <a:t>Real-World Projects &amp; Hands-On Labs</a:t>
            </a:r>
            <a:endParaRPr lang="en-US" sz="1000" dirty="0"/>
          </a:p>
        </p:txBody>
      </p:sp>
      <p:sp>
        <p:nvSpPr>
          <p:cNvPr id="21" name="Text 18"/>
          <p:cNvSpPr/>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6B6483"/>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333"/>
        </a:solidFill>
      </p:bgPr>
    </p:bg>
    <p:spTree>
      <p:nvGrpSpPr>
        <p:cNvPr id="1" name=""/>
        <p:cNvGrpSpPr/>
        <p:nvPr/>
      </p:nvGrpSpPr>
      <p:grpSpPr>
        <a:xfrm>
          <a:off x="0" y="0"/>
          <a:ext cx="0" cy="0"/>
          <a:chOff x="0" y="0"/>
          <a:chExt cx="0" cy="0"/>
        </a:xfrm>
      </p:grpSpPr>
      <p:sp>
        <p:nvSpPr>
          <p:cNvPr id="2" name="Shape 0"/>
          <p:cNvSpPr/>
          <p:nvPr/>
        </p:nvSpPr>
        <p:spPr>
          <a:xfrm>
            <a:off x="-1463040" y="-1645920"/>
            <a:ext cx="4572000" cy="4572000"/>
          </a:xfrm>
          <a:prstGeom prst="ellipse">
            <a:avLst/>
          </a:prstGeom>
          <a:solidFill>
            <a:srgbClr val="4B2A82">
              <a:alpha val="45000"/>
            </a:srgbClr>
          </a:solidFill>
          <a:ln/>
        </p:spPr>
      </p:sp>
      <p:sp>
        <p:nvSpPr>
          <p:cNvPr id="3" name="Shape 1"/>
          <p:cNvSpPr/>
          <p:nvPr/>
        </p:nvSpPr>
        <p:spPr>
          <a:xfrm>
            <a:off x="9875520" y="4206240"/>
            <a:ext cx="4114800" cy="4114800"/>
          </a:xfrm>
          <a:prstGeom prst="ellipse">
            <a:avLst/>
          </a:prstGeom>
          <a:solidFill>
            <a:srgbClr val="00D9C0">
              <a:alpha val="18000"/>
            </a:srgbClr>
          </a:solidFill>
          <a:ln/>
        </p:spPr>
      </p:sp>
      <p:sp>
        <p:nvSpPr>
          <p:cNvPr id="4" name="Text 2"/>
          <p:cNvSpPr/>
          <p:nvPr/>
        </p:nvSpPr>
        <p:spPr>
          <a:xfrm>
            <a:off x="822960" y="640080"/>
            <a:ext cx="7315200" cy="365760"/>
          </a:xfrm>
          <a:prstGeom prst="rect">
            <a:avLst/>
          </a:prstGeom>
          <a:noFill/>
          <a:ln/>
        </p:spPr>
        <p:txBody>
          <a:bodyPr wrap="square" lIns="0" tIns="0" rIns="0" bIns="0" rtlCol="0" anchor="ctr"/>
          <a:lstStyle/>
          <a:p>
            <a:pPr indent="0" marL="0">
              <a:buNone/>
            </a:pPr>
            <a:r>
              <a:rPr lang="en-US" sz="1400" b="1" spc="200" kern="0" dirty="0">
                <a:solidFill>
                  <a:srgbClr val="00D9C0"/>
                </a:solidFill>
                <a:latin typeface="Calibri" pitchFamily="34" charset="0"/>
                <a:ea typeface="Calibri" pitchFamily="34" charset="-122"/>
                <a:cs typeface="Calibri" pitchFamily="34" charset="-120"/>
              </a:rPr>
              <a:t>CHAPTER 16 SUMMARY</a:t>
            </a:r>
            <a:endParaRPr lang="en-US" sz="1400" dirty="0"/>
          </a:p>
        </p:txBody>
      </p:sp>
      <p:sp>
        <p:nvSpPr>
          <p:cNvPr id="5" name="Text 3"/>
          <p:cNvSpPr/>
          <p:nvPr/>
        </p:nvSpPr>
        <p:spPr>
          <a:xfrm>
            <a:off x="777240" y="1051560"/>
            <a:ext cx="9144000" cy="1554480"/>
          </a:xfrm>
          <a:prstGeom prst="rect">
            <a:avLst/>
          </a:prstGeom>
          <a:noFill/>
          <a:ln/>
        </p:spPr>
        <p:txBody>
          <a:bodyPr wrap="square" lIns="0" tIns="0" rIns="0" bIns="0" rtlCol="0" anchor="ctr"/>
          <a:lstStyle/>
          <a:p>
            <a:pPr indent="0" marL="0">
              <a:lnSpc>
                <a:spcPct val="105000"/>
              </a:lnSpc>
              <a:buNone/>
            </a:pPr>
            <a:r>
              <a:rPr lang="en-US" sz="3400" b="1" dirty="0">
                <a:solidFill>
                  <a:srgbClr val="FFFFFF"/>
                </a:solidFill>
                <a:latin typeface="Cambria" pitchFamily="34" charset="0"/>
                <a:ea typeface="Cambria" pitchFamily="34" charset="-122"/>
                <a:cs typeface="Cambria" pitchFamily="34" charset="-120"/>
              </a:rPr>
              <a:t>Four projects,</a:t>
            </a:r>
            <a:endParaRPr lang="en-US" sz="3400" dirty="0"/>
          </a:p>
          <a:p>
            <a:pPr indent="0" marL="0">
              <a:lnSpc>
                <a:spcPct val="105000"/>
              </a:lnSpc>
              <a:buNone/>
            </a:pPr>
            <a:r>
              <a:rPr lang="en-US" sz="3400" b="1" dirty="0">
                <a:solidFill>
                  <a:srgbClr val="FFFFFF"/>
                </a:solidFill>
                <a:latin typeface="Cambria" pitchFamily="34" charset="0"/>
                <a:ea typeface="Cambria" pitchFamily="34" charset="-122"/>
                <a:cs typeface="Cambria" pitchFamily="34" charset="-120"/>
              </a:rPr>
              <a:t>one consistent workflow</a:t>
            </a:r>
            <a:endParaRPr lang="en-US" sz="3400" dirty="0"/>
          </a:p>
        </p:txBody>
      </p:sp>
      <p:sp>
        <p:nvSpPr>
          <p:cNvPr id="6" name="Shape 4"/>
          <p:cNvSpPr/>
          <p:nvPr/>
        </p:nvSpPr>
        <p:spPr>
          <a:xfrm>
            <a:off x="777240" y="2788920"/>
            <a:ext cx="5349240" cy="1508760"/>
          </a:xfrm>
          <a:prstGeom prst="roundRect">
            <a:avLst>
              <a:gd name="adj" fmla="val 6061"/>
            </a:avLst>
          </a:prstGeom>
          <a:solidFill>
            <a:srgbClr val="4B2A82">
              <a:alpha val="65000"/>
            </a:srgbClr>
          </a:solidFill>
          <a:ln w="12700">
            <a:solidFill>
              <a:srgbClr val="7B42BC"/>
            </a:solidFill>
            <a:prstDash val="solid"/>
          </a:ln>
        </p:spPr>
      </p:sp>
      <p:sp>
        <p:nvSpPr>
          <p:cNvPr id="7" name="Shape 5"/>
          <p:cNvSpPr/>
          <p:nvPr/>
        </p:nvSpPr>
        <p:spPr>
          <a:xfrm>
            <a:off x="1005840" y="3017520"/>
            <a:ext cx="502920" cy="502920"/>
          </a:xfrm>
          <a:prstGeom prst="ellipse">
            <a:avLst/>
          </a:prstGeom>
          <a:solidFill>
            <a:srgbClr val="00D9C0"/>
          </a:solidFill>
          <a:ln/>
        </p:spPr>
      </p:sp>
      <p:pic>
        <p:nvPicPr>
          <p:cNvPr id="8" name="Image 0" descr="icons/globe_white.png">    </p:cNvPr>
          <p:cNvPicPr>
            <a:picLocks noChangeAspect="1"/>
          </p:cNvPicPr>
          <p:nvPr/>
        </p:nvPicPr>
        <p:blipFill>
          <a:blip r:embed="rId1"/>
          <a:stretch>
            <a:fillRect/>
          </a:stretch>
        </p:blipFill>
        <p:spPr>
          <a:xfrm>
            <a:off x="1143000" y="3154680"/>
            <a:ext cx="237744" cy="237744"/>
          </a:xfrm>
          <a:prstGeom prst="rect">
            <a:avLst/>
          </a:prstGeom>
        </p:spPr>
      </p:pic>
      <p:sp>
        <p:nvSpPr>
          <p:cNvPr id="9" name="Text 6"/>
          <p:cNvSpPr/>
          <p:nvPr/>
        </p:nvSpPr>
        <p:spPr>
          <a:xfrm>
            <a:off x="1691640" y="2971800"/>
            <a:ext cx="425196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HA Web App</a:t>
            </a:r>
            <a:endParaRPr lang="en-US" sz="1600" dirty="0"/>
          </a:p>
        </p:txBody>
      </p:sp>
      <p:sp>
        <p:nvSpPr>
          <p:cNvPr id="10" name="Text 7"/>
          <p:cNvSpPr/>
          <p:nvPr/>
        </p:nvSpPr>
        <p:spPr>
          <a:xfrm>
            <a:off x="1691640" y="3355848"/>
            <a:ext cx="4251960" cy="822960"/>
          </a:xfrm>
          <a:prstGeom prst="rect">
            <a:avLst/>
          </a:prstGeom>
          <a:noFill/>
          <a:ln/>
        </p:spPr>
        <p:txBody>
          <a:bodyPr wrap="square" lIns="0" tIns="0" rIns="0" bIns="0" rtlCol="0" anchor="ctr"/>
          <a:lstStyle/>
          <a:p>
            <a:pPr indent="0" marL="0">
              <a:lnSpc>
                <a:spcPct val="120000"/>
              </a:lnSpc>
              <a:buNone/>
            </a:pPr>
            <a:r>
              <a:rPr lang="en-US" sz="1250" dirty="0">
                <a:solidFill>
                  <a:srgbClr val="C9C2E0"/>
                </a:solidFill>
                <a:latin typeface="Calibri" pitchFamily="34" charset="0"/>
                <a:ea typeface="Calibri" pitchFamily="34" charset="-122"/>
                <a:cs typeface="Calibri" pitchFamily="34" charset="-120"/>
              </a:rPr>
              <a:t>EC2 + Auto Scaling + ALB + RDS for a resilient AWS stack.</a:t>
            </a:r>
            <a:endParaRPr lang="en-US" sz="1250" dirty="0"/>
          </a:p>
        </p:txBody>
      </p:sp>
      <p:sp>
        <p:nvSpPr>
          <p:cNvPr id="11" name="Shape 8"/>
          <p:cNvSpPr/>
          <p:nvPr/>
        </p:nvSpPr>
        <p:spPr>
          <a:xfrm>
            <a:off x="6675120" y="2788920"/>
            <a:ext cx="5349240" cy="1508760"/>
          </a:xfrm>
          <a:prstGeom prst="roundRect">
            <a:avLst>
              <a:gd name="adj" fmla="val 6061"/>
            </a:avLst>
          </a:prstGeom>
          <a:solidFill>
            <a:srgbClr val="4B2A82">
              <a:alpha val="65000"/>
            </a:srgbClr>
          </a:solidFill>
          <a:ln w="12700">
            <a:solidFill>
              <a:srgbClr val="7B42BC"/>
            </a:solidFill>
            <a:prstDash val="solid"/>
          </a:ln>
        </p:spPr>
      </p:sp>
      <p:sp>
        <p:nvSpPr>
          <p:cNvPr id="12" name="Shape 9"/>
          <p:cNvSpPr/>
          <p:nvPr/>
        </p:nvSpPr>
        <p:spPr>
          <a:xfrm>
            <a:off x="6903720" y="3017520"/>
            <a:ext cx="502920" cy="502920"/>
          </a:xfrm>
          <a:prstGeom prst="ellipse">
            <a:avLst/>
          </a:prstGeom>
          <a:solidFill>
            <a:srgbClr val="00D9C0"/>
          </a:solidFill>
          <a:ln/>
        </p:spPr>
      </p:sp>
      <p:pic>
        <p:nvPicPr>
          <p:cNvPr id="13" name="Image 1" descr="icons/wheel_white.png">    </p:cNvPr>
          <p:cNvPicPr>
            <a:picLocks noChangeAspect="1"/>
          </p:cNvPicPr>
          <p:nvPr/>
        </p:nvPicPr>
        <p:blipFill>
          <a:blip r:embed="rId2"/>
          <a:stretch>
            <a:fillRect/>
          </a:stretch>
        </p:blipFill>
        <p:spPr>
          <a:xfrm>
            <a:off x="7040880" y="3154680"/>
            <a:ext cx="237744" cy="237744"/>
          </a:xfrm>
          <a:prstGeom prst="rect">
            <a:avLst/>
          </a:prstGeom>
        </p:spPr>
      </p:pic>
      <p:sp>
        <p:nvSpPr>
          <p:cNvPr id="14" name="Text 10"/>
          <p:cNvSpPr/>
          <p:nvPr/>
        </p:nvSpPr>
        <p:spPr>
          <a:xfrm>
            <a:off x="7589520" y="2971800"/>
            <a:ext cx="425196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Kubernetes Cluster</a:t>
            </a:r>
            <a:endParaRPr lang="en-US" sz="1600" dirty="0"/>
          </a:p>
        </p:txBody>
      </p:sp>
      <p:sp>
        <p:nvSpPr>
          <p:cNvPr id="15" name="Text 11"/>
          <p:cNvSpPr/>
          <p:nvPr/>
        </p:nvSpPr>
        <p:spPr>
          <a:xfrm>
            <a:off x="7589520" y="3355848"/>
            <a:ext cx="4251960" cy="822960"/>
          </a:xfrm>
          <a:prstGeom prst="rect">
            <a:avLst/>
          </a:prstGeom>
          <a:noFill/>
          <a:ln/>
        </p:spPr>
        <p:txBody>
          <a:bodyPr wrap="square" lIns="0" tIns="0" rIns="0" bIns="0" rtlCol="0" anchor="ctr"/>
          <a:lstStyle/>
          <a:p>
            <a:pPr indent="0" marL="0">
              <a:lnSpc>
                <a:spcPct val="120000"/>
              </a:lnSpc>
              <a:buNone/>
            </a:pPr>
            <a:r>
              <a:rPr lang="en-US" sz="1250" dirty="0">
                <a:solidFill>
                  <a:srgbClr val="C9C2E0"/>
                </a:solidFill>
                <a:latin typeface="Calibri" pitchFamily="34" charset="0"/>
                <a:ea typeface="Calibri" pitchFamily="34" charset="-122"/>
                <a:cs typeface="Calibri" pitchFamily="34" charset="-120"/>
              </a:rPr>
              <a:t>Provisioned EKS and deployed Nginx with Terraform.</a:t>
            </a:r>
            <a:endParaRPr lang="en-US" sz="1250" dirty="0"/>
          </a:p>
        </p:txBody>
      </p:sp>
      <p:sp>
        <p:nvSpPr>
          <p:cNvPr id="16" name="Shape 12"/>
          <p:cNvSpPr/>
          <p:nvPr/>
        </p:nvSpPr>
        <p:spPr>
          <a:xfrm>
            <a:off x="777240" y="4572000"/>
            <a:ext cx="5349240" cy="1508760"/>
          </a:xfrm>
          <a:prstGeom prst="roundRect">
            <a:avLst>
              <a:gd name="adj" fmla="val 6061"/>
            </a:avLst>
          </a:prstGeom>
          <a:solidFill>
            <a:srgbClr val="4B2A82">
              <a:alpha val="65000"/>
            </a:srgbClr>
          </a:solidFill>
          <a:ln w="12700">
            <a:solidFill>
              <a:srgbClr val="7B42BC"/>
            </a:solidFill>
            <a:prstDash val="solid"/>
          </a:ln>
        </p:spPr>
      </p:sp>
      <p:sp>
        <p:nvSpPr>
          <p:cNvPr id="17" name="Shape 13"/>
          <p:cNvSpPr/>
          <p:nvPr/>
        </p:nvSpPr>
        <p:spPr>
          <a:xfrm>
            <a:off x="1005840" y="4800600"/>
            <a:ext cx="502920" cy="502920"/>
          </a:xfrm>
          <a:prstGeom prst="ellipse">
            <a:avLst/>
          </a:prstGeom>
          <a:solidFill>
            <a:srgbClr val="00D9C0"/>
          </a:solidFill>
          <a:ln/>
        </p:spPr>
      </p:sp>
      <p:pic>
        <p:nvPicPr>
          <p:cNvPr id="18" name="Image 2" descr="icons/robot_white.png">    </p:cNvPr>
          <p:cNvPicPr>
            <a:picLocks noChangeAspect="1"/>
          </p:cNvPicPr>
          <p:nvPr/>
        </p:nvPicPr>
        <p:blipFill>
          <a:blip r:embed="rId3"/>
          <a:stretch>
            <a:fillRect/>
          </a:stretch>
        </p:blipFill>
        <p:spPr>
          <a:xfrm>
            <a:off x="1143000" y="4937760"/>
            <a:ext cx="237744" cy="237744"/>
          </a:xfrm>
          <a:prstGeom prst="rect">
            <a:avLst/>
          </a:prstGeom>
        </p:spPr>
      </p:pic>
      <p:sp>
        <p:nvSpPr>
          <p:cNvPr id="19" name="Text 14"/>
          <p:cNvSpPr/>
          <p:nvPr/>
        </p:nvSpPr>
        <p:spPr>
          <a:xfrm>
            <a:off x="1691640" y="4754880"/>
            <a:ext cx="425196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CI/CD Pipeline</a:t>
            </a:r>
            <a:endParaRPr lang="en-US" sz="1600" dirty="0"/>
          </a:p>
        </p:txBody>
      </p:sp>
      <p:sp>
        <p:nvSpPr>
          <p:cNvPr id="20" name="Text 15"/>
          <p:cNvSpPr/>
          <p:nvPr/>
        </p:nvSpPr>
        <p:spPr>
          <a:xfrm>
            <a:off x="1691640" y="5138928"/>
            <a:ext cx="4251960" cy="822960"/>
          </a:xfrm>
          <a:prstGeom prst="rect">
            <a:avLst/>
          </a:prstGeom>
          <a:noFill/>
          <a:ln/>
        </p:spPr>
        <p:txBody>
          <a:bodyPr wrap="square" lIns="0" tIns="0" rIns="0" bIns="0" rtlCol="0" anchor="ctr"/>
          <a:lstStyle/>
          <a:p>
            <a:pPr indent="0" marL="0">
              <a:lnSpc>
                <a:spcPct val="120000"/>
              </a:lnSpc>
              <a:buNone/>
            </a:pPr>
            <a:r>
              <a:rPr lang="en-US" sz="1250" dirty="0">
                <a:solidFill>
                  <a:srgbClr val="C9C2E0"/>
                </a:solidFill>
                <a:latin typeface="Calibri" pitchFamily="34" charset="0"/>
                <a:ea typeface="Calibri" pitchFamily="34" charset="-122"/>
                <a:cs typeface="Calibri" pitchFamily="34" charset="-120"/>
              </a:rPr>
              <a:t>GitLab automates terraform plan and apply on every merge.</a:t>
            </a:r>
            <a:endParaRPr lang="en-US" sz="1250" dirty="0"/>
          </a:p>
        </p:txBody>
      </p:sp>
      <p:sp>
        <p:nvSpPr>
          <p:cNvPr id="21" name="Shape 16"/>
          <p:cNvSpPr/>
          <p:nvPr/>
        </p:nvSpPr>
        <p:spPr>
          <a:xfrm>
            <a:off x="6675120" y="4572000"/>
            <a:ext cx="5349240" cy="1508760"/>
          </a:xfrm>
          <a:prstGeom prst="roundRect">
            <a:avLst>
              <a:gd name="adj" fmla="val 6061"/>
            </a:avLst>
          </a:prstGeom>
          <a:solidFill>
            <a:srgbClr val="4B2A82">
              <a:alpha val="65000"/>
            </a:srgbClr>
          </a:solidFill>
          <a:ln w="12700">
            <a:solidFill>
              <a:srgbClr val="7B42BC"/>
            </a:solidFill>
            <a:prstDash val="solid"/>
          </a:ln>
        </p:spPr>
      </p:sp>
      <p:sp>
        <p:nvSpPr>
          <p:cNvPr id="22" name="Shape 17"/>
          <p:cNvSpPr/>
          <p:nvPr/>
        </p:nvSpPr>
        <p:spPr>
          <a:xfrm>
            <a:off x="6903720" y="4800600"/>
            <a:ext cx="502920" cy="502920"/>
          </a:xfrm>
          <a:prstGeom prst="ellipse">
            <a:avLst/>
          </a:prstGeom>
          <a:solidFill>
            <a:srgbClr val="00D9C0"/>
          </a:solidFill>
          <a:ln/>
        </p:spPr>
      </p:sp>
      <p:pic>
        <p:nvPicPr>
          <p:cNvPr id="23" name="Image 3" descr="icons/cubes_white.png">    </p:cNvPr>
          <p:cNvPicPr>
            <a:picLocks noChangeAspect="1"/>
          </p:cNvPicPr>
          <p:nvPr/>
        </p:nvPicPr>
        <p:blipFill>
          <a:blip r:embed="rId4"/>
          <a:stretch>
            <a:fillRect/>
          </a:stretch>
        </p:blipFill>
        <p:spPr>
          <a:xfrm>
            <a:off x="7040880" y="4937760"/>
            <a:ext cx="237744" cy="237744"/>
          </a:xfrm>
          <a:prstGeom prst="rect">
            <a:avLst/>
          </a:prstGeom>
        </p:spPr>
      </p:pic>
      <p:sp>
        <p:nvSpPr>
          <p:cNvPr id="24" name="Text 18"/>
          <p:cNvSpPr/>
          <p:nvPr/>
        </p:nvSpPr>
        <p:spPr>
          <a:xfrm>
            <a:off x="7589520" y="4754880"/>
            <a:ext cx="425196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Multi-Cloud</a:t>
            </a:r>
            <a:endParaRPr lang="en-US" sz="1600" dirty="0"/>
          </a:p>
        </p:txBody>
      </p:sp>
      <p:sp>
        <p:nvSpPr>
          <p:cNvPr id="25" name="Text 19"/>
          <p:cNvSpPr/>
          <p:nvPr/>
        </p:nvSpPr>
        <p:spPr>
          <a:xfrm>
            <a:off x="7589520" y="5138928"/>
            <a:ext cx="4251960" cy="822960"/>
          </a:xfrm>
          <a:prstGeom prst="rect">
            <a:avLst/>
          </a:prstGeom>
          <a:noFill/>
          <a:ln/>
        </p:spPr>
        <p:txBody>
          <a:bodyPr wrap="square" lIns="0" tIns="0" rIns="0" bIns="0" rtlCol="0" anchor="ctr"/>
          <a:lstStyle/>
          <a:p>
            <a:pPr indent="0" marL="0">
              <a:lnSpc>
                <a:spcPct val="120000"/>
              </a:lnSpc>
              <a:buNone/>
            </a:pPr>
            <a:r>
              <a:rPr lang="en-US" sz="1250" dirty="0">
                <a:solidFill>
                  <a:srgbClr val="C9C2E0"/>
                </a:solidFill>
                <a:latin typeface="Calibri" pitchFamily="34" charset="0"/>
                <a:ea typeface="Calibri" pitchFamily="34" charset="-122"/>
                <a:cs typeface="Calibri" pitchFamily="34" charset="-120"/>
              </a:rPr>
              <a:t>Identical infrastructure across AWS &amp; Azure for failover.</a:t>
            </a:r>
            <a:endParaRPr lang="en-US" sz="1250" dirty="0"/>
          </a:p>
        </p:txBody>
      </p:sp>
      <p:sp>
        <p:nvSpPr>
          <p:cNvPr id="26" name="Text 20"/>
          <p:cNvSpPr/>
          <p:nvPr/>
        </p:nvSpPr>
        <p:spPr>
          <a:xfrm>
            <a:off x="457200" y="6446520"/>
            <a:ext cx="6400800" cy="274320"/>
          </a:xfrm>
          <a:prstGeom prst="rect">
            <a:avLst/>
          </a:prstGeom>
          <a:noFill/>
          <a:ln/>
        </p:spPr>
        <p:txBody>
          <a:bodyPr wrap="square" lIns="0" tIns="0" rIns="0" bIns="0" rtlCol="0" anchor="ctr"/>
          <a:lstStyle/>
          <a:p>
            <a:pPr algn="l" indent="0" marL="0">
              <a:buNone/>
            </a:pPr>
            <a:r>
              <a:rPr lang="en-US" sz="1000" dirty="0">
                <a:solidFill>
                  <a:srgbClr val="6B6483"/>
                </a:solidFill>
                <a:latin typeface="Calibri" pitchFamily="34" charset="0"/>
                <a:ea typeface="Calibri" pitchFamily="34" charset="-122"/>
                <a:cs typeface="Calibri" pitchFamily="34" charset="-120"/>
              </a:rPr>
              <a:t>Real-World Projects &amp; Hands-On Labs</a:t>
            </a:r>
            <a:endParaRPr lang="en-US" sz="1000" dirty="0"/>
          </a:p>
        </p:txBody>
      </p:sp>
      <p:sp>
        <p:nvSpPr>
          <p:cNvPr id="27" name="Text 21"/>
          <p:cNvSpPr/>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6B6483"/>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Real-World Projects &amp; Hands-On Labs</dc:title>
  <dc:subject>PptxGenJS Presentation</dc:subject>
  <dc:creator>Terraform Training</dc:creator>
  <cp:lastModifiedBy>Terraform Training</cp:lastModifiedBy>
  <cp:revision>1</cp:revision>
  <dcterms:created xsi:type="dcterms:W3CDTF">2026-07-07T20:04:50Z</dcterms:created>
  <dcterms:modified xsi:type="dcterms:W3CDTF">2026-07-07T20:04:50Z</dcterms:modified>
</cp:coreProperties>
</file>