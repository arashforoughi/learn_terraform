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737360"/>
            <a:ext cx="5029200" cy="5029200"/>
          </a:xfrm>
          <a:prstGeom prst="ellipse">
            <a:avLst/>
          </a:prstGeom>
          <a:solidFill>
            <a:srgbClr val="33415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4480560"/>
            <a:ext cx="4114800" cy="4114800"/>
          </a:xfrm>
          <a:prstGeom prst="ellipse">
            <a:avLst/>
          </a:prstGeom>
          <a:solidFill>
            <a:srgbClr val="FF6B4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 ·  CAPSTONE LAB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AWS Infrastructure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Terraform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scalable, production-style stack: networking, compute, load balancing, database, and DNS — all as code.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 ·   Bastion   ·   ASG   ·   ALB   ·   RDS   ·   S3   ·   Route 53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— Full AWS Infrastructure with Terraform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Company Needs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scalable AWS infrastructure built entirely with Terraform.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EEF1F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276856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788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with Public &amp; Private Subnets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337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network foundation for the whole stack.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25112" y="19202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53712" y="2148840"/>
            <a:ext cx="502920" cy="502920"/>
          </a:xfrm>
          <a:prstGeom prst="ellipse">
            <a:avLst/>
          </a:prstGeom>
          <a:solidFill>
            <a:srgbClr val="EEF1F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27685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3712" y="2788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 for SSH Access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53712" y="3337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controlled entry point into private resources.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01584" y="19202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30184" y="2148840"/>
            <a:ext cx="502920" cy="502920"/>
          </a:xfrm>
          <a:prstGeom prst="ellipse">
            <a:avLst/>
          </a:prstGeom>
          <a:solidFill>
            <a:srgbClr val="EEF1F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276856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30184" y="2788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for App Servers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30184" y="3337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that grows and shrinks with demand.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08736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315968"/>
            <a:ext cx="502920" cy="502920"/>
          </a:xfrm>
          <a:prstGeom prst="ellipse">
            <a:avLst/>
          </a:prstGeom>
          <a:solidFill>
            <a:srgbClr val="EEF1F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443984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" y="49560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77240" y="55046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traffic for high availability.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25112" y="408736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53712" y="4315968"/>
            <a:ext cx="502920" cy="502920"/>
          </a:xfrm>
          <a:prstGeom prst="ellipse">
            <a:avLst/>
          </a:prstGeom>
          <a:solidFill>
            <a:srgbClr val="EEF1F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443984"/>
            <a:ext cx="246888" cy="2468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53712" y="49560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(MySQL)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53712" y="55046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durable database storage.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101584" y="408736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30184" y="4315968"/>
            <a:ext cx="502920" cy="502920"/>
          </a:xfrm>
          <a:prstGeom prst="ellipse">
            <a:avLst/>
          </a:prstGeom>
          <a:solidFill>
            <a:srgbClr val="EEF1F5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443984"/>
            <a:ext cx="246888" cy="2468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330184" y="49560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Custom Domain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8330184" y="55046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DNS name resolving to the app.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— Full AWS Infrastructure with Terraform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234440" cy="777240"/>
          </a:xfrm>
          <a:prstGeom prst="ellipse">
            <a:avLst/>
          </a:prstGeom>
          <a:solidFill>
            <a:srgbClr val="1F293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057400" y="1801368"/>
            <a:ext cx="502920" cy="0"/>
          </a:xfrm>
          <a:prstGeom prst="line">
            <a:avLst/>
          </a:prstGeom>
          <a:noFill/>
          <a:ln w="25400">
            <a:solidFill>
              <a:srgbClr val="9AA6B2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560320" y="15087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6B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16276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150876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114800" y="1801368"/>
            <a:ext cx="457200" cy="0"/>
          </a:xfrm>
          <a:prstGeom prst="line">
            <a:avLst/>
          </a:prstGeom>
          <a:noFill/>
          <a:ln w="25400">
            <a:solidFill>
              <a:srgbClr val="9AA6B2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572000" y="14630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9105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93792" y="146304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9784080" y="14630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2" y="159105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378440" y="14630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97840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822960" y="2514600"/>
            <a:ext cx="10515600" cy="3977640"/>
          </a:xfrm>
          <a:prstGeom prst="roundRect">
            <a:avLst>
              <a:gd name="adj" fmla="val 2759"/>
            </a:avLst>
          </a:prstGeom>
          <a:solidFill>
            <a:srgbClr val="EEF1F5"/>
          </a:solidFill>
          <a:ln w="15875">
            <a:solidFill>
              <a:srgbClr val="9AA6B2"/>
            </a:solidFill>
            <a:prstDash val="dash"/>
          </a:ln>
        </p:spPr>
      </p:sp>
      <p:sp>
        <p:nvSpPr>
          <p:cNvPr id="22" name="Text 16"/>
          <p:cNvSpPr/>
          <p:nvPr/>
        </p:nvSpPr>
        <p:spPr>
          <a:xfrm>
            <a:off x="1051560" y="2633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— 10.0.0.0/16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0" y="2148840"/>
            <a:ext cx="0" cy="502920"/>
          </a:xfrm>
          <a:prstGeom prst="line">
            <a:avLst/>
          </a:prstGeom>
          <a:noFill/>
          <a:ln w="25400">
            <a:solidFill>
              <a:srgbClr val="9AA6B2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1097280" y="301752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154680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45920" y="31455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1325880" y="3566160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EEF1F5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370332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828800" y="3566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3429000" y="356616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EEF1F5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70332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931920" y="35661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target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5806440" y="3931920"/>
            <a:ext cx="502920" cy="0"/>
          </a:xfrm>
          <a:prstGeom prst="line">
            <a:avLst/>
          </a:prstGeom>
          <a:noFill/>
          <a:ln w="25400">
            <a:solidFill>
              <a:srgbClr val="9AA6B2"/>
            </a:solidFill>
            <a:prstDash val="dash"/>
          </a:ln>
        </p:spPr>
      </p:sp>
      <p:sp>
        <p:nvSpPr>
          <p:cNvPr id="34" name="Shape 25"/>
          <p:cNvSpPr/>
          <p:nvPr/>
        </p:nvSpPr>
        <p:spPr>
          <a:xfrm>
            <a:off x="6309360" y="301752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154680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858000" y="31455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250" dirty="0"/>
          </a:p>
        </p:txBody>
      </p:sp>
      <p:sp>
        <p:nvSpPr>
          <p:cNvPr id="37" name="Shape 27"/>
          <p:cNvSpPr/>
          <p:nvPr/>
        </p:nvSpPr>
        <p:spPr>
          <a:xfrm>
            <a:off x="6537960" y="3566160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EEF1F5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3703320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08660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  ·  min 2 / desired 3 / max 5</a:t>
            </a:r>
            <a:endParaRPr lang="en-US" sz="1050" dirty="0"/>
          </a:p>
        </p:txBody>
      </p:sp>
      <p:sp>
        <p:nvSpPr>
          <p:cNvPr id="40" name="Shape 29"/>
          <p:cNvSpPr/>
          <p:nvPr/>
        </p:nvSpPr>
        <p:spPr>
          <a:xfrm>
            <a:off x="8641080" y="4434840"/>
            <a:ext cx="0" cy="320040"/>
          </a:xfrm>
          <a:prstGeom prst="line">
            <a:avLst/>
          </a:prstGeom>
          <a:noFill/>
          <a:ln w="25400">
            <a:solidFill>
              <a:srgbClr val="9AA6B2"/>
            </a:solidFill>
            <a:prstDash val="dash"/>
          </a:ln>
        </p:spPr>
      </p:sp>
      <p:sp>
        <p:nvSpPr>
          <p:cNvPr id="41" name="Shape 30"/>
          <p:cNvSpPr/>
          <p:nvPr/>
        </p:nvSpPr>
        <p:spPr>
          <a:xfrm>
            <a:off x="6309360" y="4754880"/>
            <a:ext cx="4709160" cy="1508760"/>
          </a:xfrm>
          <a:prstGeom prst="roundRect">
            <a:avLst>
              <a:gd name="adj" fmla="val 6061"/>
            </a:avLst>
          </a:prstGeom>
          <a:solidFill>
            <a:srgbClr val="1F2937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4956048"/>
            <a:ext cx="384048" cy="38404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40880" y="4937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(MySQL)</a:t>
            </a:r>
            <a:endParaRPr lang="en-US" sz="1350" dirty="0"/>
          </a:p>
        </p:txBody>
      </p:sp>
      <p:sp>
        <p:nvSpPr>
          <p:cNvPr id="44" name="Text 32"/>
          <p:cNvSpPr/>
          <p:nvPr/>
        </p:nvSpPr>
        <p:spPr>
          <a:xfrm>
            <a:off x="7040880" y="5303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only — no direct internet access</a:t>
            </a:r>
            <a:endParaRPr lang="en-US" sz="1050" dirty="0"/>
          </a:p>
        </p:txBody>
      </p:sp>
      <p:sp>
        <p:nvSpPr>
          <p:cNvPr id="45" name="Text 33"/>
          <p:cNvSpPr/>
          <p:nvPr/>
        </p:nvSpPr>
        <p:spPr>
          <a:xfrm>
            <a:off x="7040880" y="5623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only from the ASG instances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1097280" y="4754880"/>
            <a:ext cx="4709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8448" y="4937760"/>
            <a:ext cx="365760" cy="36576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1783080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Bastion Matters</a:t>
            </a:r>
            <a:endParaRPr lang="en-US" sz="1300" dirty="0"/>
          </a:p>
        </p:txBody>
      </p:sp>
      <p:sp>
        <p:nvSpPr>
          <p:cNvPr id="49" name="Text 36"/>
          <p:cNvSpPr/>
          <p:nvPr/>
        </p:nvSpPr>
        <p:spPr>
          <a:xfrm>
            <a:off x="1298448" y="534924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SSH into the bastion (public subnet), then hop to private instances — no app server is ever exposed directly to the internet.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— Full AWS Infrastructure with Terraform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VPC with Public &amp; Private Subnets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official terraform-aws-modules/vpc/aws module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63093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{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"terraform-aws-modules/vpc/aws"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 = "10.0.0.0/16"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enable_dns_hostnames = true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enable_dns_support   = true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35240" y="182880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299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1993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 module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63840" y="242316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a battle-tested module instead of hand-rolling subnets and route tables.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313944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3406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21040" y="3304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enabled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863840" y="373380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enable_dns_hostnames / enable_dns_support let instances resolve friendly hostnames.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635240" y="445008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512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4614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863840" y="504444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VPC with networking ready for every resource that follows.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— Full AWS Infrastructure with Terraform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 Bastion Host for SSH Access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controlled entry point into the private network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63093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"bastion" {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"ami-123456"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= module.vpc.public_subnets[0]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key_name  = var.ssh_key_name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635240" y="182880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299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1993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public_subnets[0]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63840" y="242316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public subnet so it's reachable from the internet.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313944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3406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21040" y="3304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key_name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863840" y="373380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pair — no passwords, key-based access only.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635240" y="445008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512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4614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863840" y="504444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into the private network goes through this one hardened host.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— Full AWS Infrastructure with Terraform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 Auto Scaling Group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servers that scale with demand, in the private subnets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63093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"aws_autoscaling_group" "web_asg" {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desired_capacity = 3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max_size          = 5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min_size          = 2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vpc_zone_identifier = module.vpc.private_subnets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635240" y="182880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299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1993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2 / desired 3 / max 5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63840" y="242316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at least 2 instances; scales up to 5 under load.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313944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3406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21040" y="3304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private_subnets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863840" y="373380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servers never get a public IP — traffic only arrives via the ALB.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635240" y="445008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512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4614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 capacity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863840" y="504444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are added or removed automatically as demand changes.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— Full AWS Infrastructure with Terraform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an Application Load Balancer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incoming traffic across the Auto Scaling Group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63093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"aws_lb" "app_lb" {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"app-lb"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internal           = false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load_balancer_type = "application"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35240" y="182880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299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1993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= false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63840" y="242316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ALB is internet-facing — it's the front door for users.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313944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3406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21040" y="3304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the ASG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863840" y="373380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each request to a healthy instance in the private subnets.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635240" y="445008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512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4614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availability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863840" y="504444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instance fails, traffic shifts to the healthy ones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— Full AWS Infrastructure with Terraform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Route 53 for a Custom Domain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friendly domain name to the load balancer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93392"/>
            <a:ext cx="63093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"aws_route53_record" "app_dns" 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zone_id = var.zone_id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= "app.example.com"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= "A"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alias {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              = aws_lb.app_lb.dns_name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evaluate_target_health = true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635240" y="182880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0299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1993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record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63840" y="242316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directly at the ALB's DNS name — no static IP to manage.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313944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3406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21040" y="3304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evaluate_target_health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863840" y="373380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stops routing to the ALB if it becomes unhealthy.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635240" y="4450080"/>
            <a:ext cx="3977640" cy="117348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512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4614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863840" y="5044440"/>
            <a:ext cx="3520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visit app.example.com instead of a raw AWS hostname.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— Full AWS Infrastructure with Terraform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Everything Is Running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checks to validate the stack end-to-end.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22860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130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Load Balancer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08760" y="24963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ALB exists and is active.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94960" y="2194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2359152"/>
            <a:ext cx="4937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elbv2 describe-load-balancers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4747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7947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08760" y="36393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Auto Scaling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508760" y="400507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ASG is running within its min/max bounds.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394960" y="37033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23560" y="3867912"/>
            <a:ext cx="4937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autoscaling describe-auto-scaling-groups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48640" y="498348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937">
                <a:alpha val="1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30352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08760" y="5148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Bastion SSH Access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1508760" y="55138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entry point into the private network works.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394960" y="52120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623560" y="5376672"/>
            <a:ext cx="4937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-i my-key.pem ec2-user@&lt;bastion-host-ip&gt;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-1737360"/>
            <a:ext cx="4663440" cy="4663440"/>
          </a:xfrm>
          <a:prstGeom prst="ellipse">
            <a:avLst/>
          </a:prstGeom>
          <a:solidFill>
            <a:srgbClr val="334155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846320"/>
            <a:ext cx="3931920" cy="3931920"/>
          </a:xfrm>
          <a:prstGeom prst="ellipse">
            <a:avLst/>
          </a:prstGeom>
          <a:solidFill>
            <a:srgbClr val="FF6B4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Stack, as Code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3A465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395728"/>
            <a:ext cx="594360" cy="594360"/>
          </a:xfrm>
          <a:prstGeom prst="ellipse">
            <a:avLst/>
          </a:prstGeom>
          <a:solidFill>
            <a:srgbClr val="1F293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3288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2860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Network Security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65960" y="26974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for the bastion &amp; ALB; private subnets for app servers and RDS.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52044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3A4658"/>
          </a:solidFill>
          <a:ln/>
        </p:spPr>
      </p:sp>
      <p:sp>
        <p:nvSpPr>
          <p:cNvPr id="12" name="Shape 9"/>
          <p:cNvSpPr/>
          <p:nvPr/>
        </p:nvSpPr>
        <p:spPr>
          <a:xfrm>
            <a:off x="1097280" y="3813048"/>
            <a:ext cx="594360" cy="594360"/>
          </a:xfrm>
          <a:prstGeom prst="ellipse">
            <a:avLst/>
          </a:prstGeom>
          <a:solidFill>
            <a:srgbClr val="1F293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95020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5960" y="37033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&amp; Highly Available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965960" y="411480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ASG scales compute, the ALB spreads traffic and absorbs failures.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3A4658"/>
          </a:solidFill>
          <a:ln/>
        </p:spPr>
      </p:sp>
      <p:sp>
        <p:nvSpPr>
          <p:cNvPr id="17" name="Shape 13"/>
          <p:cNvSpPr/>
          <p:nvPr/>
        </p:nvSpPr>
        <p:spPr>
          <a:xfrm>
            <a:off x="1097280" y="5230368"/>
            <a:ext cx="594360" cy="594360"/>
          </a:xfrm>
          <a:prstGeom prst="ellipse">
            <a:avLst/>
          </a:prstGeom>
          <a:solidFill>
            <a:srgbClr val="1F293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536752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512064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Domain, Fully Wired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965960" y="553212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ties a custom domain straight to the load balancer.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Project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5: Full AWS Infrastructure with Terraform</dc:title>
  <dc:subject>PptxGenJS Presentation</dc:subject>
  <dc:creator>Terraform Training</dc:creator>
  <cp:lastModifiedBy>Terraform Training</cp:lastModifiedBy>
  <cp:revision>1</cp:revision>
  <dcterms:created xsi:type="dcterms:W3CDTF">2026-07-07T20:12:39Z</dcterms:created>
  <dcterms:modified xsi:type="dcterms:W3CDTF">2026-07-07T20:12:39Z</dcterms:modified>
</cp:coreProperties>
</file>