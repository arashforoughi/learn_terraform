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group. Set the stage: this session covers what IaC is, why Terraform exists, how it stacks up against Ansible, CloudFormation, and Pulumi, and a hands-on side-by-side example provisioning the same EC2 instance two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pain points of manual provisioning first, then contrast with the IaC promise: automated, consistent, reproducible, scalable. Emphasize that configs live in version control, so changes are tracked like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Terraform's core value props: multi-cloud, declarative, immutable infra, state tracking, and modularity. If asked, contrast 'declarative' (what) vs 'imperative' (how) — this sets up the Ansible comparison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Terraform provisions (creates the EC2 instance); Ansible configures (installs software on it). In practice these tools are often paired in a pipeline: Terraform stands up the box, Ansible configures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CloudFormation is AWS's native IaC service — no separate state file to manage since AWS handles that internally, but you're locked into AWS. Terraform trades some of that native integration for portability across clouds.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Pulumi's pitch is 'use the language you already know' — full loops, functions, and testing frameworks. Terraform's HCL is purpose-built and narrower in scope, which is exactly what makes it approachable for newcomers.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isn't limited to public cloud — it manages Kubernetes resources, on-prem virtualization, and even security/compliance policy as code. CI/CD integration means infra changes go through the same review process as application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main.tf line by line: provider block sets the region, resource block declares the EC2 instance with AMI and instance type. Then run terraform init (downloads provider plugins) and terraform apply (provisions and records state).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result, different path: CloudFormation uses a native AWS::EC2::Instance resource type in YAML/JSON. There's no local .tfstate equivalent to manage — AWS tracks stack state for you, which is convenient but AWS-only.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live-coded example: identical infrastructure, two philosophies. Use this to bridge into a discussion question — ask the group which tool they'd pick for a single-cloud AWS shop versus a multi-cloud org.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four takeaways, then preview the next session on modules and variables. Good place to pause for questions before moving to hands-on lab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5C4E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7C6FEA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49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6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TERRAFORM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Terraform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Code, Declarative Provisioning, and How Terraform Compares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Foundations of Infrastructure as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Infrastructure as Code?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Traditional, manual provisioning vs. defining infrastructure in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7F7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Traditional Infrastructure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560320"/>
            <a:ext cx="502920" cy="502920"/>
          </a:xfrm>
          <a:prstGeom prst="ellipse">
            <a:avLst/>
          </a:prstGeom>
          <a:solidFill>
            <a:srgbClr val="F7E3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server setup takes significant effort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05840" y="3456432"/>
            <a:ext cx="502920" cy="502920"/>
          </a:xfrm>
          <a:prstGeom prst="ellipse">
            <a:avLst/>
          </a:prstGeom>
          <a:solidFill>
            <a:srgbClr val="F7E3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935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10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91640" y="3730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configuration invites inconsistency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05840" y="4352544"/>
            <a:ext cx="502920" cy="502920"/>
          </a:xfrm>
          <a:prstGeom prst="ellipse">
            <a:avLst/>
          </a:prstGeom>
          <a:solidFill>
            <a:srgbClr val="F7E3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8970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306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91640" y="4626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thousands of servers by hand is impractical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005840" y="5248656"/>
            <a:ext cx="502920" cy="502920"/>
          </a:xfrm>
          <a:prstGeom prst="ellipse">
            <a:avLst/>
          </a:prstGeom>
          <a:solidFill>
            <a:srgbClr val="F7E3E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8581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2029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changes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691640" y="55229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roll back to a prior configuration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09360" y="16916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241B45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67512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6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Infrastructure as Code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675120" y="24048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infrastructure in version-controlled code; a tool like Terraform provisions it automatically.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1363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7804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5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70332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78040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5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270248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78040" y="4197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5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4837176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78040" y="47640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6675120" y="56052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config → run an IaC tool → resources are provisioned &amp; managed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Terraform?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</a:t>
            </a:r>
            <a:pPr indent="0" marL="0">
              <a:buNone/>
            </a:pPr>
            <a:r>
              <a:rPr lang="en-US" sz="15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tool by HashiCorp </a:t>
            </a:r>
            <a:pPr indent="0" marL="0">
              <a:buNone/>
            </a:pPr>
            <a:r>
              <a:rPr lang="en-US" sz="15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defines, deploys, and manages infrastructure across cloud providers using the declarative language HCL.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10128" cy="1965960"/>
          </a:xfrm>
          <a:prstGeom prst="roundRect">
            <a:avLst>
              <a:gd name="adj" fmla="val 3721"/>
            </a:avLst>
          </a:prstGeom>
          <a:solidFill>
            <a:srgbClr val="EFED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04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81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Support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447288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AWS, Azure, GCP, Kubernetes, and on-prem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2148840"/>
            <a:ext cx="3310128" cy="1965960"/>
          </a:xfrm>
          <a:prstGeom prst="roundRect">
            <a:avLst>
              <a:gd name="adj" fmla="val 3721"/>
            </a:avLst>
          </a:prstGeom>
          <a:solidFill>
            <a:srgbClr val="EFED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2404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5420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081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Approach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62272" y="3447288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desired state; Terraform figures out how to reach it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0" y="2148840"/>
            <a:ext cx="3310128" cy="1965960"/>
          </a:xfrm>
          <a:prstGeom prst="roundRect">
            <a:avLst>
              <a:gd name="adj" fmla="val 3721"/>
            </a:avLst>
          </a:prstGeom>
          <a:solidFill>
            <a:srgbClr val="EFED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28432" y="2404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5420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28432" y="3081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Infrastructure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28432" y="3447288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consistency by replacing, not modifying, resources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3310128" cy="1965960"/>
          </a:xfrm>
          <a:prstGeom prst="roundRect">
            <a:avLst>
              <a:gd name="adj" fmla="val 3721"/>
            </a:avLst>
          </a:prstGeom>
          <a:solidFill>
            <a:srgbClr val="EFED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645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7823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532180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687568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infrastructure changes in a state file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4389120"/>
            <a:ext cx="3310128" cy="1965960"/>
          </a:xfrm>
          <a:prstGeom prst="roundRect">
            <a:avLst>
              <a:gd name="adj" fmla="val 3721"/>
            </a:avLst>
          </a:prstGeom>
          <a:solidFill>
            <a:srgbClr val="EFEDF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4645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7823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62272" y="532180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62272" y="5687568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modules manage large-scale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vs. Ansible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infrastructure vs. configuring it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708989"/>
                <a:gridCol w="3599901"/>
                <a:gridCol w="3599901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Terraform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Approach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Declarative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Imperative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Use Case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Provision infrastructure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Configure infrastructure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State Management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Maintains a state file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No state file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Cloud Agnostic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Example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Create an EC2 instance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Install Nginx on an EC2 instance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21808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EFED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5778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53218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infrastructure, while </a:t>
            </a:r>
            <a:pPr indent="0" marL="0">
              <a:buNone/>
            </a:pPr>
            <a:r>
              <a:rPr lang="en-US" sz="1350" b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it — many teams use both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vs. CloudFormation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flexibility vs. deep AWS integration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708989"/>
                <a:gridCol w="3599901"/>
                <a:gridCol w="3599901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Terraform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CloudFormation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Cloud Support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Multi-cloud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AWS-only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Language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HCL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JSON / YAML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State Management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Uses a state file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Managed by AWS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Modularity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Strong support for modules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Supports nested stacks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Speed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Faster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Slower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21808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EFED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5778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53218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more flexible and multi-cloud, while </a:t>
            </a:r>
            <a:pPr indent="0" marL="0">
              <a:buNone/>
            </a:pPr>
            <a:r>
              <a:rPr lang="en-US" sz="1350" b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tightly integrated with AWS.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vs. Pulumi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language vs. general-purpose programming languages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708989"/>
                <a:gridCol w="3599901"/>
                <a:gridCol w="3599901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Terraform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Pulumi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Language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HCL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Python, Go, TypeScript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Cloud Support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Multi-cloud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Multi-cloud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State Management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Uses state file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State managed via Pulumi Service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Learning Curve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Easier for beginners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Harder due to programming languages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75488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EFED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1091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use real programming languages, but </a:t>
            </a:r>
            <a:pPr indent="0" marL="0">
              <a:buNone/>
            </a:pPr>
            <a:r>
              <a:rPr lang="en-US" sz="13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simpler for beginners.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 You Use Terraform?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highly versatile across environments and pipelines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8424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1351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313639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VMs, databases, networking (AWS, Azure, GCP)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8424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1351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13639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Kubernetes clusters and deployments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8424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3512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313639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VMware, OpenStack, or bare-metal infrastructure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29768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59028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" y="474116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53492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2688" y="574243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same infrastructure across multiple providers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29768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59028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596" y="474116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3492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74243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infrastructure deployment in GitLab CI/CD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10144" y="429768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2E2560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590288"/>
            <a:ext cx="594360" cy="59436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474116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53492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02752" y="574243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security policies and enforce compliance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Same Infrastructure, Two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 EC2 instance — Step 1: Terraform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1E1B3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164592" cy="164592"/>
          </a:xfrm>
          <a:prstGeom prst="ellipse">
            <a:avLst/>
          </a:prstGeom>
          <a:solidFill>
            <a:srgbClr val="E86058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1856232"/>
            <a:ext cx="164592" cy="164592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7" name="Shape 5"/>
          <p:cNvSpPr/>
          <p:nvPr/>
        </p:nvSpPr>
        <p:spPr>
          <a:xfrm>
            <a:off x="1499616" y="1856232"/>
            <a:ext cx="164592" cy="164592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"Terraform-Instance"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E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E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60020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EFED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92024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3524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35240" y="3017520"/>
            <a:ext cx="109728" cy="1097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6" name="Text 13"/>
          <p:cNvSpPr/>
          <p:nvPr/>
        </p:nvSpPr>
        <p:spPr>
          <a:xfrm>
            <a:off x="7882128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AWS provider and target region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35240" y="3794760"/>
            <a:ext cx="109728" cy="1097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8" name="Text 15"/>
          <p:cNvSpPr/>
          <p:nvPr/>
        </p:nvSpPr>
        <p:spPr>
          <a:xfrm>
            <a:off x="7882128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one EC2 resource: a t2.micro Amazon Linux instance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4572000"/>
            <a:ext cx="109728" cy="1097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28" y="4434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downloads the AWS provider plugin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5349240"/>
            <a:ext cx="109728" cy="109728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28" y="5212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provisions the instance and writes state to a .tfstate file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Same Infrastructure, Two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 EC2 instance — Step 2: AWS CloudFormation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1E1B33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164592" cy="164592"/>
          </a:xfrm>
          <a:prstGeom prst="ellipse">
            <a:avLst/>
          </a:prstGeom>
          <a:solidFill>
            <a:srgbClr val="E86058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1856232"/>
            <a:ext cx="164592" cy="164592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7" name="Shape 5"/>
          <p:cNvSpPr/>
          <p:nvPr/>
        </p:nvSpPr>
        <p:spPr>
          <a:xfrm>
            <a:off x="1499616" y="1856232"/>
            <a:ext cx="164592" cy="164592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ec2.yaml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AWSTemplateFormatVersion: "2010-09-09"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MyEC2Instance: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AWS::EC2::Instance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Properties: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ImageId: "ami-0c55b159cbfafe1f0"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InstanceType: "t2.micro"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Tags: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Key: Name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Value: CloudFormation-Instance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94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E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cloudformation create-stack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EE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--stack-name MyEC2Stack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EE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--template-body file://ec2.yaml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0" y="160020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EFED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92024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3524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35240" y="3017520"/>
            <a:ext cx="109728" cy="109728"/>
          </a:xfrm>
          <a:prstGeom prst="ellipse">
            <a:avLst/>
          </a:prstGeom>
          <a:solidFill>
            <a:srgbClr val="6E6890"/>
          </a:solidFill>
          <a:ln/>
        </p:spPr>
      </p:sp>
      <p:sp>
        <p:nvSpPr>
          <p:cNvPr id="16" name="Text 13"/>
          <p:cNvSpPr/>
          <p:nvPr/>
        </p:nvSpPr>
        <p:spPr>
          <a:xfrm>
            <a:off x="7882128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single AWS::EC2::Instance resource in YAML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35240" y="3794760"/>
            <a:ext cx="109728" cy="109728"/>
          </a:xfrm>
          <a:prstGeom prst="ellipse">
            <a:avLst/>
          </a:prstGeom>
          <a:solidFill>
            <a:srgbClr val="6E6890"/>
          </a:solidFill>
          <a:ln/>
        </p:spPr>
      </p:sp>
      <p:sp>
        <p:nvSpPr>
          <p:cNvPr id="18" name="Text 15"/>
          <p:cNvSpPr/>
          <p:nvPr/>
        </p:nvSpPr>
        <p:spPr>
          <a:xfrm>
            <a:off x="7882128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AMI and instance type as the Terraform example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4572000"/>
            <a:ext cx="109728" cy="109728"/>
          </a:xfrm>
          <a:prstGeom prst="ellipse">
            <a:avLst/>
          </a:prstGeom>
          <a:solidFill>
            <a:srgbClr val="6E6890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28" y="4434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create-stack submits the template directly to AWS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5349240"/>
            <a:ext cx="109728" cy="109728"/>
          </a:xfrm>
          <a:prstGeom prst="ellipse">
            <a:avLst/>
          </a:prstGeom>
          <a:solidFill>
            <a:srgbClr val="6E6890"/>
          </a:solidFill>
          <a:ln/>
        </p:spPr>
      </p:sp>
      <p:sp>
        <p:nvSpPr>
          <p:cNvPr id="22" name="Text 19"/>
          <p:cNvSpPr/>
          <p:nvPr/>
        </p:nvSpPr>
        <p:spPr>
          <a:xfrm>
            <a:off x="7882128" y="5212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the stack's state internally — no local state file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Deployments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EC2 instance, Terraform vs. CloudFormation — head to head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3708989"/>
                <a:gridCol w="3599901"/>
                <a:gridCol w="3599901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Terraform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E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CloudFormation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8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Multi-Cloud Support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Yes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AWS-only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State Management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Uses a .tfstate file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Managed by AWS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Syntax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HCL (easier to read)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JSON / YAML (more complex)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Execution Speed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Faster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Slower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D3A56"/>
                          </a:solidFill>
                        </a:rPr>
                        <a:t>Modularity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Strong support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D3A56"/>
                          </a:solidFill>
                        </a:rPr>
                        <a:t>Supports nested stacks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21808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EFED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5778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53218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indent="0" marL="0">
              <a:buNone/>
            </a:pPr>
            <a:r>
              <a:rPr lang="en-US" sz="135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preferred for multi-cloud and flexibility, while </a:t>
            </a:r>
            <a:pPr indent="0" marL="0">
              <a:buNone/>
            </a:pPr>
            <a:r>
              <a:rPr lang="en-US" sz="1350" b="1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</a:t>
            </a:r>
            <a:pPr indent="0" marL="0">
              <a:buNone/>
            </a:pPr>
            <a:r>
              <a:rPr lang="en-US" sz="1350" dirty="0">
                <a:solidFill>
                  <a:srgbClr val="3D3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best if you're AWS-exclusive.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5C4E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6FE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turns manual, error-prone provisioning into automated, versioned, repeatable code.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706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7860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a declarative, multi-cloud tool using HCL, with state tracked in a .tfstate file.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307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5387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infrastructure; Ansible configures it — they pair well together.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5C4EE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908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49884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CloudFormation and Pulumi, Terraform trades some native integration and language flexibility for portability and simplicity.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6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writing your first Terraform module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Terraform</dc:title>
  <dc:subject>PptxGenJS Presentation</dc:subject>
  <dc:creator>Terraform Training</dc:creator>
  <cp:lastModifiedBy>Terraform Training</cp:lastModifiedBy>
  <cp:revision>1</cp:revision>
  <dcterms:created xsi:type="dcterms:W3CDTF">2026-07-07T09:46:22Z</dcterms:created>
  <dcterms:modified xsi:type="dcterms:W3CDTF">2026-07-07T09:46:22Z</dcterms:modified>
</cp:coreProperties>
</file>