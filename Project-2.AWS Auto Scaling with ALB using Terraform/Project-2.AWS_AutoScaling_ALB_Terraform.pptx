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image" Target="../media/image-2-7.png"/><Relationship Id="rId8" Type="http://schemas.openxmlformats.org/officeDocument/2006/relationships/image" Target="../media/image-2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4.png"/><Relationship Id="rId6" Type="http://schemas.openxmlformats.org/officeDocument/2006/relationships/image" Target="../media/image-7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173736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3B2C64"/>
          </a:solidFill>
          <a:ln/>
        </p:spPr>
      </p:sp>
      <p:pic>
        <p:nvPicPr>
          <p:cNvPr id="3" name="Image 0" descr="/home/claude/tfasg/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190195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64040" y="17373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686800" y="2514600"/>
            <a:ext cx="0" cy="502920"/>
          </a:xfrm>
          <a:prstGeom prst="line">
            <a:avLst/>
          </a:prstGeom>
          <a:noFill/>
          <a:ln w="19050">
            <a:solidFill>
              <a:srgbClr val="17B89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66760" y="30175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5B4B8A"/>
          </a:solidFill>
          <a:ln/>
        </p:spPr>
      </p:sp>
      <p:pic>
        <p:nvPicPr>
          <p:cNvPr id="7" name="Image 1" descr="/home/claude/tfasg/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776" y="3145536"/>
            <a:ext cx="384048" cy="38404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509760" y="2514600"/>
            <a:ext cx="0" cy="502920"/>
          </a:xfrm>
          <a:prstGeom prst="line">
            <a:avLst/>
          </a:prstGeom>
          <a:noFill/>
          <a:ln w="19050">
            <a:solidFill>
              <a:srgbClr val="17B89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189720" y="30175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5B4B8A"/>
          </a:solidFill>
          <a:ln/>
        </p:spPr>
      </p:sp>
      <p:pic>
        <p:nvPicPr>
          <p:cNvPr id="10" name="Image 2" descr="/home/claude/tfasg/serv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36" y="3145536"/>
            <a:ext cx="384048" cy="38404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0332720" y="2514600"/>
            <a:ext cx="0" cy="502920"/>
          </a:xfrm>
          <a:prstGeom prst="line">
            <a:avLst/>
          </a:prstGeom>
          <a:noFill/>
          <a:ln w="19050">
            <a:solidFill>
              <a:srgbClr val="17B89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0012680" y="30175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5B4B8A"/>
          </a:solidFill>
          <a:ln/>
        </p:spPr>
      </p:sp>
      <p:pic>
        <p:nvPicPr>
          <p:cNvPr id="13" name="Image 3" descr="/home/claude/tfasg/serv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0696" y="3145536"/>
            <a:ext cx="384048" cy="3840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PROJECT 2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640080" y="182880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Auto Scaling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ALB using Terraform</a:t>
            </a:r>
            <a:endParaRPr lang="en-US" sz="4000" dirty="0"/>
          </a:p>
        </p:txBody>
      </p:sp>
      <p:sp>
        <p:nvSpPr>
          <p:cNvPr id="16" name="Text 10"/>
          <p:cNvSpPr/>
          <p:nvPr/>
        </p:nvSpPr>
        <p:spPr>
          <a:xfrm>
            <a:off x="64008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Self-Healing, Load-Balanced EC2 Fleet with Reusable Modules</a:t>
            </a:r>
            <a:endParaRPr lang="en-US" sz="1650" dirty="0"/>
          </a:p>
        </p:txBody>
      </p:sp>
      <p:sp>
        <p:nvSpPr>
          <p:cNvPr id="17" name="Shape 11"/>
          <p:cNvSpPr/>
          <p:nvPr/>
        </p:nvSpPr>
        <p:spPr>
          <a:xfrm>
            <a:off x="658368" y="4617720"/>
            <a:ext cx="1005840" cy="0"/>
          </a:xfrm>
          <a:prstGeom prst="line">
            <a:avLst/>
          </a:prstGeom>
          <a:noFill/>
          <a:ln w="38100">
            <a:solidFill>
              <a:srgbClr val="17B890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4008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Deck  •  Terraform Fundamentals Series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1EE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38528"/>
            <a:ext cx="512064" cy="512064"/>
          </a:xfrm>
          <a:prstGeom prst="ellipse">
            <a:avLst/>
          </a:prstGeom>
          <a:solidFill>
            <a:srgbClr val="3B2170"/>
          </a:solidFill>
          <a:ln/>
        </p:spPr>
      </p:sp>
      <p:pic>
        <p:nvPicPr>
          <p:cNvPr id="6" name="Image 0" descr="/home/claude/tfasg/networ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57400"/>
            <a:ext cx="274320" cy="274320"/>
          </a:xfrm>
          <a:prstGeom prst="rect">
            <a:avLst/>
          </a:prstGeom>
        </p:spPr>
      </p:pic>
      <p:pic>
        <p:nvPicPr>
          <p:cNvPr id="7" name="Image 1" descr="/home/claude/tfasg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993392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1865376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with Public &amp; Private Subnets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508760" y="221284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our previously built VPC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1EEFC"/>
          </a:solidFill>
          <a:ln/>
        </p:spPr>
      </p:sp>
      <p:sp>
        <p:nvSpPr>
          <p:cNvPr id="11" name="Shape 7"/>
          <p:cNvSpPr/>
          <p:nvPr/>
        </p:nvSpPr>
        <p:spPr>
          <a:xfrm>
            <a:off x="777240" y="3035808"/>
            <a:ext cx="512064" cy="512064"/>
          </a:xfrm>
          <a:prstGeom prst="ellipse">
            <a:avLst/>
          </a:prstGeom>
          <a:solidFill>
            <a:srgbClr val="3B2170"/>
          </a:solidFill>
          <a:ln/>
        </p:spPr>
      </p:sp>
      <p:pic>
        <p:nvPicPr>
          <p:cNvPr id="12" name="Image 2" descr="/home/claude/tfasg/balanc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154680"/>
            <a:ext cx="274320" cy="274320"/>
          </a:xfrm>
          <a:prstGeom prst="rect">
            <a:avLst/>
          </a:prstGeom>
        </p:spPr>
      </p:pic>
      <p:pic>
        <p:nvPicPr>
          <p:cNvPr id="13" name="Image 3" descr="/home/claude/tfasg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3090672"/>
            <a:ext cx="384048" cy="3840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08760" y="2962656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 (ALB)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508760" y="331012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 incoming traffic across instances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39319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1EEFC"/>
          </a:solidFill>
          <a:ln/>
        </p:spPr>
      </p:sp>
      <p:sp>
        <p:nvSpPr>
          <p:cNvPr id="17" name="Shape 11"/>
          <p:cNvSpPr/>
          <p:nvPr/>
        </p:nvSpPr>
        <p:spPr>
          <a:xfrm>
            <a:off x="777240" y="4133088"/>
            <a:ext cx="512064" cy="512064"/>
          </a:xfrm>
          <a:prstGeom prst="ellipse">
            <a:avLst/>
          </a:prstGeom>
          <a:solidFill>
            <a:srgbClr val="3B2170"/>
          </a:solidFill>
          <a:ln/>
        </p:spPr>
      </p:sp>
      <p:pic>
        <p:nvPicPr>
          <p:cNvPr id="18" name="Image 4" descr="/home/claude/tfasg/layer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251960"/>
            <a:ext cx="274320" cy="274320"/>
          </a:xfrm>
          <a:prstGeom prst="rect">
            <a:avLst/>
          </a:prstGeom>
        </p:spPr>
      </p:pic>
      <p:pic>
        <p:nvPicPr>
          <p:cNvPr id="19" name="Image 5" descr="/home/claude/tfasg/check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0" y="4187952"/>
            <a:ext cx="384048" cy="38404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08760" y="4059936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 (ASG) with EC2 Instances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1508760" y="440740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scales capacity up or down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1EEFC"/>
          </a:solidFill>
          <a:ln/>
        </p:spPr>
      </p:sp>
      <p:sp>
        <p:nvSpPr>
          <p:cNvPr id="23" name="Shape 15"/>
          <p:cNvSpPr/>
          <p:nvPr/>
        </p:nvSpPr>
        <p:spPr>
          <a:xfrm>
            <a:off x="777240" y="5230368"/>
            <a:ext cx="512064" cy="512064"/>
          </a:xfrm>
          <a:prstGeom prst="ellipse">
            <a:avLst/>
          </a:prstGeom>
          <a:solidFill>
            <a:srgbClr val="3B2170"/>
          </a:solidFill>
          <a:ln/>
        </p:spPr>
      </p:sp>
      <p:pic>
        <p:nvPicPr>
          <p:cNvPr id="24" name="Image 6" descr="/home/claude/tfasg/heartbeat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" y="5349240"/>
            <a:ext cx="274320" cy="274320"/>
          </a:xfrm>
          <a:prstGeom prst="rect">
            <a:avLst/>
          </a:prstGeom>
        </p:spPr>
      </p:pic>
      <p:pic>
        <p:nvPicPr>
          <p:cNvPr id="25" name="Image 7" descr="/home/claude/tfasg/check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2720" y="5285232"/>
            <a:ext cx="384048" cy="38404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508760" y="5157216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Group &amp; Health Checks</a:t>
            </a:r>
            <a:endParaRPr lang="en-US" sz="1600" dirty="0"/>
          </a:p>
        </p:txBody>
      </p:sp>
      <p:sp>
        <p:nvSpPr>
          <p:cNvPr id="27" name="Text 17"/>
          <p:cNvSpPr/>
          <p:nvPr/>
        </p:nvSpPr>
        <p:spPr>
          <a:xfrm>
            <a:off x="1508760" y="550468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traffic only reaches healthy instances</a:t>
            </a:r>
            <a:endParaRPr lang="en-US" sz="1250" dirty="0"/>
          </a:p>
        </p:txBody>
      </p:sp>
      <p:sp>
        <p:nvSpPr>
          <p:cNvPr id="28" name="Text 1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Auto Scaling with ALB using Terraform</a:t>
            </a:r>
            <a:endParaRPr lang="en-US" sz="900" dirty="0"/>
          </a:p>
        </p:txBody>
      </p:sp>
      <p:sp>
        <p:nvSpPr>
          <p:cNvPr id="29" name="Text 1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LAYOUT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Folder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tfasg/folder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terraform-autoscaling/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0584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</a:t>
            </a:r>
            <a:pPr indent="0" marL="0">
              <a:buNone/>
            </a:pPr>
            <a:r>
              <a:rPr lang="en-US" sz="1450" b="1" dirty="0">
                <a:solidFill>
                  <a:srgbClr val="3B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93192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config — wires up modules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05840" y="3136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</a:t>
            </a:r>
            <a:pPr indent="0" marL="0">
              <a:buNone/>
            </a:pPr>
            <a:r>
              <a:rPr lang="en-US" sz="1450" b="1" dirty="0">
                <a:solidFill>
                  <a:srgbClr val="3B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variables.tf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3931920" y="3136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Root-level variables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36667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</a:t>
            </a:r>
            <a:pPr indent="0" marL="0">
              <a:buNone/>
            </a:pPr>
            <a:r>
              <a:rPr lang="en-US" sz="1450" b="1" dirty="0">
                <a:solidFill>
                  <a:srgbClr val="3B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outputs.tf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3931920" y="36667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Root-level outputs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05840" y="43342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</a:t>
            </a:r>
            <a:pPr indent="0" marL="0">
              <a:buNone/>
            </a:pPr>
            <a:r>
              <a:rPr lang="en-US" sz="1500" b="1" dirty="0">
                <a:solidFill>
                  <a:srgbClr val="231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371600" y="4901184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1EEFC"/>
          </a:solidFill>
          <a:ln/>
        </p:spPr>
      </p:sp>
      <p:pic>
        <p:nvPicPr>
          <p:cNvPr id="15" name="Image 1" descr="/home/claude/tfasg/balance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5065776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11680" y="5029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alb/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645920" y="5468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1645920" y="5742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variables.tf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1645920" y="6016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outputs.tf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446520" y="4901184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1EEFC"/>
          </a:solidFill>
          <a:ln/>
        </p:spPr>
      </p:sp>
      <p:pic>
        <p:nvPicPr>
          <p:cNvPr id="21" name="Image 2" descr="/home/claude/tfasg/layer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5065776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086600" y="5029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asg/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720840" y="5468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720840" y="5742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variables.tf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720840" y="6016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outputs.tf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Auto Scaling with ALB using Terraform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ALB Module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modules/alb/main.tf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949440" cy="4343400"/>
          </a:xfrm>
          <a:prstGeom prst="roundRect">
            <a:avLst>
              <a:gd name="adj" fmla="val 1684"/>
            </a:avLst>
          </a:prstGeom>
          <a:solidFill>
            <a:srgbClr val="2B1B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47672"/>
            <a:ext cx="64922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"aws_lb" "my_alb" {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       = "my-load-balancer"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internal           = false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load_balancer_type = "application"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security_groups    = [var.alb_sg_id]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subnets            = var.public_subnets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"MyALB"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"aws_lb_target_group" "my_target_group" {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= "my-target-group"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     = 80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protocol = "HTTP"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  = var.vpc_id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"aws_lb_listener" "http" {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load_balancer_arn = aws_lb.my_alb.arn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              = "80"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protocol          = "HTTP"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default_action {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            = "forward"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target_group_arn = aws_lb_target_group.my_target_group.arn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680960" y="1783080"/>
            <a:ext cx="3931920" cy="4343400"/>
          </a:xfrm>
          <a:prstGeom prst="roundRect">
            <a:avLst>
              <a:gd name="adj" fmla="val 2326"/>
            </a:avLst>
          </a:prstGeom>
          <a:solidFill>
            <a:srgbClr val="F1EEFC"/>
          </a:solidFill>
          <a:ln/>
        </p:spPr>
      </p:sp>
      <p:pic>
        <p:nvPicPr>
          <p:cNvPr id="8" name="Image 0" descr="/home/claude/tfasg/balance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0116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55280" y="2560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building blocks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55280" y="3063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aws_lb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955280" y="3383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load balancer itself — internet-facing, spans public subnets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955280" y="4023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aws_lb_target_group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955280" y="4343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pool of instances the ALB routes HTTP traffic to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955280" y="4983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aws_lb_listener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955280" y="5303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on port 80 and forwards to the target group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Auto Scaling with ALB using Terraform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Auto Scaling Group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modules/asg/main.tf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949440" cy="4343400"/>
          </a:xfrm>
          <a:prstGeom prst="roundRect">
            <a:avLst>
              <a:gd name="adj" fmla="val 1684"/>
            </a:avLst>
          </a:prstGeom>
          <a:solidFill>
            <a:srgbClr val="2B1B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47672"/>
            <a:ext cx="64922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"aws_launch_template" "my_template" {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name_prefix   = "asg-template"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image_id      = "ami-0c55b159cbfafe1f0"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"t2.micro"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tag_specifications {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resource_type = "instance"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tags = {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 = "AutoScalingInstance"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"aws_autoscaling_group" "my_asg" {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vpc_zone_identifier = var.private_subnets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desired_capacity    = 2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max_size            = 3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min_size            = 1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launch_template {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     = aws_launch_template.my_template.id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version = "$Latest"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target_group_arns = [var.target_group_arn]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680960" y="1783080"/>
            <a:ext cx="3931920" cy="43434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tfasg/layer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0116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55280" y="2560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range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955280" y="3063240"/>
            <a:ext cx="3383280" cy="685800"/>
          </a:xfrm>
          <a:prstGeom prst="roundRect">
            <a:avLst>
              <a:gd name="adj" fmla="val 13333"/>
            </a:avLst>
          </a:prstGeom>
          <a:solidFill>
            <a:srgbClr val="F1EEFC"/>
          </a:solidFill>
          <a:ln/>
        </p:spPr>
      </p:sp>
      <p:sp>
        <p:nvSpPr>
          <p:cNvPr id="11" name="Shape 8"/>
          <p:cNvSpPr/>
          <p:nvPr/>
        </p:nvSpPr>
        <p:spPr>
          <a:xfrm>
            <a:off x="8138160" y="3246120"/>
            <a:ext cx="320040" cy="32004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12" name="Text 9"/>
          <p:cNvSpPr/>
          <p:nvPr/>
        </p:nvSpPr>
        <p:spPr>
          <a:xfrm>
            <a:off x="813816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595360" y="30632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min_size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55280" y="3931920"/>
            <a:ext cx="3383280" cy="685800"/>
          </a:xfrm>
          <a:prstGeom prst="roundRect">
            <a:avLst>
              <a:gd name="adj" fmla="val 13333"/>
            </a:avLst>
          </a:prstGeom>
          <a:solidFill>
            <a:srgbClr val="F1EEFC"/>
          </a:solidFill>
          <a:ln/>
        </p:spPr>
      </p:sp>
      <p:sp>
        <p:nvSpPr>
          <p:cNvPr id="15" name="Shape 12"/>
          <p:cNvSpPr/>
          <p:nvPr/>
        </p:nvSpPr>
        <p:spPr>
          <a:xfrm>
            <a:off x="8138160" y="4114800"/>
            <a:ext cx="320040" cy="320040"/>
          </a:xfrm>
          <a:prstGeom prst="ellipse">
            <a:avLst/>
          </a:prstGeom>
          <a:solidFill>
            <a:srgbClr val="17B890"/>
          </a:solidFill>
          <a:ln/>
        </p:spPr>
      </p:sp>
      <p:sp>
        <p:nvSpPr>
          <p:cNvPr id="16" name="Text 13"/>
          <p:cNvSpPr/>
          <p:nvPr/>
        </p:nvSpPr>
        <p:spPr>
          <a:xfrm>
            <a:off x="813816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595360" y="39319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desired_capacity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955280" y="4800600"/>
            <a:ext cx="3383280" cy="685800"/>
          </a:xfrm>
          <a:prstGeom prst="roundRect">
            <a:avLst>
              <a:gd name="adj" fmla="val 13333"/>
            </a:avLst>
          </a:prstGeom>
          <a:solidFill>
            <a:srgbClr val="F1EEFC"/>
          </a:solidFill>
          <a:ln/>
        </p:spPr>
      </p:sp>
      <p:sp>
        <p:nvSpPr>
          <p:cNvPr id="19" name="Shape 16"/>
          <p:cNvSpPr/>
          <p:nvPr/>
        </p:nvSpPr>
        <p:spPr>
          <a:xfrm>
            <a:off x="8138160" y="4983480"/>
            <a:ext cx="320040" cy="320040"/>
          </a:xfrm>
          <a:prstGeom prst="ellipse">
            <a:avLst/>
          </a:prstGeom>
          <a:solidFill>
            <a:srgbClr val="FF6B5A"/>
          </a:solidFill>
          <a:ln/>
        </p:spPr>
      </p:sp>
      <p:sp>
        <p:nvSpPr>
          <p:cNvPr id="20" name="Text 17"/>
          <p:cNvSpPr/>
          <p:nvPr/>
        </p:nvSpPr>
        <p:spPr>
          <a:xfrm>
            <a:off x="8138160" y="4983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595360" y="48006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max_size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955280" y="57607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template defines what each instance looks like; the ASG decides how many to run.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Auto Scaling with ALB using Terraform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Modules in main.tf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949440" cy="3017520"/>
          </a:xfrm>
          <a:prstGeom prst="roundRect">
            <a:avLst>
              <a:gd name="adj" fmla="val 2424"/>
            </a:avLst>
          </a:prstGeom>
          <a:solidFill>
            <a:srgbClr val="2B1B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10512"/>
            <a:ext cx="649224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"alb" {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        = "./modules/alb"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        = module.vpc.vpc_id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alb_sg_id      = module.security_group.alb_sg_id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public_subnets = module.vpc.public_subnets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"asg" {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          = "./modules/asg"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private_subnets  = module.vpc.private_subnets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target_group_arn = module.alb.target_group_arn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80960" y="164592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1EEFC"/>
          </a:solidFill>
          <a:ln/>
        </p:spPr>
      </p:sp>
      <p:sp>
        <p:nvSpPr>
          <p:cNvPr id="7" name="Text 5"/>
          <p:cNvSpPr/>
          <p:nvPr/>
        </p:nvSpPr>
        <p:spPr>
          <a:xfrm>
            <a:off x="790956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dependency flow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0" y="2286000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5B4B8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module.vpc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0" y="2788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2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2971800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17B89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2971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module.alb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3474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2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3657600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5B4B8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3657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module.asg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</a:t>
            </a:r>
            <a:pPr indent="0" marL="0">
              <a:buNone/>
            </a:pPr>
            <a:r>
              <a:rPr lang="en-US" sz="1450" b="1" dirty="0">
                <a:solidFill>
                  <a:srgbClr val="3B2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this dependency graph automatically</a:t>
            </a:r>
            <a:pPr indent="0" marL="0">
              <a:buNone/>
            </a:pPr>
            <a:r>
              <a:rPr lang="en-US" sz="14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references — no manual ordering needed.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Auto Scaling with ALB using Terraform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the Auto Scaling Setup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2B1B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10512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init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 -auto-approve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10642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794760"/>
            <a:ext cx="1005840" cy="1005840"/>
          </a:xfrm>
          <a:prstGeom prst="ellipse">
            <a:avLst/>
          </a:prstGeom>
          <a:solidFill>
            <a:srgbClr val="2B1B54"/>
          </a:solidFill>
          <a:ln/>
        </p:spPr>
      </p:sp>
      <p:pic>
        <p:nvPicPr>
          <p:cNvPr id="9" name="Image 0" descr="/home/claude/tfasg/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4041648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4846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9659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514600" y="379476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3B2170"/>
          </a:solidFill>
          <a:ln/>
        </p:spPr>
      </p:sp>
      <p:pic>
        <p:nvPicPr>
          <p:cNvPr id="13" name="Image 1" descr="/home/claude/tfasg/bala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402336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14600" y="4846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160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4709160" y="379476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17B890"/>
          </a:solidFill>
          <a:ln/>
        </p:spPr>
      </p:sp>
      <p:pic>
        <p:nvPicPr>
          <p:cNvPr id="17" name="Image 2" descr="/home/claude/tfasg/heartbea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402336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72000" y="4846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Group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0" y="5138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5379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7086600" y="3429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 (private subnets)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086600" y="379476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5B4B8A"/>
          </a:solidFill>
          <a:ln/>
        </p:spPr>
      </p:sp>
      <p:pic>
        <p:nvPicPr>
          <p:cNvPr id="23" name="Image 3" descr="/home/claude/tfasg/serv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023360"/>
            <a:ext cx="457200" cy="4572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8092440" y="379476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5B4B8A"/>
          </a:solidFill>
          <a:ln/>
        </p:spPr>
      </p:sp>
      <p:pic>
        <p:nvPicPr>
          <p:cNvPr id="25" name="Image 4" descr="/home/claude/tfasg/serv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4023360"/>
            <a:ext cx="457200" cy="45720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9098280" y="379476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5B4B8A"/>
          </a:solidFill>
          <a:ln/>
        </p:spPr>
      </p:sp>
      <p:pic>
        <p:nvPicPr>
          <p:cNvPr id="27" name="Image 5" descr="/home/claude/tfasg/serve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4023360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86600" y="4846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1 · desired 2 · max 3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register with the target group automatically as they launch or terminate.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Auto Scaling with ALB using Terraform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B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BUILT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2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3B2C64"/>
          </a:solidFill>
          <a:ln/>
        </p:spPr>
      </p:sp>
      <p:pic>
        <p:nvPicPr>
          <p:cNvPr id="5" name="Image 0" descr="/home/claude/tfasg/balanc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22199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1031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with a target group for Auto Scaling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3B2C64"/>
          </a:solidFill>
          <a:ln/>
        </p:spPr>
      </p:sp>
      <p:pic>
        <p:nvPicPr>
          <p:cNvPr id="8" name="Image 1" descr="/home/claude/tfasg/layer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136392"/>
            <a:ext cx="26517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30175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 that launches EC2 instances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3B2C64"/>
          </a:solidFill>
          <a:ln/>
        </p:spPr>
      </p:sp>
      <p:pic>
        <p:nvPicPr>
          <p:cNvPr id="11" name="Image 2" descr="/home/claude/tfasg/heartbeat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050792"/>
            <a:ext cx="265176" cy="2651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9319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automatically register with the ALB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3B2C64"/>
          </a:solidFill>
          <a:ln/>
        </p:spPr>
      </p:sp>
      <p:pic>
        <p:nvPicPr>
          <p:cNvPr id="14" name="Image 3" descr="/home/claude/tfasg/rocke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285232"/>
            <a:ext cx="502920" cy="5029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54480" y="502920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add scaling policies (CPU/target-tracking) and a custom domain via Route 53.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Auto Scaling with ALB using Terraform</dc:title>
  <dc:subject>PptxGenJS Presentation</dc:subject>
  <dc:creator>Terraform Training</dc:creator>
  <cp:lastModifiedBy>Terraform Training</cp:lastModifiedBy>
  <cp:revision>1</cp:revision>
  <dcterms:created xsi:type="dcterms:W3CDTF">2026-07-07T20:08:12Z</dcterms:created>
  <dcterms:modified xsi:type="dcterms:W3CDTF">2026-07-07T20:08:12Z</dcterms:modified>
</cp:coreProperties>
</file>