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46304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5B4B8A"/>
          </a:solidFill>
          <a:ln/>
        </p:spPr>
      </p:sp>
      <p:sp>
        <p:nvSpPr>
          <p:cNvPr id="3" name="Shape 1"/>
          <p:cNvSpPr/>
          <p:nvPr/>
        </p:nvSpPr>
        <p:spPr>
          <a:xfrm>
            <a:off x="8394192" y="1719072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4A3878"/>
          </a:solidFill>
          <a:ln/>
        </p:spPr>
      </p:sp>
      <p:sp>
        <p:nvSpPr>
          <p:cNvPr id="4" name="Shape 2"/>
          <p:cNvSpPr/>
          <p:nvPr/>
        </p:nvSpPr>
        <p:spPr>
          <a:xfrm>
            <a:off x="8650224" y="1975104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3B2C64"/>
          </a:solidFill>
          <a:ln/>
        </p:spPr>
      </p:sp>
      <p:pic>
        <p:nvPicPr>
          <p:cNvPr id="5" name="Image 0" descr="/home/claude/tfws/lay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14884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Workspaces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Environments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Dev, Staging &amp; Prod from a Single Terraform Configuration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58368" y="4572000"/>
            <a:ext cx="1005840" cy="0"/>
          </a:xfrm>
          <a:prstGeom prst="line">
            <a:avLst/>
          </a:prstGeom>
          <a:noFill/>
          <a:ln w="38100">
            <a:solidFill>
              <a:srgbClr val="17B8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Deck  •  Terraform Fundamentals Series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 CORE CONCEPT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Workspaces?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pPr indent="0" marL="0">
              <a:buNone/>
            </a:pPr>
            <a:r>
              <a:rPr lang="en-US" sz="1600" b="1" dirty="0">
                <a:solidFill>
                  <a:srgbClr val="3B2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state environment</a:t>
            </a:r>
            <a:pPr indent="0" marL="0">
              <a:buNone/>
            </a:pPr>
            <a:r>
              <a:rPr lang="en-US" sz="16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within the same Terraform project.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86584"/>
            <a:ext cx="128016" cy="128016"/>
          </a:xfrm>
          <a:prstGeom prst="ellipse">
            <a:avLst/>
          </a:prstGeom>
          <a:solidFill>
            <a:srgbClr val="17B8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2199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ships with a default workspace out of the box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53512"/>
            <a:ext cx="128016" cy="128016"/>
          </a:xfrm>
          <a:prstGeom prst="ellipse">
            <a:avLst/>
          </a:prstGeom>
          <a:solidFill>
            <a:srgbClr val="17B89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889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workspaces can be created and switched dynamically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28016" cy="128016"/>
          </a:xfrm>
          <a:prstGeom prst="ellipse">
            <a:avLst/>
          </a:prstGeom>
          <a:solidFill>
            <a:srgbClr val="17B89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35584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workspace keeps its own state file, preventing conflicts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40880" y="1554480"/>
            <a:ext cx="4480560" cy="868680"/>
          </a:xfrm>
          <a:prstGeom prst="roundRect">
            <a:avLst>
              <a:gd name="adj" fmla="val 9474"/>
            </a:avLst>
          </a:prstGeom>
          <a:solidFill>
            <a:srgbClr val="F1EE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42048" y="184251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5B4B8A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1554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418320" y="155448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.tfstate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40880" y="2587752"/>
            <a:ext cx="4480560" cy="868680"/>
          </a:xfrm>
          <a:prstGeom prst="roundRect">
            <a:avLst>
              <a:gd name="adj" fmla="val 9474"/>
            </a:avLst>
          </a:prstGeom>
          <a:solidFill>
            <a:srgbClr val="F1EE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42048" y="287578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6F5CB0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2587752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418320" y="258775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.tfstate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040880" y="3621024"/>
            <a:ext cx="4480560" cy="868680"/>
          </a:xfrm>
          <a:prstGeom prst="roundRect">
            <a:avLst>
              <a:gd name="adj" fmla="val 9474"/>
            </a:avLst>
          </a:prstGeom>
          <a:solidFill>
            <a:srgbClr val="F1EE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39090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7B890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3621024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18320" y="3621024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.tfstate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40880" y="4654296"/>
            <a:ext cx="4480560" cy="868680"/>
          </a:xfrm>
          <a:prstGeom prst="roundRect">
            <a:avLst>
              <a:gd name="adj" fmla="val 9474"/>
            </a:avLst>
          </a:prstGeom>
          <a:solidFill>
            <a:srgbClr val="F1EE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42048" y="494233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6B5A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4654296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18320" y="4654296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.tfstate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Workspaces &amp; Environments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 DECISION GUIDE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Workspaces — And When Not 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tfws/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562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Workspaces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51460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multi-environment deployments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29184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duplication — no separate Terraform projects needed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state files isolated for each environment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/home/claude/tfws/times_co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7452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8562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NOT to Use Workspaces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25146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4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to different AWS accounts — use separate backend configs instead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537960" y="342900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4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environments — separate Terraform projects may scale better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Workspaces &amp; Environments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 STEP-BY-STEP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Workspaces: The Core Commands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1EE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95628" y="1572768"/>
            <a:ext cx="512064" cy="512064"/>
          </a:xfrm>
          <a:prstGeom prst="ellipse">
            <a:avLst/>
          </a:prstGeom>
          <a:solidFill>
            <a:srgbClr val="3B217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95628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Current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2240280" cy="1051560"/>
          </a:xfrm>
          <a:prstGeom prst="roundRect">
            <a:avLst>
              <a:gd name="adj" fmla="val 5217"/>
            </a:avLst>
          </a:prstGeom>
          <a:solidFill>
            <a:srgbClr val="2B1B54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432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workspace show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72968" y="265176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10712" y="18288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1EE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57700" y="1572768"/>
            <a:ext cx="512064" cy="512064"/>
          </a:xfrm>
          <a:prstGeom prst="ellipse">
            <a:avLst/>
          </a:prstGeom>
          <a:solidFill>
            <a:srgbClr val="3B217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7700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93592" y="2148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New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3593592" y="2743200"/>
            <a:ext cx="2240280" cy="1051560"/>
          </a:xfrm>
          <a:prstGeom prst="roundRect">
            <a:avLst>
              <a:gd name="adj" fmla="val 5217"/>
            </a:avLst>
          </a:prstGeom>
          <a:solidFill>
            <a:srgbClr val="2B1B54"/>
          </a:solidFill>
          <a:ln/>
        </p:spPr>
      </p:sp>
      <p:sp>
        <p:nvSpPr>
          <p:cNvPr id="16" name="Text 14"/>
          <p:cNvSpPr/>
          <p:nvPr/>
        </p:nvSpPr>
        <p:spPr>
          <a:xfrm>
            <a:off x="3730752" y="27432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workspace new dev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265176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72784" y="18288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1EE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9772" y="1572768"/>
            <a:ext cx="512064" cy="512064"/>
          </a:xfrm>
          <a:prstGeom prst="ellipse">
            <a:avLst/>
          </a:prstGeom>
          <a:solidFill>
            <a:srgbClr val="3B217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9772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55664" y="2148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All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455664" y="2743200"/>
            <a:ext cx="2240280" cy="1051560"/>
          </a:xfrm>
          <a:prstGeom prst="roundRect">
            <a:avLst>
              <a:gd name="adj" fmla="val 5217"/>
            </a:avLst>
          </a:prstGeom>
          <a:solidFill>
            <a:srgbClr val="2B1B54"/>
          </a:solidFill>
          <a:ln/>
        </p:spPr>
      </p:sp>
      <p:sp>
        <p:nvSpPr>
          <p:cNvPr id="23" name="Text 21"/>
          <p:cNvSpPr/>
          <p:nvPr/>
        </p:nvSpPr>
        <p:spPr>
          <a:xfrm>
            <a:off x="6592824" y="27432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workspace list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97112" y="2651760"/>
            <a:ext cx="256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134856" y="18288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1EE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181844" y="1572768"/>
            <a:ext cx="512064" cy="512064"/>
          </a:xfrm>
          <a:prstGeom prst="ellipse">
            <a:avLst/>
          </a:prstGeom>
          <a:solidFill>
            <a:srgbClr val="3B217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81844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17736" y="21488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Active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9317736" y="2743200"/>
            <a:ext cx="2240280" cy="1051560"/>
          </a:xfrm>
          <a:prstGeom prst="roundRect">
            <a:avLst>
              <a:gd name="adj" fmla="val 5217"/>
            </a:avLst>
          </a:prstGeom>
          <a:solidFill>
            <a:srgbClr val="2B1B54"/>
          </a:solidFill>
          <a:ln/>
        </p:spPr>
      </p:sp>
      <p:sp>
        <p:nvSpPr>
          <p:cNvPr id="30" name="Text 28"/>
          <p:cNvSpPr/>
          <p:nvPr/>
        </p:nvSpPr>
        <p:spPr>
          <a:xfrm>
            <a:off x="9454896" y="274320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workspace select staging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of  terraform workspace list :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89204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2B1B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77240" y="5056632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dev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staging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 marks the active workspace)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760720" y="4892040"/>
            <a:ext cx="5852160" cy="1417320"/>
          </a:xfrm>
          <a:prstGeom prst="roundRect">
            <a:avLst>
              <a:gd name="adj" fmla="val 6452"/>
            </a:avLst>
          </a:prstGeom>
          <a:solidFill>
            <a:srgbClr val="F1EEFC"/>
          </a:solidFill>
          <a:ln/>
        </p:spPr>
      </p:sp>
      <p:pic>
        <p:nvPicPr>
          <p:cNvPr id="35" name="Image 0" descr="/home/claude/tfws/sync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5138928"/>
            <a:ext cx="502920" cy="50292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6629400" y="4956048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command targets the active workspace’s state — switching workspaces never touches another environment’s resources.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Workspaces &amp; Environments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 STEP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terraform.workspace Built-in Variable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pPr indent="0" marL="0">
              <a:buNone/>
            </a:pPr>
            <a:r>
              <a:rPr lang="en-US" sz="1500" b="1" dirty="0">
                <a:solidFill>
                  <a:srgbClr val="3B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terraform.workspace</a:t>
            </a:r>
            <a:pPr indent="0" marL="0">
              <a:buNone/>
            </a:pPr>
            <a:r>
              <a:rPr lang="en-US" sz="1500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dynamically adjust resources based on the active workspace.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6492240" cy="3200400"/>
          </a:xfrm>
          <a:prstGeom prst="roundRect">
            <a:avLst>
              <a:gd name="adj" fmla="val 2286"/>
            </a:avLst>
          </a:prstGeom>
          <a:solidFill>
            <a:srgbClr val="2B1B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59152"/>
            <a:ext cx="6035040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"web" {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"ami-0c55b159cbfafe1f0"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"t2.micro"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      = "web-${terraform.workspace}"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 = terraform.workspace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0" y="2194560"/>
            <a:ext cx="42976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home/claude/tfws/tags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24688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 the staging workspace: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635240" y="3063240"/>
            <a:ext cx="3657600" cy="502920"/>
          </a:xfrm>
          <a:prstGeom prst="roundRect">
            <a:avLst>
              <a:gd name="adj" fmla="val 50909"/>
            </a:avLst>
          </a:prstGeom>
          <a:solidFill>
            <a:srgbClr val="17B890"/>
          </a:solidFill>
          <a:ln/>
        </p:spPr>
      </p:sp>
      <p:sp>
        <p:nvSpPr>
          <p:cNvPr id="11" name="Text 8"/>
          <p:cNvSpPr/>
          <p:nvPr/>
        </p:nvSpPr>
        <p:spPr>
          <a:xfrm>
            <a:off x="7635240" y="3063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web-staging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35240" y="3703320"/>
            <a:ext cx="3657600" cy="502920"/>
          </a:xfrm>
          <a:prstGeom prst="roundRect">
            <a:avLst>
              <a:gd name="adj" fmla="val 50909"/>
            </a:avLst>
          </a:prstGeom>
          <a:solidFill>
            <a:srgbClr val="5B4B8A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3703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 = staging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35240" y="43891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tip: run this same config in dev/prod and show learners how tags shift automatically.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Workspaces &amp; Environments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 STEP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Workspace-Specific Configuration with lookup()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035040" cy="3017520"/>
          </a:xfrm>
          <a:prstGeom prst="roundRect">
            <a:avLst>
              <a:gd name="adj" fmla="val 2424"/>
            </a:avLst>
          </a:prstGeom>
          <a:solidFill>
            <a:srgbClr val="2B1B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64792"/>
            <a:ext cx="557784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{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instance_type_map = {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"default" = "t2.micro"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"dev"     = "t3.micro"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"staging" = "t3.medium"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"prod"    = "t3.large"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instance_type = lookup(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local.instance_type_map,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terraform.workspace, "t2.micro"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instance_type per workspace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2057400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1EEFC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2057400"/>
            <a:ext cx="73152" cy="0"/>
          </a:xfrm>
          <a:prstGeom prst="rect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7040880" y="2231136"/>
            <a:ext cx="164592" cy="164592"/>
          </a:xfrm>
          <a:prstGeom prst="ellipse">
            <a:avLst/>
          </a:prstGeom>
          <a:solidFill>
            <a:srgbClr val="5B4B8A"/>
          </a:solidFill>
          <a:ln/>
        </p:spPr>
      </p:sp>
      <p:sp>
        <p:nvSpPr>
          <p:cNvPr id="10" name="Text 8"/>
          <p:cNvSpPr/>
          <p:nvPr/>
        </p:nvSpPr>
        <p:spPr>
          <a:xfrm>
            <a:off x="7360920" y="205740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235440" y="205740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B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t2.micro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2679192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1EEFC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2679192"/>
            <a:ext cx="73152" cy="0"/>
          </a:xfrm>
          <a:prstGeom prst="rect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7040880" y="2852928"/>
            <a:ext cx="164592" cy="164592"/>
          </a:xfrm>
          <a:prstGeom prst="ellipse">
            <a:avLst/>
          </a:prstGeom>
          <a:solidFill>
            <a:srgbClr val="6F5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360920" y="267919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35440" y="267919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B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t3.micro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3300984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1EE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3300984"/>
            <a:ext cx="73152" cy="0"/>
          </a:xfrm>
          <a:prstGeom prst="rect">
            <a:avLst/>
          </a:prstGeom>
          <a:noFill/>
          <a:ln/>
        </p:spPr>
      </p:sp>
      <p:sp>
        <p:nvSpPr>
          <p:cNvPr id="19" name="Shape 17"/>
          <p:cNvSpPr/>
          <p:nvPr/>
        </p:nvSpPr>
        <p:spPr>
          <a:xfrm>
            <a:off x="7040880" y="3474720"/>
            <a:ext cx="164592" cy="164592"/>
          </a:xfrm>
          <a:prstGeom prst="ellipse">
            <a:avLst/>
          </a:prstGeom>
          <a:solidFill>
            <a:srgbClr val="17B890"/>
          </a:solidFill>
          <a:ln/>
        </p:spPr>
      </p:sp>
      <p:sp>
        <p:nvSpPr>
          <p:cNvPr id="20" name="Text 18"/>
          <p:cNvSpPr/>
          <p:nvPr/>
        </p:nvSpPr>
        <p:spPr>
          <a:xfrm>
            <a:off x="7360920" y="330098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35440" y="330098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B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t3.medium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0" y="3922776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1EEFC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0" y="3922776"/>
            <a:ext cx="73152" cy="0"/>
          </a:xfrm>
          <a:prstGeom prst="rect">
            <a:avLst/>
          </a:prstGeom>
          <a:noFill/>
          <a:ln/>
        </p:spPr>
      </p:sp>
      <p:sp>
        <p:nvSpPr>
          <p:cNvPr id="24" name="Shape 22"/>
          <p:cNvSpPr/>
          <p:nvPr/>
        </p:nvSpPr>
        <p:spPr>
          <a:xfrm>
            <a:off x="7040880" y="4096512"/>
            <a:ext cx="164592" cy="164592"/>
          </a:xfrm>
          <a:prstGeom prst="ellipse">
            <a:avLst/>
          </a:prstGeom>
          <a:solidFill>
            <a:srgbClr val="FF6B5A"/>
          </a:solidFill>
          <a:ln/>
        </p:spPr>
      </p:sp>
      <p:sp>
        <p:nvSpPr>
          <p:cNvPr id="25" name="Text 23"/>
          <p:cNvSpPr/>
          <p:nvPr/>
        </p:nvSpPr>
        <p:spPr>
          <a:xfrm>
            <a:off x="7360920" y="392277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35440" y="392277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3B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t3.large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Workspaces &amp; Environments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B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 BEST PRACTICES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Dev, Staging &amp; Production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3B2C64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5B4B8A"/>
          </a:solidFill>
          <a:ln/>
        </p:spPr>
      </p:sp>
      <p:pic>
        <p:nvPicPr>
          <p:cNvPr id="6" name="Image 0" descr="/home/claude/tfws/laye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2311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848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Workspaces for Small Environments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environments are simple, workspaces are a great fit.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3B2C64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103120"/>
            <a:ext cx="548640" cy="548640"/>
          </a:xfrm>
          <a:prstGeom prst="ellipse">
            <a:avLst/>
          </a:prstGeom>
          <a:solidFill>
            <a:srgbClr val="5B4B8A"/>
          </a:solidFill>
          <a:ln/>
        </p:spPr>
      </p:sp>
      <p:pic>
        <p:nvPicPr>
          <p:cNvPr id="11" name="Image 1" descr="/home/claude/tfws/lo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23113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848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 Backends for Separate AWS Accounts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37960" y="27432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 are not meant to manage separate cloud accounts.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3B2C64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5B4B8A"/>
          </a:solidFill>
          <a:ln/>
        </p:spPr>
      </p:sp>
      <p:pic>
        <p:nvPicPr>
          <p:cNvPr id="16" name="Image 2" descr="/home/claude/tfws/cloud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37997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2336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State Remotely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68680" y="48920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S3 backend (with DynamoDB locking) to avoid losing state.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3B2C64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251960"/>
            <a:ext cx="548640" cy="548640"/>
          </a:xfrm>
          <a:prstGeom prst="ellipse">
            <a:avLst/>
          </a:prstGeom>
          <a:solidFill>
            <a:srgbClr val="5B4B8A"/>
          </a:solidFill>
          <a:ln/>
        </p:spPr>
      </p:sp>
      <p:pic>
        <p:nvPicPr>
          <p:cNvPr id="21" name="Image 3" descr="/home/claude/tfws/rocket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437997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2336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with CI/CD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37960" y="48920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workspace selection in GitLab, Jenkins, or GitHub Actions.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Workspaces &amp; Environments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Goal: Deploy EC2 in Dev, Staging &amp; Prod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1EE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tfws/folder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945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94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1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terraform-workspaces/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</a:t>
            </a:r>
            <a:pPr indent="0" marL="0">
              <a:buNone/>
            </a:pPr>
            <a:r>
              <a:rPr lang="en-US" sz="1350" b="1" dirty="0">
                <a:solidFill>
                  <a:srgbClr val="3B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main.tf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29184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config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3401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</a:t>
            </a:r>
            <a:pPr indent="0" marL="0">
              <a:buNone/>
            </a:pPr>
            <a:r>
              <a:rPr lang="en-US" sz="1350" b="1" dirty="0">
                <a:solidFill>
                  <a:srgbClr val="3B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variables.tf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291840" y="3401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file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05840" y="39684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</a:t>
            </a:r>
            <a:pPr indent="0" marL="0">
              <a:buNone/>
            </a:pPr>
            <a:r>
              <a:rPr lang="en-US" sz="1350" b="1" dirty="0">
                <a:solidFill>
                  <a:srgbClr val="3B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backend.tf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291840" y="39684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storage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45354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</a:t>
            </a:r>
            <a:pPr indent="0" marL="0">
              <a:buNone/>
            </a:pPr>
            <a:r>
              <a:rPr lang="en-US" sz="1350" b="1" dirty="0">
                <a:solidFill>
                  <a:srgbClr val="3B2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outputs.tf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3291840" y="45354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350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backend.tf — remote state in S3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1965960"/>
            <a:ext cx="5577840" cy="3291840"/>
          </a:xfrm>
          <a:prstGeom prst="roundRect">
            <a:avLst>
              <a:gd name="adj" fmla="val 2222"/>
            </a:avLst>
          </a:prstGeom>
          <a:solidFill>
            <a:srgbClr val="2B1B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263640" y="2130552"/>
            <a:ext cx="512064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{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backend "s3" {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bucket = "my-terraform-state-bucket"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   = "terraform-workspaces/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terraform.tfstate"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region  = "us-east-1"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encrypt = true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dynamodb_table = "terraform-lock"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Ensures each workspace has its own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isolated state file in S3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Workspaces &amp; Environments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E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Between Environments &amp; Deploy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852160" cy="3657600"/>
          </a:xfrm>
          <a:prstGeom prst="roundRect">
            <a:avLst>
              <a:gd name="adj" fmla="val 2000"/>
            </a:avLst>
          </a:prstGeom>
          <a:solidFill>
            <a:srgbClr val="2B1B5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10512"/>
            <a:ext cx="5394960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init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workspace select dev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 -auto-approve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workspace select staging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 -auto-approve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workspace select prod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F8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apply -auto-approve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766560" y="173736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home/claude/tfws/server_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98424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0" y="18470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web-dev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89520" y="22128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= dev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058400" y="1993392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5B4B8A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0" y="19933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t3.micro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766560" y="288036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/home/claude/tfws/server_pur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12724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29900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web-staging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589520" y="33558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= staging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10058400" y="3136392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7B890"/>
          </a:solidFill>
          <a:ln/>
        </p:spPr>
      </p:sp>
      <p:sp>
        <p:nvSpPr>
          <p:cNvPr id="17" name="Text 13"/>
          <p:cNvSpPr/>
          <p:nvPr/>
        </p:nvSpPr>
        <p:spPr>
          <a:xfrm>
            <a:off x="10058400" y="31363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t3.medium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766560" y="4023360"/>
            <a:ext cx="48463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9" name="Image 2" descr="/home/claude/tfws/server_pur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427024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589520" y="41330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1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web-prod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589520" y="44988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= prod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10058400" y="4279392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FF6B5A"/>
          </a:solidFill>
          <a:ln/>
        </p:spPr>
      </p:sp>
      <p:sp>
        <p:nvSpPr>
          <p:cNvPr id="23" name="Text 18"/>
          <p:cNvSpPr/>
          <p:nvPr/>
        </p:nvSpPr>
        <p:spPr>
          <a:xfrm>
            <a:off x="10058400" y="42793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t3.large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Workspaces &amp; Environments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B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7B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3B2C64"/>
          </a:solidFill>
          <a:ln/>
        </p:spPr>
      </p:sp>
      <p:pic>
        <p:nvPicPr>
          <p:cNvPr id="5" name="Image 0" descr="/home/claude/tfws/laye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99339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workspaces are and why they matter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3B2C64"/>
          </a:solidFill>
          <a:ln/>
        </p:spPr>
      </p:sp>
      <p:pic>
        <p:nvPicPr>
          <p:cNvPr id="8" name="Image 1" descr="/home/claude/tfws/sync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770632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6517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Creating, switching, and managing workspaces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640080" y="3429000"/>
            <a:ext cx="502920" cy="502920"/>
          </a:xfrm>
          <a:prstGeom prst="ellipse">
            <a:avLst/>
          </a:prstGeom>
          <a:solidFill>
            <a:srgbClr val="3B2C64"/>
          </a:solidFill>
          <a:ln/>
        </p:spPr>
      </p:sp>
      <p:pic>
        <p:nvPicPr>
          <p:cNvPr id="11" name="Image 2" descr="/home/claude/tfws/cod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547872"/>
            <a:ext cx="265176" cy="2651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4290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terraform.workspace in configurations</a:t>
            </a:r>
            <a:endParaRPr lang="en-US" sz="1650" dirty="0"/>
          </a:p>
        </p:txBody>
      </p:sp>
      <p:sp>
        <p:nvSpPr>
          <p:cNvPr id="13" name="Shape 8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3B2C64"/>
          </a:solidFill>
          <a:ln/>
        </p:spPr>
      </p:sp>
      <p:pic>
        <p:nvPicPr>
          <p:cNvPr id="14" name="Image 3" descr="/home/claude/tfws/bulb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325112"/>
            <a:ext cx="265176" cy="26517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42062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for multi-environment deployments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640080" y="4983480"/>
            <a:ext cx="502920" cy="502920"/>
          </a:xfrm>
          <a:prstGeom prst="ellipse">
            <a:avLst/>
          </a:prstGeom>
          <a:solidFill>
            <a:srgbClr val="3B2C64"/>
          </a:solidFill>
          <a:ln/>
        </p:spPr>
      </p:sp>
      <p:pic>
        <p:nvPicPr>
          <p:cNvPr id="17" name="Image 4" descr="/home/claude/tfws/rocket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5102352"/>
            <a:ext cx="265176" cy="26517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71600" y="49834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deploying EC2 across dev, staging &amp; prod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548640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Chapter 9 — Terraform Modules &amp; Reusable Configurations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Workspaces &amp; Environments</dc:title>
  <dc:subject>PptxGenJS Presentation</dc:subject>
  <dc:creator>Terraform Training</dc:creator>
  <cp:lastModifiedBy>Terraform Training</cp:lastModifiedBy>
  <cp:revision>1</cp:revision>
  <dcterms:created xsi:type="dcterms:W3CDTF">2026-07-07T10:00:58Z</dcterms:created>
  <dcterms:modified xsi:type="dcterms:W3CDTF">2026-07-07T10:00:58Z</dcterms:modified>
</cp:coreProperties>
</file>