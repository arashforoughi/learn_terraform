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2F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754880" cy="4754880"/>
          </a:xfrm>
          <a:prstGeom prst="ellipse">
            <a:avLst/>
          </a:prstGeom>
          <a:solidFill>
            <a:srgbClr val="5C4EE5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206240"/>
            <a:ext cx="3840480" cy="3840480"/>
          </a:xfrm>
          <a:prstGeom prst="ellipse">
            <a:avLst/>
          </a:prstGeom>
          <a:solidFill>
            <a:srgbClr val="2ED9C3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914400" cy="914400"/>
          </a:xfrm>
          <a:prstGeom prst="ellipse">
            <a:avLst/>
          </a:prstGeom>
          <a:solidFill>
            <a:srgbClr val="5C4EE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0515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2ED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14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5146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Terraform Cloud &amp; Enterprise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22960" y="379476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FC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infrastructure management, remote state storage, and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FC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enforcement with Sentinel.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99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Execution   ·   State Management   ·   RBAC   ·   Sentinel Policies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Cloud &amp; Enterprise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6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14.1  Overview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Terraform Cloud?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managed service by HashiCorp for team-based infrastructure management.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2487168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B2F7A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41248" y="2350008"/>
            <a:ext cx="640080" cy="640080"/>
          </a:xfrm>
          <a:prstGeom prst="ellipse">
            <a:avLst/>
          </a:prstGeom>
          <a:solidFill>
            <a:srgbClr val="E7E4FB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514600"/>
            <a:ext cx="310896" cy="31089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04672" y="3108960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Execution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04672" y="3474720"/>
            <a:ext cx="1975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E6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Terraform plans and applies in HashiCorp-managed cloud runners.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91840" y="2057400"/>
            <a:ext cx="2487168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B2F7A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584448" y="2350008"/>
            <a:ext cx="640080" cy="640080"/>
          </a:xfrm>
          <a:prstGeom prst="ellipse">
            <a:avLst/>
          </a:prstGeom>
          <a:solidFill>
            <a:srgbClr val="E7E4FB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2514600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47872" y="3108960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547872" y="3474720"/>
            <a:ext cx="1975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E6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Centralized, versioned state storage — no more local .tfstate files.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035040" y="2057400"/>
            <a:ext cx="2487168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B2F7A">
                <a:alpha val="1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327648" y="2350008"/>
            <a:ext cx="640080" cy="640080"/>
          </a:xfrm>
          <a:prstGeom prst="ellipse">
            <a:avLst/>
          </a:prstGeom>
          <a:solidFill>
            <a:srgbClr val="E7E4FB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514600"/>
            <a:ext cx="310896" cy="31089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91072" y="3108960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Collaboration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291072" y="3474720"/>
            <a:ext cx="1975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E6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(RBAC) and run notifications.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8778240" y="2057400"/>
            <a:ext cx="2487168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B2F7A">
                <a:alpha val="1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070848" y="2350008"/>
            <a:ext cx="640080" cy="640080"/>
          </a:xfrm>
          <a:prstGeom prst="ellipse">
            <a:avLst/>
          </a:prstGeom>
          <a:solidFill>
            <a:srgbClr val="E7E4FB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0" y="2514600"/>
            <a:ext cx="310896" cy="31089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034272" y="3108960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Enforcement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9034272" y="3474720"/>
            <a:ext cx="1975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E6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policies block non-compliant infrastructure before it ships.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548640" y="45262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4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Cloud simplifies team-based infrastructure management.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548640" y="507492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E7E4FB"/>
          </a:solidFill>
          <a:ln/>
        </p:spPr>
      </p:sp>
      <p:sp>
        <p:nvSpPr>
          <p:cNvPr id="29" name="Text 23"/>
          <p:cNvSpPr/>
          <p:nvPr/>
        </p:nvSpPr>
        <p:spPr>
          <a:xfrm>
            <a:off x="822960" y="52303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4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Talking point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822960" y="5504688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41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learners where they currently store Terraform state today — most will say “locally” or “S3.” Use that to set up the contrast on the next slide.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Cloud &amp; Enterprise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6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14.1  Overview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Terraform Cloud vs. Self-Hosted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2743200"/>
        </p:xfrm>
        <a:graphic>
          <a:graphicData uri="http://schemas.openxmlformats.org/drawingml/2006/table">
            <a:tbl>
              <a:tblPr/>
              <a:tblGrid>
                <a:gridCol w="3931920"/>
                <a:gridCol w="3566160"/>
                <a:gridCol w="356616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F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Terraform Cloud ☁️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F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Self-Hosted Terraform 🏠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F7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41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Management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41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Built-in (SaaS)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41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(e.g., S3, Git)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4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41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Execution Environments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41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Runners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41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/ CI Pipeline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41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&amp; Compliance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41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Sentinel Policies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41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Implementation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4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41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Collaboration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41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RBAC, Notifications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41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GitOps, CI/CD Pipelines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66344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3B2F7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507492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4892040"/>
            <a:ext cx="9784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Cloud simplifies team-based infrastructure management — trading manual setup for a managed, governed workflow.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Cloud &amp; Enterprise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6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14.2  Remote State Storage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Started with Terraform Cloud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default, Terraform stores state locally (terraform.tfstate). Terraform Cloud provides a centralized backend instead.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B2F7A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41248" y="2400300"/>
            <a:ext cx="457200" cy="457200"/>
          </a:xfrm>
          <a:prstGeom prst="ellipse">
            <a:avLst/>
          </a:prstGeom>
          <a:solidFill>
            <a:srgbClr val="5C4EE5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24003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600200" y="224942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Terraform Cloud Account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00200" y="2633472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at app.terraform.io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38328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B2F7A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1248" y="3680460"/>
            <a:ext cx="457200" cy="457200"/>
          </a:xfrm>
          <a:prstGeom prst="ellipse">
            <a:avLst/>
          </a:prstGeom>
          <a:solidFill>
            <a:srgbClr val="5C4EE5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" y="36804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00200" y="352958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Organization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00200" y="3913632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the org that will own your workspaces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66344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B2F7A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41248" y="4960620"/>
            <a:ext cx="457200" cy="457200"/>
          </a:xfrm>
          <a:prstGeom prst="ellipse">
            <a:avLst/>
          </a:prstGeom>
          <a:solidFill>
            <a:srgbClr val="5C4EE5"/>
          </a:solidFill>
          <a:ln/>
        </p:spPr>
      </p:sp>
      <p:sp>
        <p:nvSpPr>
          <p:cNvPr id="19" name="Text 17"/>
          <p:cNvSpPr/>
          <p:nvPr/>
        </p:nvSpPr>
        <p:spPr>
          <a:xfrm>
            <a:off x="841248" y="49606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600200" y="480974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Workspace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00200" y="5193792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a workspace for managing infrastructure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4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of 3  —  Account &amp; Workspace Setup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Cloud &amp; Enterprise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6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14.2  Remote State Storage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Configure the Cloud Backend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4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main.tf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5623560" cy="2331720"/>
          </a:xfrm>
          <a:prstGeom prst="roundRect">
            <a:avLst>
              <a:gd name="adj" fmla="val 3137"/>
            </a:avLst>
          </a:prstGeom>
          <a:solidFill>
            <a:srgbClr val="241E4E"/>
          </a:solidFill>
          <a:ln w="12700">
            <a:solidFill>
              <a:srgbClr val="241E4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947672"/>
            <a:ext cx="5166360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4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4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cloud 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4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organization = "my-terraform-org"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4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workspaces 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4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name = "my-terraform-workspace"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4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4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4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55080" y="1417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4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Initialize &amp; run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55080" y="1783080"/>
            <a:ext cx="5257800" cy="2331720"/>
          </a:xfrm>
          <a:prstGeom prst="roundRect">
            <a:avLst>
              <a:gd name="adj" fmla="val 3137"/>
            </a:avLst>
          </a:prstGeom>
          <a:solidFill>
            <a:srgbClr val="241E4E"/>
          </a:solidFill>
          <a:ln w="12700">
            <a:solidFill>
              <a:srgbClr val="241E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1947672"/>
            <a:ext cx="4800600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4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terraform init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4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terraform plan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4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terraform apply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34340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E7E4FB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626864"/>
            <a:ext cx="365760" cy="36576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371600" y="4480560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1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authenticates with Terraform Cloud and stores state remotely.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48640" y="544068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B2F7A">
                <a:alpha val="15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715000"/>
            <a:ext cx="411480" cy="4114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417320" y="557784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can also be triggered directly from the Terraform Cloud UI — not just the CLI.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B2F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3840480" cy="3840480"/>
          </a:xfrm>
          <a:prstGeom prst="ellipse">
            <a:avLst/>
          </a:prstGeom>
          <a:solidFill>
            <a:srgbClr val="5C4EE5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Cloud &amp; Enterprise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6355080"/>
            <a:ext cx="5486400" cy="502920"/>
          </a:xfrm>
          <a:prstGeom prst="rect">
            <a:avLst/>
          </a:prstGeom>
          <a:solidFill>
            <a:srgbClr val="3B2F7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Cloud &amp; Enterprise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005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D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14.3  Policy Enforcement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137160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Sentinel for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 Enforcement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822960" y="283464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FC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is a policy-as-code framework that enforces security rules before Terraform applies changes.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3840480"/>
            <a:ext cx="256032" cy="256032"/>
          </a:xfrm>
          <a:prstGeom prst="ellipse">
            <a:avLst/>
          </a:prstGeom>
          <a:solidFill>
            <a:srgbClr val="2ED9C3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3794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Guardrails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4343400"/>
            <a:ext cx="256032" cy="256032"/>
          </a:xfrm>
          <a:prstGeom prst="ellipse">
            <a:avLst/>
          </a:prstGeom>
          <a:solidFill>
            <a:srgbClr val="2ED9C3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Before Apply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4846320"/>
            <a:ext cx="256032" cy="256032"/>
          </a:xfrm>
          <a:prstGeom prst="ellipse">
            <a:avLst/>
          </a:prstGeom>
          <a:solidFill>
            <a:srgbClr val="2ED9C3"/>
          </a:solidFill>
          <a:ln/>
        </p:spPr>
      </p:sp>
      <p:sp>
        <p:nvSpPr>
          <p:cNvPr id="16" name="Text 14"/>
          <p:cNvSpPr/>
          <p:nvPr/>
        </p:nvSpPr>
        <p:spPr>
          <a:xfrm>
            <a:off x="1234440" y="4800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Non-Compliant Plans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418320" y="2377440"/>
            <a:ext cx="1920240" cy="1920240"/>
          </a:xfrm>
          <a:prstGeom prst="ellipse">
            <a:avLst/>
          </a:prstGeom>
          <a:solidFill>
            <a:srgbClr val="5C4EE5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0" y="288036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Cloud &amp; Enterprise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6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14.3  Policy Enforcement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41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Enable &amp; Define a Sentinel Policy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4206240" cy="448056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B2F7A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737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4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Enable Sentinel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2286000"/>
            <a:ext cx="365760" cy="365760"/>
          </a:xfrm>
          <a:prstGeom prst="ellipse">
            <a:avLst/>
          </a:prstGeom>
          <a:solidFill>
            <a:srgbClr val="5C4EE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25880" y="225856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41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Settings → Policy Sets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2971800"/>
            <a:ext cx="365760" cy="365760"/>
          </a:xfrm>
          <a:prstGeom prst="ellipse">
            <a:avLst/>
          </a:prstGeom>
          <a:solidFill>
            <a:srgbClr val="5C4EE5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325880" y="294436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41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policy set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3657600"/>
            <a:ext cx="365760" cy="365760"/>
          </a:xfrm>
          <a:prstGeom prst="ellipse">
            <a:avLst/>
          </a:prstGeom>
          <a:solidFill>
            <a:srgbClr val="5C4EE5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325880" y="363016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41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the policy set to your workspace</a:t>
            </a:r>
            <a:endParaRPr lang="en-US" sz="125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709160"/>
            <a:ext cx="457200" cy="4572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417320" y="4663440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6E6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sets link one or more Sentinel policies to workspaces, so every run is checked automatically.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98348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4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restrict-region.sentinel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983480" y="2103120"/>
            <a:ext cx="6629400" cy="3886200"/>
          </a:xfrm>
          <a:prstGeom prst="roundRect">
            <a:avLst>
              <a:gd name="adj" fmla="val 1882"/>
            </a:avLst>
          </a:prstGeom>
          <a:solidFill>
            <a:srgbClr val="241E4E"/>
          </a:solidFill>
          <a:ln w="12700">
            <a:solidFill>
              <a:srgbClr val="241E4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212080" y="2267712"/>
            <a:ext cx="6172200" cy="3557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E4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"tfplan/v2" as tfplan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E4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allowed_regions = ["us-east-1",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E4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"us-west-2"]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E4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 = rule {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E4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all tfplan.resources.aws_instance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E4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as _, instances {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E4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all instances.applied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E4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.resource_changes as instance {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E4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instance.change.after.region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E4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 allowed_regions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E4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E4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E4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Cloud &amp; Enterprise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6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14.3  Policy Enforcement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the Sentinel Policy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Run a policy check with terraform apply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534924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B2F7A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2194560"/>
            <a:ext cx="548640" cy="548640"/>
          </a:xfrm>
          <a:prstGeom prst="ellipse">
            <a:avLst/>
          </a:prstGeom>
          <a:solidFill>
            <a:srgbClr val="E4FBF6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33172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00200" y="22402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Region: us-east-1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600200" y="26517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 — within allowed_regions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68680" y="3154680"/>
            <a:ext cx="4709160" cy="1874520"/>
          </a:xfrm>
          <a:prstGeom prst="roundRect">
            <a:avLst>
              <a:gd name="adj" fmla="val 3902"/>
            </a:avLst>
          </a:prstGeom>
          <a:solidFill>
            <a:srgbClr val="241E4E"/>
          </a:solidFill>
          <a:ln w="12700">
            <a:solidFill>
              <a:srgbClr val="241E4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97280" y="3319272"/>
            <a:ext cx="425196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E4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terraform apply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E4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Sentinel Policy Check: PASSED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E4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Applying: aws_instance.web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E4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Apply complete!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63640" y="1874520"/>
            <a:ext cx="534924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B2F7A">
                <a:alpha val="1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583680" y="2194560"/>
            <a:ext cx="548640" cy="548640"/>
          </a:xfrm>
          <a:prstGeom prst="ellipse">
            <a:avLst/>
          </a:prstGeom>
          <a:solidFill>
            <a:srgbClr val="FBE4EA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331720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315200" y="22402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Region: eu-central-1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7315200" y="26517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Non-compliant — outside allowed_regions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583680" y="3154680"/>
            <a:ext cx="4709160" cy="1874520"/>
          </a:xfrm>
          <a:prstGeom prst="roundRect">
            <a:avLst>
              <a:gd name="adj" fmla="val 3902"/>
            </a:avLst>
          </a:prstGeom>
          <a:solidFill>
            <a:srgbClr val="241E4E"/>
          </a:solidFill>
          <a:ln w="12700">
            <a:solidFill>
              <a:srgbClr val="241E4E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812280" y="3319272"/>
            <a:ext cx="425196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E4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terraform apply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E4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 Violation: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E4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'aws_instance.web' is in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E4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 unauthorized region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E4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'eu-central-1'.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548640" y="5440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4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compliance with security policies before infrastructure changes ship.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Cloud &amp; Enterprise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E6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SCENARIO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Up a Workspace &amp; Enforce Policies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E7E4F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5727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4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8288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1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to store Terraform state remotely and enforce security policies using Sentinel.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4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B2F7A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04672" y="3273552"/>
            <a:ext cx="457200" cy="457200"/>
          </a:xfrm>
          <a:prstGeom prst="ellipse">
            <a:avLst/>
          </a:prstGeom>
          <a:solidFill>
            <a:srgbClr val="5C4EE5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3273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3280" y="3291840"/>
            <a:ext cx="384048" cy="38404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04672" y="388620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org &amp; workspace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04672" y="4297680"/>
            <a:ext cx="3008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a Terraform Cloud organization and workspace.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343400" y="30175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B2F7A">
                <a:alpha val="1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599432" y="3273552"/>
            <a:ext cx="457200" cy="457200"/>
          </a:xfrm>
          <a:prstGeom prst="ellipse">
            <a:avLst/>
          </a:prstGeom>
          <a:solidFill>
            <a:srgbClr val="5C4EE5"/>
          </a:solidFill>
          <a:ln/>
        </p:spPr>
      </p:sp>
      <p:sp>
        <p:nvSpPr>
          <p:cNvPr id="18" name="Text 15"/>
          <p:cNvSpPr/>
          <p:nvPr/>
        </p:nvSpPr>
        <p:spPr>
          <a:xfrm>
            <a:off x="4599432" y="3273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3291840"/>
            <a:ext cx="384048" cy="38404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599432" y="388620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Terraform Cloud as backend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4599432" y="4297680"/>
            <a:ext cx="3008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main.tf at the cloud block for remote state.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8138160" y="30175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B2F7A">
                <a:alpha val="15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8394192" y="3273552"/>
            <a:ext cx="457200" cy="457200"/>
          </a:xfrm>
          <a:prstGeom prst="ellipse">
            <a:avLst/>
          </a:prstGeom>
          <a:solidFill>
            <a:srgbClr val="5C4EE5"/>
          </a:solidFill>
          <a:ln/>
        </p:spPr>
      </p:sp>
      <p:sp>
        <p:nvSpPr>
          <p:cNvPr id="24" name="Text 20"/>
          <p:cNvSpPr/>
          <p:nvPr/>
        </p:nvSpPr>
        <p:spPr>
          <a:xfrm>
            <a:off x="8394192" y="3273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3291840"/>
            <a:ext cx="384048" cy="38404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394192" y="388620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Sentinel policies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8394192" y="4297680"/>
            <a:ext cx="3008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infrastructure deployments to approved regions.</a:t>
            </a:r>
            <a:endParaRPr lang="en-US" sz="1150" dirty="0"/>
          </a:p>
        </p:txBody>
      </p:sp>
      <p:sp>
        <p:nvSpPr>
          <p:cNvPr id="28" name="Text 23"/>
          <p:cNvSpPr/>
          <p:nvPr/>
        </p:nvSpPr>
        <p:spPr>
          <a:xfrm>
            <a:off x="548640" y="5257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4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120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577840"/>
            <a:ext cx="274320" cy="27432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14400" y="555955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1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is securely stored in Terraform Cloud</a:t>
            </a:r>
            <a:endParaRPr lang="en-US" sz="125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5577840"/>
            <a:ext cx="274320" cy="27432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6492240" y="555955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1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checks prevent non-compliant deployments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B2F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572000" cy="4572000"/>
          </a:xfrm>
          <a:prstGeom prst="ellipse">
            <a:avLst/>
          </a:prstGeom>
          <a:solidFill>
            <a:srgbClr val="5C4EE5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754880"/>
            <a:ext cx="4114800" cy="4114800"/>
          </a:xfrm>
          <a:prstGeom prst="ellipse">
            <a:avLst/>
          </a:prstGeom>
          <a:solidFill>
            <a:srgbClr val="2ED9C3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ED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14 SUMMARY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0058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10515600" cy="1143000"/>
          </a:xfrm>
          <a:prstGeom prst="roundRect">
            <a:avLst>
              <a:gd name="adj" fmla="val 8000"/>
            </a:avLst>
          </a:prstGeom>
          <a:solidFill>
            <a:srgbClr val="463B92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2423160"/>
            <a:ext cx="594360" cy="594360"/>
          </a:xfrm>
          <a:prstGeom prst="ellipse">
            <a:avLst/>
          </a:prstGeom>
          <a:solidFill>
            <a:srgbClr val="3B2F7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56032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65960" y="2313432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State &amp; Execution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965960" y="2715768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C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Cloud enables remote state storage and remote execution of runs.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22960" y="3520440"/>
            <a:ext cx="10515600" cy="1143000"/>
          </a:xfrm>
          <a:prstGeom prst="roundRect">
            <a:avLst>
              <a:gd name="adj" fmla="val 8000"/>
            </a:avLst>
          </a:prstGeom>
          <a:solidFill>
            <a:srgbClr val="463B92"/>
          </a:solidFill>
          <a:ln/>
        </p:spPr>
      </p:sp>
      <p:sp>
        <p:nvSpPr>
          <p:cNvPr id="12" name="Shape 9"/>
          <p:cNvSpPr/>
          <p:nvPr/>
        </p:nvSpPr>
        <p:spPr>
          <a:xfrm>
            <a:off x="1097280" y="3794760"/>
            <a:ext cx="594360" cy="594360"/>
          </a:xfrm>
          <a:prstGeom prst="ellipse">
            <a:avLst/>
          </a:prstGeom>
          <a:solidFill>
            <a:srgbClr val="3B2F7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393192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965960" y="3685032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Enforces Security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1965960" y="4087368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C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enforces security policies for every Terraform deployment.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22960" y="4892040"/>
            <a:ext cx="10515600" cy="1143000"/>
          </a:xfrm>
          <a:prstGeom prst="roundRect">
            <a:avLst>
              <a:gd name="adj" fmla="val 8000"/>
            </a:avLst>
          </a:prstGeom>
          <a:solidFill>
            <a:srgbClr val="463B92"/>
          </a:solidFill>
          <a:ln/>
        </p:spPr>
      </p:sp>
      <p:sp>
        <p:nvSpPr>
          <p:cNvPr id="17" name="Shape 13"/>
          <p:cNvSpPr/>
          <p:nvPr/>
        </p:nvSpPr>
        <p:spPr>
          <a:xfrm>
            <a:off x="1097280" y="5166360"/>
            <a:ext cx="594360" cy="594360"/>
          </a:xfrm>
          <a:prstGeom prst="ellipse">
            <a:avLst/>
          </a:prstGeom>
          <a:solidFill>
            <a:srgbClr val="3B2F7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530352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965960" y="5056632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Integration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965960" y="5458968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C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Cloud integrates with CI/CD pipelines for automation.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99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Chapter 15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Terraform Cloud &amp; Enterprise</dc:title>
  <dc:subject>PptxGenJS Presentation</dc:subject>
  <dc:creator>Terraform Training</dc:creator>
  <cp:lastModifiedBy>Terraform Training</cp:lastModifiedBy>
  <cp:revision>1</cp:revision>
  <dcterms:created xsi:type="dcterms:W3CDTF">2026-07-07T14:56:55Z</dcterms:created>
  <dcterms:modified xsi:type="dcterms:W3CDTF">2026-07-07T14:56:55Z</dcterms:modified>
</cp:coreProperties>
</file>