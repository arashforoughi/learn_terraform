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4B2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548640"/>
            <a:ext cx="2926080" cy="2926080"/>
          </a:xfrm>
          <a:prstGeom prst="ellipse">
            <a:avLst/>
          </a:prstGeom>
          <a:solidFill>
            <a:srgbClr val="00D9C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840480" cy="3840480"/>
          </a:xfrm>
          <a:prstGeom prst="ellipse">
            <a:avLst/>
          </a:prstGeom>
          <a:solidFill>
            <a:srgbClr val="7B42B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· INFRASTRUCTURE AS 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Loops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Conditionals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dynamic, DRY infrastructure with count, for_each, dynamic blocks, and conditional expressions.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48640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4B2A82">
              <a:alpha val="70000"/>
            </a:srgbClr>
          </a:solidFill>
          <a:ln w="12700">
            <a:solidFill>
              <a:srgbClr val="7B42BC"/>
            </a:solidFill>
            <a:prstDash val="solid"/>
          </a:ln>
        </p:spPr>
      </p:sp>
      <p:pic>
        <p:nvPicPr>
          <p:cNvPr id="9" name="Image 0" descr="icons/rand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66013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5486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0" y="548640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4B2A82">
              <a:alpha val="70000"/>
            </a:srgbClr>
          </a:solidFill>
          <a:ln w="12700">
            <a:solidFill>
              <a:srgbClr val="7B42BC"/>
            </a:solidFill>
            <a:prstDash val="solid"/>
          </a:ln>
        </p:spPr>
      </p:sp>
      <p:pic>
        <p:nvPicPr>
          <p:cNvPr id="12" name="Image 1" descr="icons/lay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566013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5486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63440" y="548640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4B2A82">
              <a:alpha val="70000"/>
            </a:srgbClr>
          </a:solidFill>
          <a:ln w="12700">
            <a:solidFill>
              <a:srgbClr val="7B42BC"/>
            </a:solidFill>
            <a:prstDash val="solid"/>
          </a:ln>
        </p:spPr>
      </p:sp>
      <p:pic>
        <p:nvPicPr>
          <p:cNvPr id="15" name="Image 2" descr="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56601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5486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83680" y="548640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4B2A82">
              <a:alpha val="70000"/>
            </a:srgbClr>
          </a:solidFill>
          <a:ln w="12700">
            <a:solidFill>
              <a:srgbClr val="7B42BC"/>
            </a:solidFill>
            <a:prstDash val="solid"/>
          </a:ln>
        </p:spPr>
      </p:sp>
      <p:pic>
        <p:nvPicPr>
          <p:cNvPr id="18" name="Image 3" descr="icons/exchan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66013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5486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ternary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gives us three core tools to keep infrastructure code short, safe, and reusable.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95728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7" name="Image 0" descr="icons/rand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328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08760" y="2542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vs. for_each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75120" y="21945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looping mechanisms for creating multiple resources.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493008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3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3016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508760" y="3639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blocks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675120" y="3291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repetition inside nested configuration blocks.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3891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4590288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9" name="Image 2" descr="icons/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2744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4526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508760" y="47365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expressions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675120" y="43891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ternary operator for environment-aware config.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7240" y="5687568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25" name="Image 3" descr="icons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82472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5623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508760" y="5833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walkthrough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6675120" y="54864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EC2 instances dynamically, end to end.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Loops &amp; Conditionals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· COUNT VS. FOR_EACH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loop over resources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743200"/>
        </p:xfrm>
        <a:graphic>
          <a:graphicData uri="http://schemas.openxmlformats.org/drawingml/2006/table">
            <a:tbl>
              <a:tblPr/>
              <a:tblGrid>
                <a:gridCol w="3108960"/>
                <a:gridCol w="3977640"/>
                <a:gridCol w="3977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2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2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for_each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2B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41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0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for iteration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D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or set for iteration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41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0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similar resources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D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Unique, keyed resources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41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Key-based indexing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0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uses index numbers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D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uses map/set keys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41C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Removing an item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B0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cause reordering issues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D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reordering issues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1ED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icons/bol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3776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48006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pPr indent="0" marL="0">
              <a:buNone/>
            </a:pPr>
            <a:r>
              <a:rPr lang="en-US" sz="15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</a:t>
            </a:r>
            <a:pPr indent="0" marL="0">
              <a:buNone/>
            </a:pPr>
            <a:r>
              <a:rPr lang="en-US" sz="15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5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identical, throwaway copies; reach for </a:t>
            </a:r>
            <a:pPr indent="0" marL="0">
              <a:buNone/>
            </a:pPr>
            <a:r>
              <a:rPr lang="en-US" sz="15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</a:t>
            </a:r>
            <a:pPr indent="0" marL="0">
              <a:buNone/>
            </a:pPr>
            <a:r>
              <a:rPr lang="en-US" sz="15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whenever each resource needs its own stable identity.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Loops &amp; Conditionals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· USING COUNT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3 EC2 instances with 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3337560"/>
          </a:xfrm>
          <a:prstGeom prst="roundRect">
            <a:avLst>
              <a:gd name="adj" fmla="val 2192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7190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71907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"example"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         = 3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"ami-12345678"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"server-${count.index}"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69480" y="1554480"/>
            <a:ext cx="4343400" cy="1554480"/>
          </a:xfrm>
          <a:prstGeom prst="roundRect">
            <a:avLst>
              <a:gd name="adj" fmla="val 5882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7830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0" y="17373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D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3 instances: server-0, server-1, server-2.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269480" y="3291840"/>
            <a:ext cx="4343400" cy="160020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icons/shield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204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0" y="34747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an instance can shift index positions, forcing Terraform to recreate resources unexpectedly.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269480" y="5029200"/>
            <a:ext cx="4343400" cy="1005840"/>
          </a:xfrm>
          <a:prstGeom prst="roundRect">
            <a:avLst>
              <a:gd name="adj" fmla="val 9091"/>
            </a:avLst>
          </a:prstGeom>
          <a:solidFill>
            <a:srgbClr val="F1ED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498080" y="50292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count for identical, interchangeable resources where order doesn't carry meaning.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Loops &amp; Conditionals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· USING FOR_EACH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instances dynamically with for_each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7647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76479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"instances"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= map(string)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"web" = "t2.micro"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"app" = "t3.small"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"db"  = "t3.medium"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76479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1" name="Shape 9"/>
          <p:cNvSpPr/>
          <p:nvPr/>
        </p:nvSpPr>
        <p:spPr>
          <a:xfrm>
            <a:off x="6574536" y="17647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775704" y="176479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01168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"example"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     = var.instances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"ami-12345678"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each.value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each.key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5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57800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63040" y="5029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web, app, and db instances with unique, stable names — removing "db" later never touches web or app.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Loops &amp; Conditionals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· DYNAMIC BLOCKS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nested blocks without repetition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572000"/>
          </a:xfrm>
          <a:prstGeom prst="roundRect">
            <a:avLst>
              <a:gd name="adj" fmla="val 1600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7190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71907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62179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"ingress_rules"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port = 80,  protocol = "tcp" },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port = 443, protocol = "tcp"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"aws_security_group" "example"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"dynamic-sg"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dynamic "ingress"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for_each = var.ingress_rules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from_port   = ingress.value.port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to_port     = ingress.value.port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protocol    = ingress.value.protocol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cidr_blocks = ["0.0.0.0/0"]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52360" y="1554480"/>
            <a:ext cx="4160520" cy="4572000"/>
          </a:xfrm>
          <a:prstGeom prst="roundRect">
            <a:avLst>
              <a:gd name="adj" fmla="val 2198"/>
            </a:avLst>
          </a:prstGeom>
          <a:solidFill>
            <a:srgbClr val="F1ED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42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26680" y="2377440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22128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for_each iterates the ingress_rules list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26680" y="3017520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28529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{ } is repeated once per rule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26680" y="3657600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3493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ports 80 &amp; 443 automatically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26680" y="4297680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0" y="41330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copy-pasted ingress blocks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Loops &amp; Conditionals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· CONDITIONAL EXPRESSIONS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ternary operator: ? :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2880360"/>
          </a:xfrm>
          <a:prstGeom prst="roundRect">
            <a:avLst>
              <a:gd name="adj" fmla="val 2540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7647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176479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6217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"environment"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"dev"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"example"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"ami-12345678"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var.environment == "prod" ?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"t3.large" : "t2.micro"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52360" y="1600200"/>
            <a:ext cx="41605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26680" y="1828800"/>
            <a:ext cx="3611880" cy="594360"/>
          </a:xfrm>
          <a:prstGeom prst="roundRect">
            <a:avLst>
              <a:gd name="adj" fmla="val 49231"/>
            </a:avLst>
          </a:prstGeom>
          <a:solidFill>
            <a:srgbClr val="7B42BC"/>
          </a:solidFill>
          <a:ln/>
        </p:spPr>
      </p:sp>
      <p:sp>
        <p:nvSpPr>
          <p:cNvPr id="11" name="Text 9"/>
          <p:cNvSpPr/>
          <p:nvPr/>
        </p:nvSpPr>
        <p:spPr>
          <a:xfrm>
            <a:off x="7726680" y="18288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== "prod" 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450592"/>
            <a:ext cx="-640080" cy="502920"/>
          </a:xfrm>
          <a:prstGeom prst="line">
            <a:avLst/>
          </a:prstGeom>
          <a:noFill/>
          <a:ln w="19050">
            <a:solidFill>
              <a:srgbClr val="6B648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66960" y="2450592"/>
            <a:ext cx="640080" cy="502920"/>
          </a:xfrm>
          <a:prstGeom prst="line">
            <a:avLst/>
          </a:prstGeom>
          <a:noFill/>
          <a:ln w="19050">
            <a:solidFill>
              <a:srgbClr val="6B648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297180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EAF7EF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297180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D8A5F"/>
                </a:solidFill>
              </a:rPr>
              <a:t>TRUE
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41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t3.large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46920" y="297180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1EDF9"/>
          </a:solidFill>
          <a:ln/>
        </p:spPr>
      </p:sp>
      <p:sp>
        <p:nvSpPr>
          <p:cNvPr id="17" name="Text 15"/>
          <p:cNvSpPr/>
          <p:nvPr/>
        </p:nvSpPr>
        <p:spPr>
          <a:xfrm>
            <a:off x="9646920" y="297180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B42BC"/>
                </a:solidFill>
              </a:rPr>
              <a:t>FALSE
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41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t2.micro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26680" y="4343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 ? value_if_true : value_if_false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1ED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20" name="Image 0" descr="icons/bol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63040" y="470916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English: </a:t>
            </a:r>
            <a:pPr indent="0" marL="0">
              <a:buNone/>
            </a:pPr>
            <a:r>
              <a:rPr lang="en-US" sz="15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pPr indent="0" marL="0">
              <a:buNone/>
            </a:pPr>
            <a:r>
              <a:rPr lang="en-US" sz="15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= "prod"</a:t>
            </a:r>
            <a:pPr indent="0" marL="0">
              <a:buNone/>
            </a:pPr>
            <a:r>
              <a:rPr lang="en-US" sz="15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assign </a:t>
            </a:r>
            <a:pPr indent="0" marL="0">
              <a:buNone/>
            </a:pPr>
            <a:r>
              <a:rPr lang="en-US" sz="15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"t3.large"</a:t>
            </a:r>
            <a:pPr indent="0" marL="0">
              <a:buNone/>
            </a:pPr>
            <a:r>
              <a:rPr lang="en-US" sz="15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otherwise fall back to </a:t>
            </a:r>
            <a:pPr indent="0" marL="0">
              <a:buNone/>
            </a:pPr>
            <a:r>
              <a:rPr lang="en-US" sz="150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"t2.micro"</a:t>
            </a:r>
            <a:pPr indent="0" marL="0">
              <a:buNone/>
            </a:pPr>
            <a:r>
              <a:rPr lang="en-US" sz="15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Loops &amp; Conditionals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· 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EC2 instances dynamically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2 — Define a typed variable for per-instance settings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2103120"/>
            <a:ext cx="10424160" cy="0"/>
          </a:xfrm>
          <a:prstGeom prst="line">
            <a:avLst/>
          </a:prstGeom>
          <a:noFill/>
          <a:ln w="25400">
            <a:solidFill>
              <a:srgbClr val="D9D1E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1155680" y="1874520"/>
            <a:ext cx="457200" cy="457200"/>
          </a:xfrm>
          <a:prstGeom prst="ellipse">
            <a:avLst/>
          </a:prstGeom>
          <a:solidFill>
            <a:srgbClr val="D9D1EF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42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64240" cy="3246120"/>
          </a:xfrm>
          <a:prstGeom prst="roundRect">
            <a:avLst>
              <a:gd name="adj" fmla="val 2254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286207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28620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286207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0896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"instances" 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= map(object({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instance_type = string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volume_size   = number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"web" = { instance_type = "t2.micro", volume_size = 10 }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"app" = { instance_type = "t3.small", volume_size = 20 }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Loops &amp; Conditionals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· 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EC2 instances dynamically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2 — Wire the variable into a for_each resource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D9D1E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42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2103120"/>
            <a:ext cx="10424160" cy="0"/>
          </a:xfrm>
          <a:prstGeom prst="line">
            <a:avLst/>
          </a:prstGeom>
          <a:noFill/>
          <a:ln w="25400">
            <a:solidFill>
              <a:srgbClr val="7B42B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1155680" y="1874520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6492240" cy="3246120"/>
          </a:xfrm>
          <a:prstGeom prst="roundRect">
            <a:avLst>
              <a:gd name="adj" fmla="val 2254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286207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" y="28620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286207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08960"/>
            <a:ext cx="6035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"example"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     = var.instances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"ami-12345678"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each.value.instance_type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root_block_device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volume_size = each.value.volume_size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 Name = each.key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69480" y="2697480"/>
            <a:ext cx="4343400" cy="3246120"/>
          </a:xfrm>
          <a:prstGeom prst="roundRect">
            <a:avLst>
              <a:gd name="adj" fmla="val 2817"/>
            </a:avLst>
          </a:prstGeom>
          <a:solidFill>
            <a:srgbClr val="F1ED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4380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42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2 instances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543800" y="347472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pic>
        <p:nvPicPr>
          <p:cNvPr id="18" name="Image 0" descr="icons/server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229600" y="3566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41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· 10 GB volume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543800" y="466344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pic>
        <p:nvPicPr>
          <p:cNvPr id="21" name="Image 1" descr="icons/server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484632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22960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41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t3.small · 20 GB volume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Loops &amp; Conditionals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4B2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114800" cy="4114800"/>
          </a:xfrm>
          <a:prstGeom prst="ellipse">
            <a:avLst/>
          </a:prstGeom>
          <a:solidFill>
            <a:srgbClr val="00D9C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configuration,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recapped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4B2A82">
              <a:alpha val="65000"/>
            </a:srgbClr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01752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8" name="Image 0" descr="icons/rand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15468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9718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vs. for_each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1640" y="335584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resources by index or by stable key.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75120" y="278892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4B2A82">
              <a:alpha val="65000"/>
            </a:srgbClr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03720" y="301752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3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15468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29718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blocks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89520" y="335584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nested blocks like ingress rules without copy-paste.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77240" y="457200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4B2A82">
              <a:alpha val="65000"/>
            </a:srgbClr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05840" y="480060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8" name="Image 2" descr="icons/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93776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7548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expressions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91640" y="513892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? true_val : false_val for environment logic.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675120" y="457200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4B2A82">
              <a:alpha val="65000"/>
            </a:srgbClr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03720" y="480060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23" name="Image 3" descr="icons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937760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9520" y="47548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589520" y="513892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for_each + typed objects to provision varied EC2 instances.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Loops &amp; Conditionals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Loops &amp; Conditionals</dc:title>
  <dc:subject>PptxGenJS Presentation</dc:subject>
  <dc:creator>Terraform Training</dc:creator>
  <cp:lastModifiedBy>Terraform Training</cp:lastModifiedBy>
  <cp:revision>1</cp:revision>
  <dcterms:created xsi:type="dcterms:W3CDTF">2026-07-07T10:30:14Z</dcterms:created>
  <dcterms:modified xsi:type="dcterms:W3CDTF">2026-07-07T10:30:14Z</dcterms:modified>
</cp:coreProperties>
</file>