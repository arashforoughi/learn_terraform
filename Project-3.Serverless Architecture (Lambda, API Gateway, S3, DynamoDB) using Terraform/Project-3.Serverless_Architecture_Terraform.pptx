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4B2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2926080" cy="2926080"/>
          </a:xfrm>
          <a:prstGeom prst="ellipse">
            <a:avLst/>
          </a:prstGeom>
          <a:solidFill>
            <a:srgbClr val="00D9C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840480" cy="3840480"/>
          </a:xfrm>
          <a:prstGeom prst="ellipse">
            <a:avLst/>
          </a:prstGeom>
          <a:solidFill>
            <a:srgbClr val="7B42B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APPLIED INFRASTRUCTURE AS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Architecture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Terraform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Lambda, API Gateway, S3, and DynamoDB — provisioned end-to-end and tested with a live request.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44068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4B2A82">
              <a:alpha val="70000"/>
            </a:srgbClr>
          </a:solidFill>
          <a:ln w="12700">
            <a:solidFill>
              <a:srgbClr val="7B42BC"/>
            </a:solidFill>
            <a:prstDash val="solid"/>
          </a:ln>
        </p:spPr>
      </p:sp>
      <p:pic>
        <p:nvPicPr>
          <p:cNvPr id="9" name="Image 0" descr="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61441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5440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544068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4B2A82">
              <a:alpha val="70000"/>
            </a:srgbClr>
          </a:solidFill>
          <a:ln w="12700">
            <a:solidFill>
              <a:srgbClr val="7B42BC"/>
            </a:solidFill>
            <a:prstDash val="solid"/>
          </a:ln>
        </p:spPr>
      </p:sp>
      <p:pic>
        <p:nvPicPr>
          <p:cNvPr id="12" name="Image 1" descr="icon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561441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5440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0" y="544068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4B2A82">
              <a:alpha val="70000"/>
            </a:srgbClr>
          </a:solidFill>
          <a:ln w="12700">
            <a:solidFill>
              <a:srgbClr val="7B42BC"/>
            </a:solidFill>
            <a:prstDash val="solid"/>
          </a:ln>
        </p:spPr>
      </p:sp>
      <p:pic>
        <p:nvPicPr>
          <p:cNvPr id="15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6144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5440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503920" y="544068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4B2A82">
              <a:alpha val="70000"/>
            </a:srgbClr>
          </a:solidFill>
          <a:ln w="12700">
            <a:solidFill>
              <a:srgbClr val="7B42BC"/>
            </a:solidFill>
            <a:prstDash val="solid"/>
          </a:ln>
        </p:spPr>
      </p:sp>
      <p:pic>
        <p:nvPicPr>
          <p:cNvPr id="18" name="Image 3" descr="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561441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2560" y="54406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build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serverless backend: a REST endpoint that writes to a database, backed by four AWS services.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7" name="Image 0" descr="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48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75120" y="2148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 that writes an item to DynamoDB.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2" name="Image 1" descr="icon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04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2004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75120" y="3200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Lambda function as a REST API.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251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7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251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67512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static assets for the application.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53035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5486400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22" name="Image 3" descr="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6235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303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DynamoDB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675120" y="5303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pay-per-request data storage.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188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DF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1008" y="2194560"/>
            <a:ext cx="640080" cy="640080"/>
          </a:xfrm>
          <a:prstGeom prst="ellipse">
            <a:avLst/>
          </a:prstGeom>
          <a:solidFill>
            <a:srgbClr val="F1EDF9"/>
          </a:solidFill>
          <a:ln/>
        </p:spPr>
      </p:sp>
      <p:pic>
        <p:nvPicPr>
          <p:cNvPr id="6" name="Image 0" descr="icons/globe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6456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6628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POST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74340" y="2706624"/>
            <a:ext cx="356616" cy="256032"/>
          </a:xfrm>
          <a:prstGeom prst="rightArrow">
            <a:avLst/>
          </a:prstGeom>
          <a:solidFill>
            <a:srgbClr val="7B42BC"/>
          </a:solidFill>
          <a:ln/>
        </p:spPr>
      </p:sp>
      <p:sp>
        <p:nvSpPr>
          <p:cNvPr id="10" name="Shape 7"/>
          <p:cNvSpPr/>
          <p:nvPr/>
        </p:nvSpPr>
        <p:spPr>
          <a:xfrm>
            <a:off x="3558388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DF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4208" y="2194560"/>
            <a:ext cx="640080" cy="640080"/>
          </a:xfrm>
          <a:prstGeom prst="ellipse">
            <a:avLst/>
          </a:prstGeom>
          <a:solidFill>
            <a:srgbClr val="F1EDF9"/>
          </a:solidFill>
          <a:ln/>
        </p:spPr>
      </p:sp>
      <p:pic>
        <p:nvPicPr>
          <p:cNvPr id="12" name="Image 1" descr="icons/network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656" y="23500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8388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9828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(AWS_PROXY)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17540" y="2706624"/>
            <a:ext cx="356616" cy="256032"/>
          </a:xfrm>
          <a:prstGeom prst="rightArrow">
            <a:avLst/>
          </a:prstGeom>
          <a:solidFill>
            <a:srgbClr val="7B42BC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DF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47408" y="2194560"/>
            <a:ext cx="640080" cy="640080"/>
          </a:xfrm>
          <a:prstGeom prst="ellipse">
            <a:avLst/>
          </a:prstGeom>
          <a:solidFill>
            <a:srgbClr val="F1EDF9"/>
          </a:solidFill>
          <a:ln/>
        </p:spPr>
      </p:sp>
      <p:pic>
        <p:nvPicPr>
          <p:cNvPr id="18" name="Image 2" descr="icons/bol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856" y="23500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1588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93028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handler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logic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660740" y="2706624"/>
            <a:ext cx="356616" cy="256032"/>
          </a:xfrm>
          <a:prstGeom prst="rightArrow">
            <a:avLst/>
          </a:prstGeom>
          <a:solidFill>
            <a:srgbClr val="7B42BC"/>
          </a:solidFill>
          <a:ln/>
        </p:spPr>
      </p:sp>
      <p:sp>
        <p:nvSpPr>
          <p:cNvPr id="22" name="Shape 17"/>
          <p:cNvSpPr/>
          <p:nvPr/>
        </p:nvSpPr>
        <p:spPr>
          <a:xfrm>
            <a:off x="9044788" y="196596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DDF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90608" y="2194560"/>
            <a:ext cx="640080" cy="640080"/>
          </a:xfrm>
          <a:prstGeom prst="ellipse">
            <a:avLst/>
          </a:prstGeom>
          <a:solidFill>
            <a:srgbClr val="F1EDF9"/>
          </a:solidFill>
          <a:ln/>
        </p:spPr>
      </p:sp>
      <p:pic>
        <p:nvPicPr>
          <p:cNvPr id="24" name="Image 3" descr="icons/databas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6056" y="235000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44788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DynamoDB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136228" y="3246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saved with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449928" y="416052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8" name="Image 4" descr="icons/clou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528" y="4370832"/>
            <a:ext cx="365760" cy="36576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587088" y="4279392"/>
            <a:ext cx="548640" cy="54864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30" name="Image 5" descr="icons/clou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6816" y="4389120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18608" y="416052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independent bucket for static assets, not part of the live request path.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AF7EF"/>
          </a:solidFill>
          <a:ln/>
        </p:spPr>
      </p:sp>
      <p:sp>
        <p:nvSpPr>
          <p:cNvPr id="33" name="Text 25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end: </a:t>
            </a:r>
            <a:pPr indent="0" marL="0">
              <a:buNone/>
            </a:pPr>
            <a:r>
              <a:rPr lang="en-US" sz="13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never talks to Lambda or DynamoDB directly — API Gateway is the single, managed front door.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AWS service gets its own module folder, kept together by the root configuration.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852160" cy="4114800"/>
          </a:xfrm>
          <a:prstGeom prst="roundRect">
            <a:avLst>
              <a:gd name="adj" fmla="val 1778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2199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22219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222199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5394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terraform-serverless/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lambda/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lambda_function.py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requirements.txt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main.tf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api_gateway/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main.tf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s3/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main.tf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dynamodb/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main.tf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29400" y="20574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12280" y="2240280"/>
            <a:ext cx="502920" cy="502920"/>
          </a:xfrm>
          <a:prstGeom prst="ellipse">
            <a:avLst/>
          </a:prstGeom>
          <a:solidFill>
            <a:srgbClr val="F1EDF9"/>
          </a:solidFill>
          <a:ln/>
        </p:spPr>
      </p:sp>
      <p:pic>
        <p:nvPicPr>
          <p:cNvPr id="12" name="Image 0" descr="icons/folderopen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235915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config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498080" y="24597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main.tf, variables.tf, outputs.tf wire the modules together.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29400" y="310896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12280" y="3291840"/>
            <a:ext cx="502920" cy="502920"/>
          </a:xfrm>
          <a:prstGeom prst="ellipse">
            <a:avLst/>
          </a:prstGeom>
          <a:solidFill>
            <a:srgbClr val="F1EDF9"/>
          </a:solidFill>
          <a:ln/>
        </p:spPr>
      </p:sp>
      <p:pic>
        <p:nvPicPr>
          <p:cNvPr id="17" name="Image 1" descr="icons/bolt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341071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9808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lambda/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498080" y="35112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code plus its own Terraform resource.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629400" y="416052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812280" y="4343400"/>
            <a:ext cx="502920" cy="502920"/>
          </a:xfrm>
          <a:prstGeom prst="ellipse">
            <a:avLst/>
          </a:prstGeom>
          <a:solidFill>
            <a:srgbClr val="F1EDF9"/>
          </a:solidFill>
          <a:ln/>
        </p:spPr>
      </p:sp>
      <p:pic>
        <p:nvPicPr>
          <p:cNvPr id="22" name="Image 2" descr="icons/network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446227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9808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api_gateway/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7498080" y="45628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resource, method &amp; integration.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629400" y="52120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812280" y="5394960"/>
            <a:ext cx="502920" cy="502920"/>
          </a:xfrm>
          <a:prstGeom prst="ellipse">
            <a:avLst/>
          </a:prstGeom>
          <a:solidFill>
            <a:srgbClr val="F1EDF9"/>
          </a:solidFill>
          <a:ln/>
        </p:spPr>
      </p:sp>
      <p:pic>
        <p:nvPicPr>
          <p:cNvPr id="27" name="Image 3" descr="icons/databas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551383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98080" y="5303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s3/ &amp; dynamodb/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498080" y="5614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module per storage service.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S3 BUCKET · S3/MAIN.TF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static assets in S3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92240" cy="3657600"/>
          </a:xfrm>
          <a:prstGeom prst="roundRect">
            <a:avLst>
              <a:gd name="adj" fmla="val 2000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85623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6035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"my_bucket"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var.bucket_name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"aws_s3_bucket_public_access_block" "public_access"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aws_s3_bucket.my_bucket.id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block_public_acls       = false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block_public_policy     = false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ignore_public_acls      = false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restrict_public_buckets = false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480" y="1691640"/>
            <a:ext cx="4343400" cy="3657600"/>
          </a:xfrm>
          <a:prstGeom prst="roundRect">
            <a:avLst>
              <a:gd name="adj" fmla="val 2500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0" descr="icons/shield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92024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9244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Heads up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43800" y="24688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access block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public-access restriction — fine for a quick demo bucket, but review it before storing anything sensitive. In production, keep these flags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unless the bucket must serve public files.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DYNAMODB TABLE · DYNAMODB/MAIN.TF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application data in DynamoDB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85623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6035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"aws_dynamodb_table" "my_table" {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= var.table_name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billing_mode = "PAY_PER_REQUEST"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hash_key     = "id"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attribute {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"id"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= "S"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69480" y="1691640"/>
            <a:ext cx="4343400" cy="3200400"/>
          </a:xfrm>
          <a:prstGeom prst="roundRect">
            <a:avLst>
              <a:gd name="adj" fmla="val 2857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438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42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PAY_PER_REQUEST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43800" y="2478024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23134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capacity planning — scales automatically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43800" y="3072384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29077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only for reads/writes you use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3666744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350215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spiky or unpredictable traffic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43800" y="4261104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0" name="Text 18"/>
          <p:cNvSpPr/>
          <p:nvPr/>
        </p:nvSpPr>
        <p:spPr>
          <a:xfrm>
            <a:off x="7818120" y="40965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hash_key "id" is the table's partition key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22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303520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17320" y="51206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what the Lambda function writes to in the next step — its name is passed in as </a:t>
            </a:r>
            <a:pPr indent="0" marL="0">
              <a:buNone/>
            </a:pPr>
            <a:r>
              <a:rPr lang="en-US" sz="135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TABLE_NAME</a:t>
            </a:r>
            <a:pPr indent="0" marL="0">
              <a:buNone/>
            </a:pPr>
            <a:r>
              <a:rPr lang="en-US" sz="13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LAMBDA FUNCTION · LAMBDA/MAIN.TF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up the Lambda resource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85623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6217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"aws_lambda_function" "my_lambda"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filename      = "lambda_function.zip"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function_name = "my_lambda_function"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          = aws_iam_role.lambda_exec.arn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       = "lambda_function.lambda_handler"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runtime       = "python3.9"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variables =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TABLE_NAME = aws_dynamodb_table.my_table.name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52360" y="169164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42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arguments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26680" y="2423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the zipped deployment package.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26680" y="3264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granting DynamoDB write access.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26680" y="410565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file.function that Lambda invokes.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26680" y="494690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7B4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table name in at runtime.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 CODE · LAMBDA/LAMBDA_FUNCTION.PY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function actually does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675120" cy="4434840"/>
          </a:xfrm>
          <a:prstGeom prst="roundRect">
            <a:avLst>
              <a:gd name="adj" fmla="val 1649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85623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6217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boto3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uuid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dynamodb = boto3.resource('dynamodb')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= dynamodb.Table(os.environ['TABLE_NAME'])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lambda_handler(event, context):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 =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'id': str(uuid.uuid4()),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'message': 'Hello from Lambda!'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table.put_item(Item=item)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'statusCode': 200,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'body': json.dumps(item)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691640"/>
            <a:ext cx="4160520" cy="4434840"/>
          </a:xfrm>
          <a:prstGeom prst="roundRect">
            <a:avLst>
              <a:gd name="adj" fmla="val 2198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26680" y="2423160"/>
            <a:ext cx="320040" cy="3200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3500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table named in the TABLE_NAME environment variable.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26680" y="3218688"/>
            <a:ext cx="320040" cy="3200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31455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item with a fresh UUID as its id.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4014216"/>
            <a:ext cx="320040" cy="3200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4014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39410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item to DynamoDB with put_item.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26680" y="4809744"/>
            <a:ext cx="320040" cy="3200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4809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47365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HTTP 200 with the item as JSON — API Gateway relays this to the caller.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API GATEWAY · API_GATEWAY/MAIN.TF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the Lambda as a REST API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760720" cy="4434840"/>
          </a:xfrm>
          <a:prstGeom prst="roundRect">
            <a:avLst>
              <a:gd name="adj" fmla="val 1649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85623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"aws_api_gateway_rest_api" "my_api"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= "ServerlessAPI"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"API Gateway for Lambda"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"aws_api_gateway_resource" "lambda_resource" {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rest_api_id = aws_api_gateway_rest_api.my_api.id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parent_id   = aws_api_gateway_rest_api.my_api.root_resource_id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path_part   = "lambda"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46520" y="169164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47688" y="185623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3" name="Shape 11"/>
          <p:cNvSpPr/>
          <p:nvPr/>
        </p:nvSpPr>
        <p:spPr>
          <a:xfrm>
            <a:off x="6848856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050024" y="185623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103120"/>
            <a:ext cx="4709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"aws_api_gateway_method" "lambda_post" {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rest_api_id   = aws_api_gateway_rest_api.my_api.id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resource_id   = aws_api_gateway_resource.lambda_resource.id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http_method   = "POST"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authorization = "NONE"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"aws_api_gateway_integration" "lambda_integration" {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rest_api_id = aws_api_gateway_rest_api.my_api.id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resource_id = aws_api_gateway_resource.lambda_resource.id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http_method = aws_api_gateway_method.lambda_post.http_method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0C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integration_http_method = "POST"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= "AWS_PROXY"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uri  = aws_lambda_function.my_lambda.invoke_arn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D9A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7B42B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TERRAFORM 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it, then check what you have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85623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What we have built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4" name="Image 0" descr="icons/bolt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941064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657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 that writes data to DynamoDB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80760" y="365760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3822192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18" name="Image 1" descr="icons/network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941064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03720" y="3657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that exposes the Lambda function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461772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1520" y="4782312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22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901184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4617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for storing static assets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080760" y="461772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63640" y="4782312"/>
            <a:ext cx="457200" cy="457200"/>
          </a:xfrm>
          <a:prstGeom prst="ellipse">
            <a:avLst/>
          </a:prstGeom>
          <a:solidFill>
            <a:srgbClr val="7B42BC"/>
          </a:solidFill>
          <a:ln/>
        </p:spPr>
      </p:sp>
      <p:pic>
        <p:nvPicPr>
          <p:cNvPr id="26" name="Image 3" descr="icons/databas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901184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03720" y="4617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table for persistent storage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C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live Serverless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4B2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invoke URL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D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prints the API Gateway URL — or find it under API Gateway ▸ Stages ▸ Invoke URL.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4B2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a POST request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D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Lambda with cURL, Postman, or any API client.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4B2A82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8308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in DynamoDB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D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DynamoDB ▸ Tables ▸ my_table ▸ Items for the new record.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6492240" cy="1234440"/>
          </a:xfrm>
          <a:prstGeom prst="roundRect">
            <a:avLst>
              <a:gd name="adj" fmla="val 5926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59359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" y="35935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2144" y="359359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404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\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https://abcdefghij.execute-api.us-east-1.amazonaws.com/prod/lambda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69480" y="3429000"/>
            <a:ext cx="4343400" cy="1234440"/>
          </a:xfrm>
          <a:prstGeom prst="roundRect">
            <a:avLst>
              <a:gd name="adj" fmla="val 7407"/>
            </a:avLst>
          </a:prstGeom>
          <a:solidFill>
            <a:srgbClr val="F1EDF9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342900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method to POST, paste the invoke URL, hit Send.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6492240" cy="1463040"/>
          </a:xfrm>
          <a:prstGeom prst="roundRect">
            <a:avLst>
              <a:gd name="adj" fmla="val 5000"/>
            </a:avLst>
          </a:prstGeom>
          <a:solidFill>
            <a:srgbClr val="241B3D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5010912"/>
            <a:ext cx="109728" cy="109728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" y="501091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2144" y="5010912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2578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"f68f1d27-9b7d-423d-b3ab-7e1c784b4e79",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9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"message": "Hello from Lambda!"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69480" y="4846320"/>
            <a:ext cx="4343400" cy="146304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2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07492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001000" y="49377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41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like this — plus a matching new row in DynamoDB — confirms the whole chain works.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4B2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114800" cy="4114800"/>
          </a:xfrm>
          <a:prstGeom prst="ellipse">
            <a:avLst/>
          </a:prstGeom>
          <a:solidFill>
            <a:srgbClr val="00D9C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serverless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backend, start to finish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4B2A82">
              <a:alpha val="65000"/>
            </a:srgbClr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01752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8" name="Image 0" descr="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5468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971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bucket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91640" y="335584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 storage, provisioned in its own module.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278892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4B2A82">
              <a:alpha val="65000"/>
            </a:srgbClr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03720" y="301752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3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15468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9718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DynamoDB table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89520" y="335584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PAY_PER_REQUEST billing keyed on id.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" y="457200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4B2A82">
              <a:alpha val="65000"/>
            </a:srgbClr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05840" y="480060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18" name="Image 2" descr="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93776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754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function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91640" y="513892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handler that writes a UUID-keyed item.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675120" y="457200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4B2A82">
              <a:alpha val="65000"/>
            </a:srgbClr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03720" y="480060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pic>
        <p:nvPicPr>
          <p:cNvPr id="23" name="Image 3" descr="icons/netw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937760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0" y="47548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589520" y="5138928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AWS_PROXY integration exposing a POST endpoint.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· Serverless Architecture with Terraform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3: Serverless Architecture with Terraform</dc:title>
  <dc:subject>PptxGenJS Presentation</dc:subject>
  <dc:creator>Terraform Training</dc:creator>
  <cp:lastModifiedBy>Terraform Training</cp:lastModifiedBy>
  <cp:revision>1</cp:revision>
  <dcterms:created xsi:type="dcterms:W3CDTF">2026-07-07T20:09:32Z</dcterms:created>
  <dcterms:modified xsi:type="dcterms:W3CDTF">2026-07-07T20:09:32Z</dcterms:modified>
</cp:coreProperties>
</file>