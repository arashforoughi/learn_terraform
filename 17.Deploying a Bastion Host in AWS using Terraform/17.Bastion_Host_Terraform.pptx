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1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5.png"/><Relationship Id="rId7" Type="http://schemas.openxmlformats.org/officeDocument/2006/relationships/image" Target="../media/image-12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474720"/>
            <a:ext cx="3840480" cy="3840480"/>
          </a:xfrm>
          <a:prstGeom prst="ellipse">
            <a:avLst/>
          </a:prstGeom>
          <a:solidFill>
            <a:srgbClr val="FF9900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17 — HANDS-ON PROJECTS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9144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Deploying a Bastion Host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AWS using Terraform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recap of real-world Terraform projects, then a secure jump-server architecture for private AWS resources.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251460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8" name="Image 0" descr="icons/diagram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84632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53312" y="47091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Projects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20440" y="4709160"/>
            <a:ext cx="251460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11" name="Image 1" descr="icons/usershiel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48463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50792" y="47091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Architecture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4709160"/>
            <a:ext cx="251460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14" name="Image 2" descr="icons/lo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484632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48272" y="47091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•  Terraform  •  VPC  •  EC2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instruct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AFB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6" name="Image 0" descr="icons/diagram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476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0992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834640" y="17190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Real-World Terraform Projects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834640" y="21031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app, Kubernetes, CI/CD automation, multi-cloud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AFB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01752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2" name="Image 1" descr="icons/usershield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18211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29443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2834640" y="295351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Host Overview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834640" y="33375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bastion host is and why it matters for VPC security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40690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AFB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425196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8" name="Image 2" descr="icons/network_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41655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17880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3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2834640" y="418795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Architecture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2834640" y="45720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VPC, subnets, security groups, bastion &amp; private instance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530352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AFB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548640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24" name="Image 3" descr="icons/terminal_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650992"/>
            <a:ext cx="356616" cy="3566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541324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4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2834640" y="542239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Securely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2834640" y="58064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hop from bastion into the private instance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17 — Terraform Projects &amp; Bastion Host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5029200" cy="50292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RECAP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Terraform Projects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practical builds that put earlier chapters into production-style practice.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Highly Available Web App in AWS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7" name="Image 0" descr="icons/glob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348" y="2542032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172968" y="2926080"/>
            <a:ext cx="283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474720" y="228600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3B4CA0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1" name="Image 1" descr="icons/balanc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988" y="2542032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11880" y="3794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aws_lb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007608" y="2926080"/>
            <a:ext cx="283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6309360" y="228600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5B6FD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6" name="Image 2" descr="icons/server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628" y="2542032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(EC2 x2-5)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46520" y="3794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aws_autoscaling_group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8842248" y="2926080"/>
            <a:ext cx="283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9144000" y="228600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21" name="Image 3" descr="icons/databas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5268" y="2542032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81160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Database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281160" y="3794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aws_db_instance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40080" y="4572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ensures high availability. </a:t>
            </a:r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database layer improves security and independent scaling.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Recap: Terraform Projects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Cluster with Terraform (EKS)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6035040" cy="3931920"/>
          </a:xfrm>
          <a:prstGeom prst="roundRect">
            <a:avLst>
              <a:gd name="adj" fmla="val 279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42316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"eks" {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         = "terraform-aws-modules/eks/aws"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cluster_name    = "my-cluster"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cluster_version = "1.27"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subnets         = ["subnet-xxxxx"]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         = "vpc-xxxxx"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4572000"/>
            <a:ext cx="5394960" cy="0"/>
          </a:xfrm>
          <a:prstGeom prst="line">
            <a:avLst/>
          </a:prstGeom>
          <a:noFill/>
          <a:ln w="12700">
            <a:solidFill>
              <a:srgbClr val="394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7091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"kubernetes_deployment" "nginx" {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spec { replicas = 2 }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0" y="2148840"/>
            <a:ext cx="4754880" cy="1600200"/>
          </a:xfrm>
          <a:prstGeom prst="roundRect">
            <a:avLst>
              <a:gd name="adj" fmla="val 68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1" name="Image 0" descr="icons/k8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395728"/>
            <a:ext cx="566928" cy="5669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63840" y="2331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Cluster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v1.27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96112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↓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858000" y="4160520"/>
            <a:ext cx="4754880" cy="1737360"/>
          </a:xfrm>
          <a:prstGeom prst="roundRect">
            <a:avLst>
              <a:gd name="adj" fmla="val 6316"/>
            </a:avLst>
          </a:prstGeom>
          <a:solidFill>
            <a:srgbClr val="FAFB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5" name="Image 1" descr="icons/nginx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3891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Deployment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132320" y="49377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replicas • image: nginx:latest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Recap: Terraform Projects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Provisioning in a CI/CD Pipeline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3291840" cy="2286000"/>
          </a:xfrm>
          <a:prstGeom prst="roundRect">
            <a:avLst>
              <a:gd name="adj" fmla="val 56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7" name="Image 0" descr="icons/rout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6517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97280" y="3749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init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plan -out=tfplan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33088" y="3200400"/>
            <a:ext cx="420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4572000" y="2377440"/>
            <a:ext cx="3291840" cy="2286000"/>
          </a:xfrm>
          <a:prstGeom prst="roundRect">
            <a:avLst>
              <a:gd name="adj" fmla="val 5600"/>
            </a:avLst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2" name="Image 1" descr="icons/che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6517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0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846320" y="3749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apply -auto-approve tfplan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8160" y="237744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EEF2FF"/>
          </a:solidFill>
          <a:ln/>
        </p:spPr>
      </p:sp>
      <p:sp>
        <p:nvSpPr>
          <p:cNvPr id="16" name="Shape 12"/>
          <p:cNvSpPr/>
          <p:nvPr/>
        </p:nvSpPr>
        <p:spPr>
          <a:xfrm>
            <a:off x="8412480" y="260604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7" name="Image 2" descr="icons/git_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4" y="273771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2918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on the main branch, keeping plan and apply as two auditable pipeline jobs.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CI/CD automates Terraform deployments end to end.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Recap: Terraform Projects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Multi-Cloud Setup: AWS &amp; Azure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4937760" cy="2926080"/>
          </a:xfrm>
          <a:prstGeom prst="roundRect">
            <a:avLst>
              <a:gd name="adj" fmla="val 4375"/>
            </a:avLst>
          </a:prstGeom>
          <a:solidFill>
            <a:srgbClr val="FAFB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260604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8" name="Image 0" descr="icons/clou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2770632"/>
            <a:ext cx="356616" cy="356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11680" y="2697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143000" y="3520440"/>
            <a:ext cx="429768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</p:spPr>
      </p:sp>
      <p:sp>
        <p:nvSpPr>
          <p:cNvPr id="11" name="Text 8"/>
          <p:cNvSpPr/>
          <p:nvPr/>
        </p:nvSpPr>
        <p:spPr>
          <a:xfrm>
            <a:off x="1325880" y="370332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aws_instance "web_aws"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ami: ami-0c55b159cbfafe1f0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t2.micro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0" y="2286000"/>
            <a:ext cx="4937760" cy="2926080"/>
          </a:xfrm>
          <a:prstGeom prst="roundRect">
            <a:avLst>
              <a:gd name="adj" fmla="val 4375"/>
            </a:avLst>
          </a:prstGeom>
          <a:solidFill>
            <a:srgbClr val="FAFB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720840" y="2606040"/>
            <a:ext cx="685800" cy="68580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4" name="Image 1" descr="icons/clou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432" y="2770632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89520" y="2697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720840" y="3520440"/>
            <a:ext cx="429768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</p:spPr>
      </p:sp>
      <p:sp>
        <p:nvSpPr>
          <p:cNvPr id="17" name="Text 13"/>
          <p:cNvSpPr/>
          <p:nvPr/>
        </p:nvSpPr>
        <p:spPr>
          <a:xfrm>
            <a:off x="6903720" y="370332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azurerm_virtual_machine "web_azure"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location: East US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size: Standard_B1s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806440" y="3383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↔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82296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infrastructure across providers ensures redundancy and failover.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Recap: Terraform Projects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5029200" cy="50292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Projects, One Toolchain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1E2761">
              <a:alpha val="85000"/>
            </a:srgbClr>
          </a:solidFill>
          <a:ln w="12700">
            <a:solidFill>
              <a:srgbClr val="3B4C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240280"/>
            <a:ext cx="594360" cy="59436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7" name="Image 0" descr="icons/balanc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926" y="2382926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194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web app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874520" y="262432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&amp; Load Balancer for high availability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196596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1E2761">
              <a:alpha val="85000"/>
            </a:srgbClr>
          </a:solidFill>
          <a:ln w="12700">
            <a:solidFill>
              <a:srgbClr val="3B4CA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240280"/>
            <a:ext cx="594360" cy="59436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2" name="Image 1" descr="icons/k8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326" y="2382926"/>
            <a:ext cx="309067" cy="309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2194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on AWS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360920" y="262432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an EKS cluster and deployed Nginx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2960" y="402336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1E2761">
              <a:alpha val="85000"/>
            </a:srgbClr>
          </a:solidFill>
          <a:ln w="12700">
            <a:solidFill>
              <a:srgbClr val="3B4CA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97280" y="4297680"/>
            <a:ext cx="594360" cy="59436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7" name="Image 2" descr="icons/gi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926" y="4440326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74520" y="4251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automation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874520" y="468172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deployments driven by GitLab pipelines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09360" y="402336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1E2761">
              <a:alpha val="85000"/>
            </a:srgbClr>
          </a:solidFill>
          <a:ln w="12700">
            <a:solidFill>
              <a:srgbClr val="3B4CA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83680" y="4297680"/>
            <a:ext cx="594360" cy="59436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22" name="Image 3" descr="icons/cloud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326" y="4440326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60920" y="4251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strategy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360920" y="468172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infrastructure across AWS &amp; Azure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029200" cy="5029200"/>
          </a:xfrm>
          <a:prstGeom prst="ellipse">
            <a:avLst/>
          </a:prstGeom>
          <a:solidFill>
            <a:srgbClr val="FF990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371600"/>
            <a:ext cx="5029200" cy="50292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DEEP DIVE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Deploying a Bastion Host in AWS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jump server pattern for reaching private instances inside a VPC.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Bastion Host?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EEF2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09928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6" name="Image 0" descr="icons/usershield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74520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5544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Bastion Host is a secure jump server that provides access to private instances within a VPC.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AFB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554480" y="352044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1" name="Image 1" descr="icons/network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099" y="36740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4343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31520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public and private subnets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429000" y="324612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AFB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434840" y="352044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6" name="Image 2" descr="icons/shield_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459" y="367405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66160" y="4343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3611880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controlled SSH access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324612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AFB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0" y="352044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21" name="Image 3" descr="icons/usershield_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8819" y="367405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46520" y="4343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Host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92240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 in the public subnet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189720" y="324612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AFB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95560" y="352044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26" name="Image 4" descr="icons/lock_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9179" y="367405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326880" y="4343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EC2 Instance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9372600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only via the Bastion Host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Bastion Host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HOST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AWS Provider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035040" cy="18288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04288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230428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335024" y="2304288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517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"aws" {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= "us-east-1"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0" y="2103120"/>
            <a:ext cx="4754880" cy="18288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086600" y="233172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3" name="Image 0" descr="icons/globe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8274" y="2463394"/>
            <a:ext cx="285293" cy="28529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086600" y="29718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resource in this project is provisioned in the us-east-1 region — keep it consistent across all steps.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Bastion Host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HOST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VPC &amp; Subnets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6949440" cy="4023360"/>
          </a:xfrm>
          <a:prstGeom prst="roundRect">
            <a:avLst>
              <a:gd name="adj" fmla="val 3182"/>
            </a:avLst>
          </a:prstGeom>
          <a:solidFill>
            <a:srgbClr val="F5F7FF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VPC — 10.0.0.0/16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560320"/>
            <a:ext cx="3017520" cy="31089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9DB0E8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27432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0" name="Image 0" descr="icons/globe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981" y="2863901"/>
            <a:ext cx="261518" cy="26151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3736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972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10.0.1.0/24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map_public_ip_on_launch = true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097280" y="4297680"/>
            <a:ext cx="502920" cy="50292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4" name="Image 1" descr="icons/usershield_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981" y="4418381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37360" y="43434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Host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(next step)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069080" y="2560320"/>
            <a:ext cx="32461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9DB0E8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97680" y="27432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8" name="Image 2" descr="icons/lock_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381" y="2863901"/>
            <a:ext cx="261518" cy="26151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3776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297680" y="33375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10.0.2.0/24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public IP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297680" y="4160520"/>
            <a:ext cx="502920" cy="502920"/>
          </a:xfrm>
          <a:prstGeom prst="ellipse">
            <a:avLst/>
          </a:prstGeom>
          <a:solidFill>
            <a:srgbClr val="5B6FD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22" name="Image 3" descr="icons/server_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381" y="4281221"/>
            <a:ext cx="261518" cy="26151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937760" y="4206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Instance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(later step)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818120" y="1965960"/>
            <a:ext cx="3794760" cy="4023360"/>
          </a:xfrm>
          <a:prstGeom prst="roundRect">
            <a:avLst>
              <a:gd name="adj" fmla="val 2892"/>
            </a:avLst>
          </a:prstGeom>
          <a:solidFill>
            <a:srgbClr val="EEF2FF"/>
          </a:solidFill>
          <a:ln/>
        </p:spPr>
      </p:sp>
      <p:sp>
        <p:nvSpPr>
          <p:cNvPr id="25" name="Text 19"/>
          <p:cNvSpPr/>
          <p:nvPr/>
        </p:nvSpPr>
        <p:spPr>
          <a:xfrm>
            <a:off x="8092440" y="2148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subnets?</a:t>
            </a:r>
            <a:endParaRPr lang="en-US" sz="1450" dirty="0"/>
          </a:p>
        </p:txBody>
      </p:sp>
      <p:pic>
        <p:nvPicPr>
          <p:cNvPr id="26" name="Image 4" descr="icons/check_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260604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412480" y="2514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routes to the internet — only the bastion lives here</a:t>
            </a:r>
            <a:endParaRPr lang="en-US" sz="1200" dirty="0"/>
          </a:p>
        </p:txBody>
      </p:sp>
      <p:pic>
        <p:nvPicPr>
          <p:cNvPr id="28" name="Image 5" descr="icons/check_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3657600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412480" y="35661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has no direct internet route — real workloads stay hidden</a:t>
            </a:r>
            <a:endParaRPr lang="en-US" sz="1200" dirty="0"/>
          </a:p>
        </p:txBody>
      </p:sp>
      <p:pic>
        <p:nvPicPr>
          <p:cNvPr id="30" name="Image 6" descr="icons/check_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4709160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412480" y="4617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between them is controlled entirely by security groups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Bastion Host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HOST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Group for the Bastion Host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309360" cy="3931920"/>
          </a:xfrm>
          <a:prstGeom prst="roundRect">
            <a:avLst>
              <a:gd name="adj" fmla="val 279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286000"/>
            <a:ext cx="5760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"aws_security_group" "bastion_sg" {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= aws_vpc.main_vpc.id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ingress {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from_port   = 22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to_port     = 22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protocol    = "tcp"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cidr_blocks = ["YOUR_IP/32"]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egress {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from_port   = 0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to_port     = 0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protocol    = "-1"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cidr_blocks = ["0.0.0.0/0"]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086600" y="2103120"/>
            <a:ext cx="4572000" cy="1691640"/>
          </a:xfrm>
          <a:prstGeom prst="roundRect">
            <a:avLst>
              <a:gd name="adj" fmla="val 6486"/>
            </a:avLst>
          </a:prstGeom>
          <a:solidFill>
            <a:srgbClr val="EEF2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228600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0" name="Image 0" descr="icons/lock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6874" y="2417674"/>
            <a:ext cx="285293" cy="28529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0" y="29260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locked to YOUR_IP/32 — only your machine can SSH into the bastion on port 22.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086600" y="3977640"/>
            <a:ext cx="4572000" cy="1691640"/>
          </a:xfrm>
          <a:prstGeom prst="roundRect">
            <a:avLst>
              <a:gd name="adj" fmla="val 6486"/>
            </a:avLst>
          </a:prstGeom>
          <a:solidFill>
            <a:srgbClr val="EEF2FF"/>
          </a:solidFill>
          <a:ln/>
        </p:spPr>
      </p:sp>
      <p:sp>
        <p:nvSpPr>
          <p:cNvPr id="13" name="Shape 10"/>
          <p:cNvSpPr/>
          <p:nvPr/>
        </p:nvSpPr>
        <p:spPr>
          <a:xfrm>
            <a:off x="7315200" y="416052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4" name="Image 1" descr="icons/route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874" y="429219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0" y="48006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is open (-1 / 0.0.0.0/0) so the bastion can reach the private instance and package repos.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Bastion Host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HOST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the Bastion Host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309360" cy="3200400"/>
          </a:xfrm>
          <a:prstGeom prst="roundRect">
            <a:avLst>
              <a:gd name="adj" fmla="val 3429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286000"/>
            <a:ext cx="5760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"bastion"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  = "ami-0c55b159cbfafe1f0"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  = "t2.micro"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subnet_id       = aws_subnet.public_subnet.id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security_groups = [aws_security_group.bastion_sg.name]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"BastionHost"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86600" y="2103120"/>
            <a:ext cx="4572000" cy="3200400"/>
          </a:xfrm>
          <a:prstGeom prst="roundRect">
            <a:avLst>
              <a:gd name="adj" fmla="val 3429"/>
            </a:avLst>
          </a:prstGeom>
          <a:solidFill>
            <a:srgbClr val="FAFBFF"/>
          </a:solidFill>
          <a:ln w="12700">
            <a:solidFill>
              <a:srgbClr val="DDE3F5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60920" y="2377440"/>
            <a:ext cx="822960" cy="82296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0" name="Image 0" descr="icons/usershiel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430" y="2574950"/>
            <a:ext cx="427939" cy="42793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66760" y="2468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BastionHost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36676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t2.micro • public subnet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60920" y="3383280"/>
            <a:ext cx="4023360" cy="0"/>
          </a:xfrm>
          <a:prstGeom prst="line">
            <a:avLst/>
          </a:prstGeom>
          <a:noFill/>
          <a:ln w="12700">
            <a:solidFill>
              <a:srgbClr val="DDE3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60920" y="356616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only via SSH (22) from your IP, per the bastion security group.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Bastion Host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HOST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EC2 Instance (Bastion-Only Access)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309360" cy="3931920"/>
          </a:xfrm>
          <a:prstGeom prst="roundRect">
            <a:avLst>
              <a:gd name="adj" fmla="val 279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286000"/>
            <a:ext cx="5760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"aws_security_group" "private_sg"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= aws_vpc.main_vpc.id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ingress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from_port   = 22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to_port     = 22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protocol    = "tcp"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security_groups = [aws_security_group.bastion_sg.id]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"private_instance"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subnet_id       = aws_subnet.private_subnet.id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security_groups = [aws_security_group.private_sg.name]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086600" y="2103120"/>
            <a:ext cx="4572000" cy="3931920"/>
          </a:xfrm>
          <a:prstGeom prst="roundRect">
            <a:avLst>
              <a:gd name="adj" fmla="val 2791"/>
            </a:avLst>
          </a:prstGeom>
          <a:solidFill>
            <a:srgbClr val="EEF2FF"/>
          </a:solidFill>
          <a:ln/>
        </p:spPr>
      </p:sp>
      <p:sp>
        <p:nvSpPr>
          <p:cNvPr id="9" name="Shape 7"/>
          <p:cNvSpPr/>
          <p:nvPr/>
        </p:nvSpPr>
        <p:spPr>
          <a:xfrm>
            <a:off x="7360920" y="233172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0" name="Image 0" descr="icons/key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4539" y="2485339"/>
            <a:ext cx="332842" cy="33284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60920" y="3108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rule that matters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360920" y="35204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private security group's ingress source is not an IP — it's the bastion's security group itself.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60920" y="44348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means SSH traffic is only permitted if it originates from an instance wearing the bastion_sg — no other path in.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Bastion Host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HOST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to the Private Instance via Bastion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5B6FD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7" name="Image 0" descr="icons/desktop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6060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Machine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your-key.pem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91840" y="2514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46120" y="28346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926080" y="3520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ec2-user@&lt;bastion-ip&gt;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297680" y="237744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4" name="Image 1" descr="icons/usershiel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60604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348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Host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43484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040880" y="2514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995160" y="28346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6720840" y="3520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ec2-user@10.0.2.X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8046720" y="237744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21" name="Image 2" descr="icons/lo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60604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8388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Instance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18388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48640" y="4617720"/>
            <a:ext cx="10195560" cy="1417320"/>
          </a:xfrm>
          <a:prstGeom prst="roundRect">
            <a:avLst>
              <a:gd name="adj" fmla="val 7742"/>
            </a:avLst>
          </a:prstGeom>
          <a:solidFill>
            <a:srgbClr val="EEF2FF"/>
          </a:solidFill>
          <a:ln/>
        </p:spPr>
      </p:sp>
      <p:sp>
        <p:nvSpPr>
          <p:cNvPr id="25" name="Text 20"/>
          <p:cNvSpPr/>
          <p:nvPr/>
        </p:nvSpPr>
        <p:spPr>
          <a:xfrm>
            <a:off x="868680" y="48006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into the Bastion Host from your machine using its public IP.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inside the Bastion, SSH into the Private Instance using its internal IP.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Bastion Host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834640" y="1691640"/>
            <a:ext cx="8778240" cy="4480560"/>
          </a:xfrm>
          <a:prstGeom prst="roundRect">
            <a:avLst>
              <a:gd name="adj" fmla="val 2857"/>
            </a:avLst>
          </a:prstGeom>
          <a:solidFill>
            <a:srgbClr val="F5F7FF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06324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VPC — 10.0.0.0/16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1463040" cy="1463040"/>
          </a:xfrm>
          <a:prstGeom prst="ellipse">
            <a:avLst/>
          </a:prstGeom>
          <a:solidFill>
            <a:srgbClr val="5B6FD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7" name="Image 0" descr="icons/desktop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06324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251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96596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(22)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874520" y="32461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108960" y="228600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9DB0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0" y="2423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Subnet — 10.0.1.0/24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2926080"/>
            <a:ext cx="3017520" cy="1554480"/>
          </a:xfrm>
          <a:prstGeom prst="roundRect">
            <a:avLst>
              <a:gd name="adj" fmla="val 5882"/>
            </a:avLst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4" name="Image 1" descr="icons/usershiel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306324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3657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Host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383280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bastion_sg: 22 from YOUR_IP/32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537960" y="3566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49224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(22)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7360920" y="2286000"/>
            <a:ext cx="39776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9DB0E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54380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Subnet — 10.0.2.0/24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635240" y="292608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22" name="Image 2" descr="icons/lo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306324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818120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Instance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7635240" y="4709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private_sg: 22 from bastion_sg only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Bastion Host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5029200" cy="50292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1E2761">
              <a:alpha val="85000"/>
            </a:srgbClr>
          </a:solidFill>
          <a:ln w="12700">
            <a:solidFill>
              <a:srgbClr val="3B4C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194560"/>
            <a:ext cx="594360" cy="59436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7" name="Image 0" descr="icons/usershiel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926" y="2337206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148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jump server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874520" y="257860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Bastion Host in the public subnet as the only entry point.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192024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1E2761">
              <a:alpha val="85000"/>
            </a:srgbClr>
          </a:solidFill>
          <a:ln w="12700">
            <a:solidFill>
              <a:srgbClr val="3B4CA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194560"/>
            <a:ext cx="594360" cy="59436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2" name="Image 1" descr="icons/shiel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326" y="2337206"/>
            <a:ext cx="309067" cy="309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2148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Locked-down ingress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360920" y="257860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 restricts SSH to a single known IP address.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2960" y="402336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1E2761">
              <a:alpha val="85000"/>
            </a:srgbClr>
          </a:solidFill>
          <a:ln w="12700">
            <a:solidFill>
              <a:srgbClr val="3B4CA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97280" y="4297680"/>
            <a:ext cx="594360" cy="59436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17" name="Image 2" descr="icons/lo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926" y="4440326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74520" y="4251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workloads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874520" y="468172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 private EC2 instance with no direct internet exposure.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09360" y="402336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1E2761">
              <a:alpha val="85000"/>
            </a:srgbClr>
          </a:solidFill>
          <a:ln w="12700">
            <a:solidFill>
              <a:srgbClr val="3B4CA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83680" y="4297680"/>
            <a:ext cx="594360" cy="59436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0B0E2A">
                <a:alpha val="15000"/>
              </a:srgbClr>
            </a:outerShdw>
          </a:effectLst>
        </p:spPr>
      </p:sp>
      <p:pic>
        <p:nvPicPr>
          <p:cNvPr id="22" name="Image 3" descr="icons/key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326" y="4440326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60920" y="4251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Bastion-only path in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360920" y="468172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instance accepts SSH only from the bastion's security group.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Deploying a Bastion Host in AWS using Terraform</dc:title>
  <dc:subject>PptxGenJS Presentation</dc:subject>
  <dc:creator>Terraform Training</dc:creator>
  <cp:lastModifiedBy>Terraform Training</cp:lastModifiedBy>
  <cp:revision>1</cp:revision>
  <dcterms:created xsi:type="dcterms:W3CDTF">2026-07-07T20:04:56Z</dcterms:created>
  <dcterms:modified xsi:type="dcterms:W3CDTF">2026-07-07T20:04:56Z</dcterms:modified>
</cp:coreProperties>
</file>