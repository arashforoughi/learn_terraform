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session: Terraform backends control where state lives. Today's flow moves from concept (local vs remote) into hands-on config for the three major clouds, then locking, then a full migration walkthrough, ending with a recap. Tell the room this mirrors a real onboarding runbook they can 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row by row. Emphasize the last two rows — locking and versioning — since those are the two capabilities that actually prevent outages, not just convenience features. This is the 'why bother migrating'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starting point every team is in on day one. Point out the file structure is literally just a JSON file sitting next to main.tf. Ask the room: what happens if two people run apply against this at the same time? That sets up the locking discussion two slides from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live if possible: create the bucket, flip on versioning, then show backend.tf. Call out that 'encrypt = true' is a one-line switch but matters a lot for compliance conversations. Versioning is what lets you roll back to a previous state file if something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shape as the S3 flow — create the storage target, then point backend.tf at it. If the audience already saw the S3 slide, move through this one faster and focus on the naming differences: resource_group_name, storage_account_name, container_name instead of bucket.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GCS is the simplest of the three configs — no separate locking table needed since GCS handles locking natively via object generation checks. Good moment to contrast: S3 needs DynamoDB bolted on, GCS and Azure Blob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LockID attribute name is fixed — Terraform expects that exact schema. Once dynamodb_table is added, every apply/plan writes a lock item first, so a second concurrent apply will fail fast with a clear 'state locked' error instead of silently corrupting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 run it live if you can. The key command is step 3: terraform init -migrate-state. Terraform will prompt to confirm copying existing state into the new backend; type yes. Step 4 is just a sanity check with the AWS CLI before trusting the new setup with a real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tying back to the opening question: what breaks with local state, and which of these four ideas fixes it. Good place to open the floor for questions, especially on Terraform Cloud as an alternative backend if the audience is curious — it wasn't covered in this chapter but is worth a mention.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065A82">
              <a:alpha val="45000"/>
            </a:srgbClr>
          </a:solidFill>
          <a:ln/>
        </p:spPr>
      </p:sp>
      <p:sp>
        <p:nvSpPr>
          <p:cNvPr id="3" name="Shape 1"/>
          <p:cNvSpPr/>
          <p:nvPr/>
        </p:nvSpPr>
        <p:spPr>
          <a:xfrm>
            <a:off x="10607040" y="4206240"/>
            <a:ext cx="2926080" cy="2926080"/>
          </a:xfrm>
          <a:prstGeom prst="ellipse">
            <a:avLst/>
          </a:prstGeom>
          <a:solidFill>
            <a:srgbClr val="1C7293">
              <a:alpha val="55000"/>
            </a:srgbClr>
          </a:solidFill>
          <a:ln/>
        </p:spPr>
      </p:sp>
      <p:sp>
        <p:nvSpPr>
          <p:cNvPr id="4" name="Shape 2"/>
          <p:cNvSpPr/>
          <p:nvPr/>
        </p:nvSpPr>
        <p:spPr>
          <a:xfrm>
            <a:off x="822960" y="1051560"/>
            <a:ext cx="822960" cy="822960"/>
          </a:xfrm>
          <a:prstGeom prst="ellipse">
            <a:avLst/>
          </a:prstGeom>
          <a:solidFill>
            <a:srgbClr val="1C7293"/>
          </a:solidFill>
          <a:ln/>
        </p:spPr>
      </p:sp>
      <p:pic>
        <p:nvPicPr>
          <p:cNvPr id="5" name="Image 0" descr="preencoded.png">    </p:cNvPr>
          <p:cNvPicPr>
            <a:picLocks noChangeAspect="1"/>
          </p:cNvPicPr>
          <p:nvPr/>
        </p:nvPicPr>
        <p:blipFill>
          <a:blip r:embed="rId1"/>
          <a:stretch>
            <a:fillRect/>
          </a:stretch>
        </p:blipFill>
        <p:spPr>
          <a:xfrm>
            <a:off x="1005840" y="1234440"/>
            <a:ext cx="457200" cy="457200"/>
          </a:xfrm>
          <a:prstGeom prst="rect">
            <a:avLst/>
          </a:prstGeom>
        </p:spPr>
      </p:pic>
      <p:sp>
        <p:nvSpPr>
          <p:cNvPr id="6" name="Text 3"/>
          <p:cNvSpPr/>
          <p:nvPr/>
        </p:nvSpPr>
        <p:spPr>
          <a:xfrm>
            <a:off x="822960" y="2148840"/>
            <a:ext cx="7315200" cy="365760"/>
          </a:xfrm>
          <a:prstGeom prst="rect">
            <a:avLst/>
          </a:prstGeom>
          <a:noFill/>
          <a:ln/>
        </p:spPr>
        <p:txBody>
          <a:bodyPr wrap="square" lIns="0" tIns="0" rIns="0" bIns="0" rtlCol="0" anchor="ctr"/>
          <a:lstStyle/>
          <a:p>
            <a:pPr indent="0" marL="0">
              <a:buNone/>
            </a:pPr>
            <a:r>
              <a:rPr lang="en-US" sz="1400" b="1" spc="200" kern="0" dirty="0">
                <a:solidFill>
                  <a:srgbClr val="F2A65A"/>
                </a:solidFill>
                <a:latin typeface="Calibri" pitchFamily="34" charset="0"/>
                <a:ea typeface="Calibri" pitchFamily="34" charset="-122"/>
                <a:cs typeface="Calibri" pitchFamily="34" charset="-120"/>
              </a:rPr>
              <a:t>CHAPTER 9  ·  INFRASTRUCTURE AS CODE</a:t>
            </a:r>
            <a:endParaRPr lang="en-US" sz="1400" dirty="0"/>
          </a:p>
        </p:txBody>
      </p:sp>
      <p:sp>
        <p:nvSpPr>
          <p:cNvPr id="7" name="Text 4"/>
          <p:cNvSpPr/>
          <p:nvPr/>
        </p:nvSpPr>
        <p:spPr>
          <a:xfrm>
            <a:off x="777240" y="2514600"/>
            <a:ext cx="8686800" cy="182880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Managing Terraform</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Backends</a:t>
            </a:r>
            <a:endParaRPr lang="en-US" sz="4600" dirty="0"/>
          </a:p>
        </p:txBody>
      </p:sp>
      <p:sp>
        <p:nvSpPr>
          <p:cNvPr id="8" name="Text 5"/>
          <p:cNvSpPr/>
          <p:nvPr/>
        </p:nvSpPr>
        <p:spPr>
          <a:xfrm>
            <a:off x="822960" y="4343400"/>
            <a:ext cx="7863840" cy="822960"/>
          </a:xfrm>
          <a:prstGeom prst="rect">
            <a:avLst/>
          </a:prstGeom>
          <a:noFill/>
          <a:ln/>
        </p:spPr>
        <p:txBody>
          <a:bodyPr wrap="square" lIns="0" tIns="0" rIns="0" bIns="0" rtlCol="0" anchor="ctr"/>
          <a:lstStyle/>
          <a:p>
            <a:pPr indent="0" marL="0">
              <a:lnSpc>
                <a:spcPct val="120000"/>
              </a:lnSpc>
              <a:buNone/>
            </a:pPr>
            <a:r>
              <a:rPr lang="en-US" sz="1500" dirty="0">
                <a:solidFill>
                  <a:srgbClr val="C9D9E4"/>
                </a:solidFill>
                <a:latin typeface="Calibri" pitchFamily="34" charset="0"/>
                <a:ea typeface="Calibri" pitchFamily="34" charset="-122"/>
                <a:cs typeface="Calibri" pitchFamily="34" charset="-120"/>
              </a:rPr>
              <a:t>Where Terraform state lives, how teams share it safely, and how to move from local files to locked, versioned cloud storage.</a:t>
            </a:r>
            <a:endParaRPr lang="en-US" sz="1500" dirty="0"/>
          </a:p>
        </p:txBody>
      </p:sp>
      <p:sp>
        <p:nvSpPr>
          <p:cNvPr id="9" name="Shape 6"/>
          <p:cNvSpPr/>
          <p:nvPr/>
        </p:nvSpPr>
        <p:spPr>
          <a:xfrm>
            <a:off x="822960" y="5806440"/>
            <a:ext cx="1689811" cy="457200"/>
          </a:xfrm>
          <a:prstGeom prst="roundRect">
            <a:avLst>
              <a:gd name="adj" fmla="val 50000"/>
            </a:avLst>
          </a:prstGeom>
          <a:solidFill>
            <a:srgbClr val="065A82">
              <a:alpha val="75000"/>
            </a:srgbClr>
          </a:solidFill>
          <a:ln w="12700">
            <a:solidFill>
              <a:srgbClr val="1C7293"/>
            </a:solidFill>
            <a:prstDash val="solid"/>
          </a:ln>
        </p:spPr>
      </p:sp>
      <p:sp>
        <p:nvSpPr>
          <p:cNvPr id="10" name="Text 7"/>
          <p:cNvSpPr/>
          <p:nvPr/>
        </p:nvSpPr>
        <p:spPr>
          <a:xfrm>
            <a:off x="822960" y="5806440"/>
            <a:ext cx="1689811"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Local vs. Remote</a:t>
            </a:r>
            <a:endParaRPr lang="en-US" sz="1150" dirty="0"/>
          </a:p>
        </p:txBody>
      </p:sp>
      <p:sp>
        <p:nvSpPr>
          <p:cNvPr id="11" name="Shape 8"/>
          <p:cNvSpPr/>
          <p:nvPr/>
        </p:nvSpPr>
        <p:spPr>
          <a:xfrm>
            <a:off x="2713939" y="5806440"/>
            <a:ext cx="1779422" cy="457200"/>
          </a:xfrm>
          <a:prstGeom prst="roundRect">
            <a:avLst>
              <a:gd name="adj" fmla="val 50000"/>
            </a:avLst>
          </a:prstGeom>
          <a:solidFill>
            <a:srgbClr val="065A82">
              <a:alpha val="75000"/>
            </a:srgbClr>
          </a:solidFill>
          <a:ln w="12700">
            <a:solidFill>
              <a:srgbClr val="1C7293"/>
            </a:solidFill>
            <a:prstDash val="solid"/>
          </a:ln>
        </p:spPr>
      </p:sp>
      <p:sp>
        <p:nvSpPr>
          <p:cNvPr id="12" name="Text 9"/>
          <p:cNvSpPr/>
          <p:nvPr/>
        </p:nvSpPr>
        <p:spPr>
          <a:xfrm>
            <a:off x="2713939" y="5806440"/>
            <a:ext cx="1779422"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AWS · Azure · GCS</a:t>
            </a:r>
            <a:endParaRPr lang="en-US" sz="1150" dirty="0"/>
          </a:p>
        </p:txBody>
      </p:sp>
      <p:sp>
        <p:nvSpPr>
          <p:cNvPr id="13" name="Shape 10"/>
          <p:cNvSpPr/>
          <p:nvPr/>
        </p:nvSpPr>
        <p:spPr>
          <a:xfrm>
            <a:off x="4694530" y="5806440"/>
            <a:ext cx="1420978" cy="457200"/>
          </a:xfrm>
          <a:prstGeom prst="roundRect">
            <a:avLst>
              <a:gd name="adj" fmla="val 50000"/>
            </a:avLst>
          </a:prstGeom>
          <a:solidFill>
            <a:srgbClr val="065A82">
              <a:alpha val="75000"/>
            </a:srgbClr>
          </a:solidFill>
          <a:ln w="12700">
            <a:solidFill>
              <a:srgbClr val="1C7293"/>
            </a:solidFill>
            <a:prstDash val="solid"/>
          </a:ln>
        </p:spPr>
      </p:sp>
      <p:sp>
        <p:nvSpPr>
          <p:cNvPr id="14" name="Text 11"/>
          <p:cNvSpPr/>
          <p:nvPr/>
        </p:nvSpPr>
        <p:spPr>
          <a:xfrm>
            <a:off x="4694530" y="5806440"/>
            <a:ext cx="1420978"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State Locking</a:t>
            </a:r>
            <a:endParaRPr lang="en-US" sz="1150" dirty="0"/>
          </a:p>
        </p:txBody>
      </p:sp>
      <p:sp>
        <p:nvSpPr>
          <p:cNvPr id="15" name="Shape 12"/>
          <p:cNvSpPr/>
          <p:nvPr/>
        </p:nvSpPr>
        <p:spPr>
          <a:xfrm>
            <a:off x="6316675" y="5806440"/>
            <a:ext cx="2137867" cy="457200"/>
          </a:xfrm>
          <a:prstGeom prst="roundRect">
            <a:avLst>
              <a:gd name="adj" fmla="val 50000"/>
            </a:avLst>
          </a:prstGeom>
          <a:solidFill>
            <a:srgbClr val="065A82">
              <a:alpha val="75000"/>
            </a:srgbClr>
          </a:solidFill>
          <a:ln w="12700">
            <a:solidFill>
              <a:srgbClr val="1C7293"/>
            </a:solidFill>
            <a:prstDash val="solid"/>
          </a:ln>
        </p:spPr>
      </p:sp>
      <p:sp>
        <p:nvSpPr>
          <p:cNvPr id="16" name="Text 13"/>
          <p:cNvSpPr/>
          <p:nvPr/>
        </p:nvSpPr>
        <p:spPr>
          <a:xfrm>
            <a:off x="6316675" y="5806440"/>
            <a:ext cx="2137867"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Migration Walkthrough</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65A82"/>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384048"/>
            <a:ext cx="73152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AGENDA</a:t>
            </a:r>
            <a:endParaRPr lang="en-US" sz="1200" dirty="0"/>
          </a:p>
        </p:txBody>
      </p:sp>
      <p:sp>
        <p:nvSpPr>
          <p:cNvPr id="5" name="Text 2"/>
          <p:cNvSpPr/>
          <p:nvPr/>
        </p:nvSpPr>
        <p:spPr>
          <a:xfrm>
            <a:off x="1234440" y="621792"/>
            <a:ext cx="9601200" cy="50292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What We'll Cover</a:t>
            </a:r>
            <a:endParaRPr lang="en-US" sz="2800" dirty="0"/>
          </a:p>
        </p:txBody>
      </p:sp>
      <p:sp>
        <p:nvSpPr>
          <p:cNvPr id="6" name="Shape 3"/>
          <p:cNvSpPr/>
          <p:nvPr/>
        </p:nvSpPr>
        <p:spPr>
          <a:xfrm>
            <a:off x="685800" y="1490472"/>
            <a:ext cx="512064" cy="512064"/>
          </a:xfrm>
          <a:prstGeom prst="ellipse">
            <a:avLst/>
          </a:prstGeom>
          <a:solidFill>
            <a:srgbClr val="065A82"/>
          </a:solidFill>
          <a:ln/>
        </p:spPr>
      </p:sp>
      <p:pic>
        <p:nvPicPr>
          <p:cNvPr id="7" name="Image 1" descr="preencoded.png">    </p:cNvPr>
          <p:cNvPicPr>
            <a:picLocks noChangeAspect="1"/>
          </p:cNvPicPr>
          <p:nvPr/>
        </p:nvPicPr>
        <p:blipFill>
          <a:blip r:embed="rId2"/>
          <a:stretch>
            <a:fillRect/>
          </a:stretch>
        </p:blipFill>
        <p:spPr>
          <a:xfrm>
            <a:off x="804672" y="1609344"/>
            <a:ext cx="274320" cy="274320"/>
          </a:xfrm>
          <a:prstGeom prst="rect">
            <a:avLst/>
          </a:prstGeom>
        </p:spPr>
      </p:pic>
      <p:sp>
        <p:nvSpPr>
          <p:cNvPr id="8" name="Text 4"/>
          <p:cNvSpPr/>
          <p:nvPr/>
        </p:nvSpPr>
        <p:spPr>
          <a:xfrm>
            <a:off x="1417320" y="1417320"/>
            <a:ext cx="8686800" cy="384048"/>
          </a:xfrm>
          <a:prstGeom prst="rect">
            <a:avLst/>
          </a:prstGeom>
          <a:noFill/>
          <a:ln/>
        </p:spPr>
        <p:txBody>
          <a:bodyPr wrap="square" lIns="0" tIns="0" rIns="0" bIns="0" rtlCol="0" anchor="ctr"/>
          <a:lstStyle/>
          <a:p>
            <a:pPr indent="0" marL="0">
              <a:buNone/>
            </a:pPr>
            <a:r>
              <a:rPr lang="en-US" sz="1800" b="1" dirty="0">
                <a:solidFill>
                  <a:srgbClr val="1E293B"/>
                </a:solidFill>
                <a:latin typeface="Cambria" pitchFamily="34" charset="0"/>
                <a:ea typeface="Cambria" pitchFamily="34" charset="-122"/>
                <a:cs typeface="Cambria" pitchFamily="34" charset="-120"/>
              </a:rPr>
              <a:t>Local vs. Remote Backends</a:t>
            </a:r>
            <a:endParaRPr lang="en-US" sz="1800" dirty="0"/>
          </a:p>
        </p:txBody>
      </p:sp>
      <p:sp>
        <p:nvSpPr>
          <p:cNvPr id="9" name="Text 5"/>
          <p:cNvSpPr/>
          <p:nvPr/>
        </p:nvSpPr>
        <p:spPr>
          <a:xfrm>
            <a:off x="1417320" y="1801368"/>
            <a:ext cx="896112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Why teams outgrow the default local state file</a:t>
            </a:r>
            <a:endParaRPr lang="en-US" sz="1300" dirty="0"/>
          </a:p>
        </p:txBody>
      </p:sp>
      <p:sp>
        <p:nvSpPr>
          <p:cNvPr id="10" name="Shape 6"/>
          <p:cNvSpPr/>
          <p:nvPr/>
        </p:nvSpPr>
        <p:spPr>
          <a:xfrm>
            <a:off x="1417320" y="2295144"/>
            <a:ext cx="9418320" cy="0"/>
          </a:xfrm>
          <a:prstGeom prst="line">
            <a:avLst/>
          </a:prstGeom>
          <a:noFill/>
          <a:ln w="12700">
            <a:solidFill>
              <a:srgbClr val="E2ECF1"/>
            </a:solidFill>
            <a:prstDash val="solid"/>
          </a:ln>
        </p:spPr>
      </p:sp>
      <p:sp>
        <p:nvSpPr>
          <p:cNvPr id="11" name="Shape 7"/>
          <p:cNvSpPr/>
          <p:nvPr/>
        </p:nvSpPr>
        <p:spPr>
          <a:xfrm>
            <a:off x="685800" y="2423160"/>
            <a:ext cx="512064" cy="512064"/>
          </a:xfrm>
          <a:prstGeom prst="ellipse">
            <a:avLst/>
          </a:prstGeom>
          <a:solidFill>
            <a:srgbClr val="1C7293"/>
          </a:solidFill>
          <a:ln/>
        </p:spPr>
      </p:sp>
      <p:pic>
        <p:nvPicPr>
          <p:cNvPr id="12" name="Image 2" descr="preencoded.png">    </p:cNvPr>
          <p:cNvPicPr>
            <a:picLocks noChangeAspect="1"/>
          </p:cNvPicPr>
          <p:nvPr/>
        </p:nvPicPr>
        <p:blipFill>
          <a:blip r:embed="rId3"/>
          <a:stretch>
            <a:fillRect/>
          </a:stretch>
        </p:blipFill>
        <p:spPr>
          <a:xfrm>
            <a:off x="804672" y="2542032"/>
            <a:ext cx="274320" cy="274320"/>
          </a:xfrm>
          <a:prstGeom prst="rect">
            <a:avLst/>
          </a:prstGeom>
        </p:spPr>
      </p:pic>
      <p:sp>
        <p:nvSpPr>
          <p:cNvPr id="13" name="Text 8"/>
          <p:cNvSpPr/>
          <p:nvPr/>
        </p:nvSpPr>
        <p:spPr>
          <a:xfrm>
            <a:off x="1417320" y="2350008"/>
            <a:ext cx="8686800" cy="384048"/>
          </a:xfrm>
          <a:prstGeom prst="rect">
            <a:avLst/>
          </a:prstGeom>
          <a:noFill/>
          <a:ln/>
        </p:spPr>
        <p:txBody>
          <a:bodyPr wrap="square" lIns="0" tIns="0" rIns="0" bIns="0" rtlCol="0" anchor="ctr"/>
          <a:lstStyle/>
          <a:p>
            <a:pPr indent="0" marL="0">
              <a:buNone/>
            </a:pPr>
            <a:r>
              <a:rPr lang="en-US" sz="1800" b="1" dirty="0">
                <a:solidFill>
                  <a:srgbClr val="1E293B"/>
                </a:solidFill>
                <a:latin typeface="Cambria" pitchFamily="34" charset="0"/>
                <a:ea typeface="Cambria" pitchFamily="34" charset="-122"/>
                <a:cs typeface="Cambria" pitchFamily="34" charset="-120"/>
              </a:rPr>
              <a:t>Configuring Remote Backends</a:t>
            </a:r>
            <a:endParaRPr lang="en-US" sz="1800" dirty="0"/>
          </a:p>
        </p:txBody>
      </p:sp>
      <p:sp>
        <p:nvSpPr>
          <p:cNvPr id="14" name="Text 9"/>
          <p:cNvSpPr/>
          <p:nvPr/>
        </p:nvSpPr>
        <p:spPr>
          <a:xfrm>
            <a:off x="1417320" y="2734056"/>
            <a:ext cx="896112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Hands-on setup for AWS S3, Azure Blob, and Google Cloud Storage</a:t>
            </a:r>
            <a:endParaRPr lang="en-US" sz="1300" dirty="0"/>
          </a:p>
        </p:txBody>
      </p:sp>
      <p:sp>
        <p:nvSpPr>
          <p:cNvPr id="15" name="Shape 10"/>
          <p:cNvSpPr/>
          <p:nvPr/>
        </p:nvSpPr>
        <p:spPr>
          <a:xfrm>
            <a:off x="1417320" y="3227832"/>
            <a:ext cx="9418320" cy="0"/>
          </a:xfrm>
          <a:prstGeom prst="line">
            <a:avLst/>
          </a:prstGeom>
          <a:noFill/>
          <a:ln w="12700">
            <a:solidFill>
              <a:srgbClr val="E2ECF1"/>
            </a:solidFill>
            <a:prstDash val="solid"/>
          </a:ln>
        </p:spPr>
      </p:sp>
      <p:sp>
        <p:nvSpPr>
          <p:cNvPr id="16" name="Shape 11"/>
          <p:cNvSpPr/>
          <p:nvPr/>
        </p:nvSpPr>
        <p:spPr>
          <a:xfrm>
            <a:off x="685800" y="3355848"/>
            <a:ext cx="512064" cy="512064"/>
          </a:xfrm>
          <a:prstGeom prst="ellipse">
            <a:avLst/>
          </a:prstGeom>
          <a:solidFill>
            <a:srgbClr val="F2A65A"/>
          </a:solidFill>
          <a:ln/>
        </p:spPr>
      </p:sp>
      <p:pic>
        <p:nvPicPr>
          <p:cNvPr id="17" name="Image 3" descr="preencoded.png">    </p:cNvPr>
          <p:cNvPicPr>
            <a:picLocks noChangeAspect="1"/>
          </p:cNvPicPr>
          <p:nvPr/>
        </p:nvPicPr>
        <p:blipFill>
          <a:blip r:embed="rId4"/>
          <a:stretch>
            <a:fillRect/>
          </a:stretch>
        </p:blipFill>
        <p:spPr>
          <a:xfrm>
            <a:off x="804672" y="3474720"/>
            <a:ext cx="274320" cy="274320"/>
          </a:xfrm>
          <a:prstGeom prst="rect">
            <a:avLst/>
          </a:prstGeom>
        </p:spPr>
      </p:pic>
      <p:sp>
        <p:nvSpPr>
          <p:cNvPr id="18" name="Text 12"/>
          <p:cNvSpPr/>
          <p:nvPr/>
        </p:nvSpPr>
        <p:spPr>
          <a:xfrm>
            <a:off x="1417320" y="3282696"/>
            <a:ext cx="8686800" cy="384048"/>
          </a:xfrm>
          <a:prstGeom prst="rect">
            <a:avLst/>
          </a:prstGeom>
          <a:noFill/>
          <a:ln/>
        </p:spPr>
        <p:txBody>
          <a:bodyPr wrap="square" lIns="0" tIns="0" rIns="0" bIns="0" rtlCol="0" anchor="ctr"/>
          <a:lstStyle/>
          <a:p>
            <a:pPr indent="0" marL="0">
              <a:buNone/>
            </a:pPr>
            <a:r>
              <a:rPr lang="en-US" sz="1800" b="1" dirty="0">
                <a:solidFill>
                  <a:srgbClr val="1E293B"/>
                </a:solidFill>
                <a:latin typeface="Cambria" pitchFamily="34" charset="0"/>
                <a:ea typeface="Cambria" pitchFamily="34" charset="-122"/>
                <a:cs typeface="Cambria" pitchFamily="34" charset="-120"/>
              </a:rPr>
              <a:t>State Locking with DynamoDB</a:t>
            </a:r>
            <a:endParaRPr lang="en-US" sz="1800" dirty="0"/>
          </a:p>
        </p:txBody>
      </p:sp>
      <p:sp>
        <p:nvSpPr>
          <p:cNvPr id="19" name="Text 13"/>
          <p:cNvSpPr/>
          <p:nvPr/>
        </p:nvSpPr>
        <p:spPr>
          <a:xfrm>
            <a:off x="1417320" y="3666744"/>
            <a:ext cx="896112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Preventing corruption when multiple engineers apply at once</a:t>
            </a:r>
            <a:endParaRPr lang="en-US" sz="1300" dirty="0"/>
          </a:p>
        </p:txBody>
      </p:sp>
      <p:sp>
        <p:nvSpPr>
          <p:cNvPr id="20" name="Shape 14"/>
          <p:cNvSpPr/>
          <p:nvPr/>
        </p:nvSpPr>
        <p:spPr>
          <a:xfrm>
            <a:off x="1417320" y="4160520"/>
            <a:ext cx="9418320" cy="0"/>
          </a:xfrm>
          <a:prstGeom prst="line">
            <a:avLst/>
          </a:prstGeom>
          <a:noFill/>
          <a:ln w="12700">
            <a:solidFill>
              <a:srgbClr val="E2ECF1"/>
            </a:solidFill>
            <a:prstDash val="solid"/>
          </a:ln>
        </p:spPr>
      </p:sp>
      <p:sp>
        <p:nvSpPr>
          <p:cNvPr id="21" name="Shape 15"/>
          <p:cNvSpPr/>
          <p:nvPr/>
        </p:nvSpPr>
        <p:spPr>
          <a:xfrm>
            <a:off x="685800" y="4288536"/>
            <a:ext cx="512064" cy="512064"/>
          </a:xfrm>
          <a:prstGeom prst="ellipse">
            <a:avLst/>
          </a:prstGeom>
          <a:solidFill>
            <a:srgbClr val="065A82"/>
          </a:solidFill>
          <a:ln/>
        </p:spPr>
      </p:sp>
      <p:pic>
        <p:nvPicPr>
          <p:cNvPr id="22" name="Image 4" descr="preencoded.png">    </p:cNvPr>
          <p:cNvPicPr>
            <a:picLocks noChangeAspect="1"/>
          </p:cNvPicPr>
          <p:nvPr/>
        </p:nvPicPr>
        <p:blipFill>
          <a:blip r:embed="rId5"/>
          <a:stretch>
            <a:fillRect/>
          </a:stretch>
        </p:blipFill>
        <p:spPr>
          <a:xfrm>
            <a:off x="804672" y="4407408"/>
            <a:ext cx="274320" cy="274320"/>
          </a:xfrm>
          <a:prstGeom prst="rect">
            <a:avLst/>
          </a:prstGeom>
        </p:spPr>
      </p:pic>
      <p:sp>
        <p:nvSpPr>
          <p:cNvPr id="23" name="Text 16"/>
          <p:cNvSpPr/>
          <p:nvPr/>
        </p:nvSpPr>
        <p:spPr>
          <a:xfrm>
            <a:off x="1417320" y="4215384"/>
            <a:ext cx="8686800" cy="384048"/>
          </a:xfrm>
          <a:prstGeom prst="rect">
            <a:avLst/>
          </a:prstGeom>
          <a:noFill/>
          <a:ln/>
        </p:spPr>
        <p:txBody>
          <a:bodyPr wrap="square" lIns="0" tIns="0" rIns="0" bIns="0" rtlCol="0" anchor="ctr"/>
          <a:lstStyle/>
          <a:p>
            <a:pPr indent="0" marL="0">
              <a:buNone/>
            </a:pPr>
            <a:r>
              <a:rPr lang="en-US" sz="1800" b="1" dirty="0">
                <a:solidFill>
                  <a:srgbClr val="1E293B"/>
                </a:solidFill>
                <a:latin typeface="Cambria" pitchFamily="34" charset="0"/>
                <a:ea typeface="Cambria" pitchFamily="34" charset="-122"/>
                <a:cs typeface="Cambria" pitchFamily="34" charset="-120"/>
              </a:rPr>
              <a:t>Migration Scenario</a:t>
            </a:r>
            <a:endParaRPr lang="en-US" sz="1800" dirty="0"/>
          </a:p>
        </p:txBody>
      </p:sp>
      <p:sp>
        <p:nvSpPr>
          <p:cNvPr id="24" name="Text 17"/>
          <p:cNvSpPr/>
          <p:nvPr/>
        </p:nvSpPr>
        <p:spPr>
          <a:xfrm>
            <a:off x="1417320" y="4599432"/>
            <a:ext cx="896112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Step-by-step: moving existing local state into S3 safely</a:t>
            </a:r>
            <a:endParaRPr lang="en-US" sz="1300" dirty="0"/>
          </a:p>
        </p:txBody>
      </p:sp>
      <p:sp>
        <p:nvSpPr>
          <p:cNvPr id="25" name="Shape 18"/>
          <p:cNvSpPr/>
          <p:nvPr/>
        </p:nvSpPr>
        <p:spPr>
          <a:xfrm>
            <a:off x="1417320" y="5093208"/>
            <a:ext cx="9418320" cy="0"/>
          </a:xfrm>
          <a:prstGeom prst="line">
            <a:avLst/>
          </a:prstGeom>
          <a:noFill/>
          <a:ln w="12700">
            <a:solidFill>
              <a:srgbClr val="E2ECF1"/>
            </a:solidFill>
            <a:prstDash val="solid"/>
          </a:ln>
        </p:spPr>
      </p:sp>
      <p:sp>
        <p:nvSpPr>
          <p:cNvPr id="26" name="Shape 19"/>
          <p:cNvSpPr/>
          <p:nvPr/>
        </p:nvSpPr>
        <p:spPr>
          <a:xfrm>
            <a:off x="685800" y="5221224"/>
            <a:ext cx="512064" cy="512064"/>
          </a:xfrm>
          <a:prstGeom prst="ellipse">
            <a:avLst/>
          </a:prstGeom>
          <a:solidFill>
            <a:srgbClr val="1C7293"/>
          </a:solidFill>
          <a:ln/>
        </p:spPr>
      </p:sp>
      <p:pic>
        <p:nvPicPr>
          <p:cNvPr id="27" name="Image 5" descr="preencoded.png">    </p:cNvPr>
          <p:cNvPicPr>
            <a:picLocks noChangeAspect="1"/>
          </p:cNvPicPr>
          <p:nvPr/>
        </p:nvPicPr>
        <p:blipFill>
          <a:blip r:embed="rId6"/>
          <a:stretch>
            <a:fillRect/>
          </a:stretch>
        </p:blipFill>
        <p:spPr>
          <a:xfrm>
            <a:off x="804672" y="5340096"/>
            <a:ext cx="274320" cy="274320"/>
          </a:xfrm>
          <a:prstGeom prst="rect">
            <a:avLst/>
          </a:prstGeom>
        </p:spPr>
      </p:pic>
      <p:sp>
        <p:nvSpPr>
          <p:cNvPr id="28" name="Text 20"/>
          <p:cNvSpPr/>
          <p:nvPr/>
        </p:nvSpPr>
        <p:spPr>
          <a:xfrm>
            <a:off x="1417320" y="5148072"/>
            <a:ext cx="8686800" cy="384048"/>
          </a:xfrm>
          <a:prstGeom prst="rect">
            <a:avLst/>
          </a:prstGeom>
          <a:noFill/>
          <a:ln/>
        </p:spPr>
        <p:txBody>
          <a:bodyPr wrap="square" lIns="0" tIns="0" rIns="0" bIns="0" rtlCol="0" anchor="ctr"/>
          <a:lstStyle/>
          <a:p>
            <a:pPr indent="0" marL="0">
              <a:buNone/>
            </a:pPr>
            <a:r>
              <a:rPr lang="en-US" sz="1800" b="1" dirty="0">
                <a:solidFill>
                  <a:srgbClr val="1E293B"/>
                </a:solidFill>
                <a:latin typeface="Cambria" pitchFamily="34" charset="0"/>
                <a:ea typeface="Cambria" pitchFamily="34" charset="-122"/>
                <a:cs typeface="Cambria" pitchFamily="34" charset="-120"/>
              </a:rPr>
              <a:t>Chapter Summary</a:t>
            </a:r>
            <a:endParaRPr lang="en-US" sz="1800" dirty="0"/>
          </a:p>
        </p:txBody>
      </p:sp>
      <p:sp>
        <p:nvSpPr>
          <p:cNvPr id="29" name="Text 21"/>
          <p:cNvSpPr/>
          <p:nvPr/>
        </p:nvSpPr>
        <p:spPr>
          <a:xfrm>
            <a:off x="1417320" y="5532120"/>
            <a:ext cx="896112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Key takeaways and a quick recap checklist</a:t>
            </a:r>
            <a:endParaRPr lang="en-US" sz="1300" dirty="0"/>
          </a:p>
        </p:txBody>
      </p:sp>
      <p:sp>
        <p:nvSpPr>
          <p:cNvPr id="30" name="Text 22"/>
          <p:cNvSpPr/>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
        <p:nvSpPr>
          <p:cNvPr id="31" name="Text 23"/>
          <p:cNvSpPr/>
          <p:nvPr/>
        </p:nvSpPr>
        <p:spPr>
          <a:xfrm>
            <a:off x="502920" y="6446520"/>
            <a:ext cx="3657600" cy="274320"/>
          </a:xfrm>
          <a:prstGeom prst="rect">
            <a:avLst/>
          </a:prstGeom>
          <a:noFill/>
          <a:ln/>
        </p:spPr>
        <p:txBody>
          <a:bodyPr wrap="square" lIns="0" tIns="0" rIns="0" bIns="0" rtlCol="0" anchor="ctr"/>
          <a:lstStyle/>
          <a:p>
            <a:pPr indent="0" marL="0">
              <a:buNone/>
            </a:pPr>
            <a:r>
              <a:rPr lang="en-US" sz="900" b="1" spc="150" kern="0" dirty="0">
                <a:solidFill>
                  <a:srgbClr val="64748B"/>
                </a:solidFill>
                <a:latin typeface="Calibri" pitchFamily="34" charset="0"/>
                <a:ea typeface="Calibri" pitchFamily="34" charset="-122"/>
                <a:cs typeface="Calibri" pitchFamily="34" charset="-120"/>
              </a:rPr>
              <a:t>TERRAFORM BACKENDS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65A82"/>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384048"/>
            <a:ext cx="73152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9.1 THE CORE TRADE-OFF</a:t>
            </a:r>
            <a:endParaRPr lang="en-US" sz="1200" dirty="0"/>
          </a:p>
        </p:txBody>
      </p:sp>
      <p:sp>
        <p:nvSpPr>
          <p:cNvPr id="5" name="Text 2"/>
          <p:cNvSpPr/>
          <p:nvPr/>
        </p:nvSpPr>
        <p:spPr>
          <a:xfrm>
            <a:off x="1234440" y="621792"/>
            <a:ext cx="9601200" cy="50292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Local Backend vs. Remote Backend</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55680" cy="4663440"/>
        </p:xfrm>
        <a:graphic>
          <a:graphicData uri="http://schemas.openxmlformats.org/drawingml/2006/table">
            <a:tbl>
              <a:tblPr/>
              <a:tblGrid>
                <a:gridCol w="2377440"/>
                <a:gridCol w="4114800"/>
                <a:gridCol w="4663440"/>
              </a:tblGrid>
              <a:tr h="7772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Feature</a:t>
                      </a:r>
                      <a:endParaRPr lang="en-US" sz="1300" dirty="0">
                        <a:latin typeface="Calibri" charset="0"/>
                        <a:ea typeface="Calibri" charset="0"/>
                        <a:cs typeface="Calibri" charset="0"/>
                      </a:endParaRPr>
                    </a:p>
                  </a:txBody>
                  <a:tcPr marL="91440" marR="91440" marT="45720" marB="45720" anchor="ctr">
                    <a:lnL w="9525" cap="flat" cmpd="sng" algn="ctr">
                      <a:solidFill>
                        <a:srgbClr val="E2ECF1"/>
                      </a:solidFill>
                      <a:prstDash val="solid"/>
                      <a:round/>
                      <a:headEnd type="none" w="med" len="med"/>
                      <a:tailEnd type="none" w="med" len="med"/>
                    </a:lnL>
                    <a:lnR w="9525" cap="flat" cmpd="sng" algn="ctr">
                      <a:solidFill>
                        <a:srgbClr val="E2ECF1"/>
                      </a:solidFill>
                      <a:prstDash val="solid"/>
                      <a:round/>
                      <a:headEnd type="none" w="med" len="med"/>
                      <a:tailEnd type="none" w="med" len="med"/>
                    </a:lnR>
                    <a:lnT w="9525" cap="flat" cmpd="sng" algn="ctr">
                      <a:solidFill>
                        <a:srgbClr val="E2ECF1"/>
                      </a:solidFill>
                      <a:prstDash val="solid"/>
                      <a:round/>
                      <a:headEnd type="none" w="med" len="med"/>
                      <a:tailEnd type="none" w="med" len="med"/>
                    </a:lnT>
                    <a:lnB w="9525" cap="flat" cmpd="sng" algn="ctr">
                      <a:solidFill>
                        <a:srgbClr val="E2ECF1"/>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Local Backend</a:t>
                      </a:r>
                      <a:endParaRPr lang="en-US" sz="1300" dirty="0">
                        <a:latin typeface="Calibri" charset="0"/>
                        <a:ea typeface="Calibri" charset="0"/>
                        <a:cs typeface="Calibri" charset="0"/>
                      </a:endParaRPr>
                    </a:p>
                  </a:txBody>
                  <a:tcPr marL="91440" marR="91440" marT="45720" marB="45720" anchor="ctr">
                    <a:lnL w="9525" cap="flat" cmpd="sng" algn="ctr">
                      <a:solidFill>
                        <a:srgbClr val="E2ECF1"/>
                      </a:solidFill>
                      <a:prstDash val="solid"/>
                      <a:round/>
                      <a:headEnd type="none" w="med" len="med"/>
                      <a:tailEnd type="none" w="med" len="med"/>
                    </a:lnL>
                    <a:lnR w="9525" cap="flat" cmpd="sng" algn="ctr">
                      <a:solidFill>
                        <a:srgbClr val="E2ECF1"/>
                      </a:solidFill>
                      <a:prstDash val="solid"/>
                      <a:round/>
                      <a:headEnd type="none" w="med" len="med"/>
                      <a:tailEnd type="none" w="med" len="med"/>
                    </a:lnR>
                    <a:lnT w="9525" cap="flat" cmpd="sng" algn="ctr">
                      <a:solidFill>
                        <a:srgbClr val="E2ECF1"/>
                      </a:solidFill>
                      <a:prstDash val="solid"/>
                      <a:round/>
                      <a:headEnd type="none" w="med" len="med"/>
                      <a:tailEnd type="none" w="med" len="med"/>
                    </a:lnT>
                    <a:lnB w="9525" cap="flat" cmpd="sng" algn="ctr">
                      <a:solidFill>
                        <a:srgbClr val="E2ECF1"/>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Remote Backend (S3 / Azure / GCS)</a:t>
                      </a:r>
                      <a:endParaRPr lang="en-US" sz="1300" dirty="0">
                        <a:latin typeface="Calibri" charset="0"/>
                        <a:ea typeface="Calibri" charset="0"/>
                        <a:cs typeface="Calibri" charset="0"/>
                      </a:endParaRPr>
                    </a:p>
                  </a:txBody>
                  <a:tcPr marL="91440" marR="91440" marT="45720" marB="45720" anchor="ctr">
                    <a:lnL w="9525" cap="flat" cmpd="sng" algn="ctr">
                      <a:solidFill>
                        <a:srgbClr val="E2ECF1"/>
                      </a:solidFill>
                      <a:prstDash val="solid"/>
                      <a:round/>
                      <a:headEnd type="none" w="med" len="med"/>
                      <a:tailEnd type="none" w="med" len="med"/>
                    </a:lnL>
                    <a:lnR w="9525" cap="flat" cmpd="sng" algn="ctr">
                      <a:solidFill>
                        <a:srgbClr val="E2ECF1"/>
                      </a:solidFill>
                      <a:prstDash val="solid"/>
                      <a:round/>
                      <a:headEnd type="none" w="med" len="med"/>
                      <a:tailEnd type="none" w="med" len="med"/>
                    </a:lnR>
                    <a:lnT w="9525" cap="flat" cmpd="sng" algn="ctr">
                      <a:solidFill>
                        <a:srgbClr val="E2ECF1"/>
                      </a:solidFill>
                      <a:prstDash val="solid"/>
                      <a:round/>
                      <a:headEnd type="none" w="med" len="med"/>
                      <a:tailEnd type="none" w="med" len="med"/>
                    </a:lnT>
                    <a:lnB w="9525" cap="flat" cmpd="sng" algn="ctr">
                      <a:solidFill>
                        <a:srgbClr val="E2ECF1"/>
                      </a:solidFill>
                      <a:prstDash val="solid"/>
                      <a:round/>
                      <a:headEnd type="none" w="med" len="med"/>
                      <a:tailEnd type="none" w="med" len="med"/>
                    </a:lnB>
                    <a:solidFill>
                      <a:srgbClr val="065A82"/>
                    </a:solidFill>
                  </a:tcPr>
                </a:tc>
              </a:tr>
              <a:tr h="777240">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Storage location</a:t>
                      </a:r>
                      <a:endParaRPr lang="en-US" sz="1250" dirty="0">
                        <a:latin typeface="Calibri" charset="0"/>
                        <a:ea typeface="Calibri" charset="0"/>
                        <a:cs typeface="Calibri" charset="0"/>
                      </a:endParaRPr>
                    </a:p>
                  </a:txBody>
                  <a:tcPr marL="91440" marR="91440" marT="45720" marB="45720" anchor="ctr">
                    <a:lnL w="9525" cap="flat" cmpd="sng" algn="ctr">
                      <a:solidFill>
                        <a:srgbClr val="E2ECF1"/>
                      </a:solidFill>
                      <a:prstDash val="solid"/>
                      <a:round/>
                      <a:headEnd type="none" w="med" len="med"/>
                      <a:tailEnd type="none" w="med" len="med"/>
                    </a:lnL>
                    <a:lnR w="9525" cap="flat" cmpd="sng" algn="ctr">
                      <a:solidFill>
                        <a:srgbClr val="E2ECF1"/>
                      </a:solidFill>
                      <a:prstDash val="solid"/>
                      <a:round/>
                      <a:headEnd type="none" w="med" len="med"/>
                      <a:tailEnd type="none" w="med" len="med"/>
                    </a:lnR>
                    <a:lnT w="9525" cap="flat" cmpd="sng" algn="ctr">
                      <a:solidFill>
                        <a:srgbClr val="E2ECF1"/>
                      </a:solidFill>
                      <a:prstDash val="solid"/>
                      <a:round/>
                      <a:headEnd type="none" w="med" len="med"/>
                      <a:tailEnd type="none" w="med" len="med"/>
                    </a:lnT>
                    <a:lnB w="9525" cap="flat" cmpd="sng" algn="ctr">
                      <a:solidFill>
                        <a:srgbClr val="E2ECF1"/>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On the local machine (terraform.tfstate)</a:t>
                      </a:r>
                      <a:endParaRPr lang="en-US" sz="1250" dirty="0">
                        <a:latin typeface="Calibri" charset="0"/>
                        <a:ea typeface="Calibri" charset="0"/>
                        <a:cs typeface="Calibri" charset="0"/>
                      </a:endParaRPr>
                    </a:p>
                  </a:txBody>
                  <a:tcPr marL="91440" marR="91440" marT="45720" marB="45720" anchor="ctr">
                    <a:lnL w="9525" cap="flat" cmpd="sng" algn="ctr">
                      <a:solidFill>
                        <a:srgbClr val="E2ECF1"/>
                      </a:solidFill>
                      <a:prstDash val="solid"/>
                      <a:round/>
                      <a:headEnd type="none" w="med" len="med"/>
                      <a:tailEnd type="none" w="med" len="med"/>
                    </a:lnL>
                    <a:lnR w="9525" cap="flat" cmpd="sng" algn="ctr">
                      <a:solidFill>
                        <a:srgbClr val="E2ECF1"/>
                      </a:solidFill>
                      <a:prstDash val="solid"/>
                      <a:round/>
                      <a:headEnd type="none" w="med" len="med"/>
                      <a:tailEnd type="none" w="med" len="med"/>
                    </a:lnR>
                    <a:lnT w="9525" cap="flat" cmpd="sng" algn="ctr">
                      <a:solidFill>
                        <a:srgbClr val="E2ECF1"/>
                      </a:solidFill>
                      <a:prstDash val="solid"/>
                      <a:round/>
                      <a:headEnd type="none" w="med" len="med"/>
                      <a:tailEnd type="none" w="med" len="med"/>
                    </a:lnT>
                    <a:lnB w="9525" cap="flat" cmpd="sng" algn="ctr">
                      <a:solidFill>
                        <a:srgbClr val="E2ECF1"/>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Cloud storage — S3, Azure Blob, GCS, Terraform Cloud</a:t>
                      </a:r>
                      <a:endParaRPr lang="en-US" sz="1250" dirty="0">
                        <a:latin typeface="Calibri" charset="0"/>
                        <a:ea typeface="Calibri" charset="0"/>
                        <a:cs typeface="Calibri" charset="0"/>
                      </a:endParaRPr>
                    </a:p>
                  </a:txBody>
                  <a:tcPr marL="91440" marR="91440" marT="45720" marB="45720" anchor="ctr">
                    <a:lnL w="9525" cap="flat" cmpd="sng" algn="ctr">
                      <a:solidFill>
                        <a:srgbClr val="E2ECF1"/>
                      </a:solidFill>
                      <a:prstDash val="solid"/>
                      <a:round/>
                      <a:headEnd type="none" w="med" len="med"/>
                      <a:tailEnd type="none" w="med" len="med"/>
                    </a:lnL>
                    <a:lnR w="9525" cap="flat" cmpd="sng" algn="ctr">
                      <a:solidFill>
                        <a:srgbClr val="E2ECF1"/>
                      </a:solidFill>
                      <a:prstDash val="solid"/>
                      <a:round/>
                      <a:headEnd type="none" w="med" len="med"/>
                      <a:tailEnd type="none" w="med" len="med"/>
                    </a:lnR>
                    <a:lnT w="9525" cap="flat" cmpd="sng" algn="ctr">
                      <a:solidFill>
                        <a:srgbClr val="E2ECF1"/>
                      </a:solidFill>
                      <a:prstDash val="solid"/>
                      <a:round/>
                      <a:headEnd type="none" w="med" len="med"/>
                      <a:tailEnd type="none" w="med" len="med"/>
                    </a:lnT>
                    <a:lnB w="9525" cap="flat" cmpd="sng" algn="ctr">
                      <a:solidFill>
                        <a:srgbClr val="E2ECF1"/>
                      </a:solidFill>
                      <a:prstDash val="solid"/>
                      <a:round/>
                      <a:headEnd type="none" w="med" len="med"/>
                      <a:tailEnd type="none" w="med" len="med"/>
                    </a:lnB>
                  </a:tcPr>
                </a:tc>
              </a:tr>
              <a:tr h="777240">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Collaboration</a:t>
                      </a:r>
                      <a:endParaRPr lang="en-US" sz="1250" dirty="0">
                        <a:latin typeface="Calibri" charset="0"/>
                        <a:ea typeface="Calibri" charset="0"/>
                        <a:cs typeface="Calibri" charset="0"/>
                      </a:endParaRPr>
                    </a:p>
                  </a:txBody>
                  <a:tcPr marL="91440" marR="91440" marT="45720" marB="45720" anchor="ctr">
                    <a:lnL w="9525" cap="flat" cmpd="sng" algn="ctr">
                      <a:solidFill>
                        <a:srgbClr val="E2ECF1"/>
                      </a:solidFill>
                      <a:prstDash val="solid"/>
                      <a:round/>
                      <a:headEnd type="none" w="med" len="med"/>
                      <a:tailEnd type="none" w="med" len="med"/>
                    </a:lnL>
                    <a:lnR w="9525" cap="flat" cmpd="sng" algn="ctr">
                      <a:solidFill>
                        <a:srgbClr val="E2ECF1"/>
                      </a:solidFill>
                      <a:prstDash val="solid"/>
                      <a:round/>
                      <a:headEnd type="none" w="med" len="med"/>
                      <a:tailEnd type="none" w="med" len="med"/>
                    </a:lnR>
                    <a:lnT w="9525" cap="flat" cmpd="sng" algn="ctr">
                      <a:solidFill>
                        <a:srgbClr val="E2ECF1"/>
                      </a:solidFill>
                      <a:prstDash val="solid"/>
                      <a:round/>
                      <a:headEnd type="none" w="med" len="med"/>
                      <a:tailEnd type="none" w="med" len="med"/>
                    </a:lnT>
                    <a:lnB w="9525" cap="flat" cmpd="sng" algn="ctr">
                      <a:solidFill>
                        <a:srgbClr val="E2ECF1"/>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Hard to share across a team</a:t>
                      </a:r>
                      <a:endParaRPr lang="en-US" sz="1250" dirty="0">
                        <a:latin typeface="Calibri" charset="0"/>
                        <a:ea typeface="Calibri" charset="0"/>
                        <a:cs typeface="Calibri" charset="0"/>
                      </a:endParaRPr>
                    </a:p>
                  </a:txBody>
                  <a:tcPr marL="91440" marR="91440" marT="45720" marB="45720" anchor="ctr">
                    <a:lnL w="9525" cap="flat" cmpd="sng" algn="ctr">
                      <a:solidFill>
                        <a:srgbClr val="E2ECF1"/>
                      </a:solidFill>
                      <a:prstDash val="solid"/>
                      <a:round/>
                      <a:headEnd type="none" w="med" len="med"/>
                      <a:tailEnd type="none" w="med" len="med"/>
                    </a:lnL>
                    <a:lnR w="9525" cap="flat" cmpd="sng" algn="ctr">
                      <a:solidFill>
                        <a:srgbClr val="E2ECF1"/>
                      </a:solidFill>
                      <a:prstDash val="solid"/>
                      <a:round/>
                      <a:headEnd type="none" w="med" len="med"/>
                      <a:tailEnd type="none" w="med" len="med"/>
                    </a:lnR>
                    <a:lnT w="9525" cap="flat" cmpd="sng" algn="ctr">
                      <a:solidFill>
                        <a:srgbClr val="E2ECF1"/>
                      </a:solidFill>
                      <a:prstDash val="solid"/>
                      <a:round/>
                      <a:headEnd type="none" w="med" len="med"/>
                      <a:tailEnd type="none" w="med" len="med"/>
                    </a:lnT>
                    <a:lnB w="9525" cap="flat" cmpd="sng" algn="ctr">
                      <a:solidFill>
                        <a:srgbClr val="E2ECF1"/>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Multiple users can access the same state</a:t>
                      </a:r>
                      <a:endParaRPr lang="en-US" sz="1250" dirty="0">
                        <a:latin typeface="Calibri" charset="0"/>
                        <a:ea typeface="Calibri" charset="0"/>
                        <a:cs typeface="Calibri" charset="0"/>
                      </a:endParaRPr>
                    </a:p>
                  </a:txBody>
                  <a:tcPr marL="91440" marR="91440" marT="45720" marB="45720" anchor="ctr">
                    <a:lnL w="9525" cap="flat" cmpd="sng" algn="ctr">
                      <a:solidFill>
                        <a:srgbClr val="E2ECF1"/>
                      </a:solidFill>
                      <a:prstDash val="solid"/>
                      <a:round/>
                      <a:headEnd type="none" w="med" len="med"/>
                      <a:tailEnd type="none" w="med" len="med"/>
                    </a:lnL>
                    <a:lnR w="9525" cap="flat" cmpd="sng" algn="ctr">
                      <a:solidFill>
                        <a:srgbClr val="E2ECF1"/>
                      </a:solidFill>
                      <a:prstDash val="solid"/>
                      <a:round/>
                      <a:headEnd type="none" w="med" len="med"/>
                      <a:tailEnd type="none" w="med" len="med"/>
                    </a:lnR>
                    <a:lnT w="9525" cap="flat" cmpd="sng" algn="ctr">
                      <a:solidFill>
                        <a:srgbClr val="E2ECF1"/>
                      </a:solidFill>
                      <a:prstDash val="solid"/>
                      <a:round/>
                      <a:headEnd type="none" w="med" len="med"/>
                      <a:tailEnd type="none" w="med" len="med"/>
                    </a:lnT>
                    <a:lnB w="9525" cap="flat" cmpd="sng" algn="ctr">
                      <a:solidFill>
                        <a:srgbClr val="E2ECF1"/>
                      </a:solidFill>
                      <a:prstDash val="solid"/>
                      <a:round/>
                      <a:headEnd type="none" w="med" len="med"/>
                      <a:tailEnd type="none" w="med" len="med"/>
                    </a:lnB>
                  </a:tcPr>
                </a:tc>
              </a:tr>
              <a:tr h="777240">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Security</a:t>
                      </a:r>
                      <a:endParaRPr lang="en-US" sz="1250" dirty="0">
                        <a:latin typeface="Calibri" charset="0"/>
                        <a:ea typeface="Calibri" charset="0"/>
                        <a:cs typeface="Calibri" charset="0"/>
                      </a:endParaRPr>
                    </a:p>
                  </a:txBody>
                  <a:tcPr marL="91440" marR="91440" marT="45720" marB="45720" anchor="ctr">
                    <a:lnL w="9525" cap="flat" cmpd="sng" algn="ctr">
                      <a:solidFill>
                        <a:srgbClr val="E2ECF1"/>
                      </a:solidFill>
                      <a:prstDash val="solid"/>
                      <a:round/>
                      <a:headEnd type="none" w="med" len="med"/>
                      <a:tailEnd type="none" w="med" len="med"/>
                    </a:lnL>
                    <a:lnR w="9525" cap="flat" cmpd="sng" algn="ctr">
                      <a:solidFill>
                        <a:srgbClr val="E2ECF1"/>
                      </a:solidFill>
                      <a:prstDash val="solid"/>
                      <a:round/>
                      <a:headEnd type="none" w="med" len="med"/>
                      <a:tailEnd type="none" w="med" len="med"/>
                    </a:lnR>
                    <a:lnT w="9525" cap="flat" cmpd="sng" algn="ctr">
                      <a:solidFill>
                        <a:srgbClr val="E2ECF1"/>
                      </a:solidFill>
                      <a:prstDash val="solid"/>
                      <a:round/>
                      <a:headEnd type="none" w="med" len="med"/>
                      <a:tailEnd type="none" w="med" len="med"/>
                    </a:lnT>
                    <a:lnB w="9525" cap="flat" cmpd="sng" algn="ctr">
                      <a:solidFill>
                        <a:srgbClr val="E2ECF1"/>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Risk of loss if the machine fails</a:t>
                      </a:r>
                      <a:endParaRPr lang="en-US" sz="1250" dirty="0">
                        <a:latin typeface="Calibri" charset="0"/>
                        <a:ea typeface="Calibri" charset="0"/>
                        <a:cs typeface="Calibri" charset="0"/>
                      </a:endParaRPr>
                    </a:p>
                  </a:txBody>
                  <a:tcPr marL="91440" marR="91440" marT="45720" marB="45720" anchor="ctr">
                    <a:lnL w="9525" cap="flat" cmpd="sng" algn="ctr">
                      <a:solidFill>
                        <a:srgbClr val="E2ECF1"/>
                      </a:solidFill>
                      <a:prstDash val="solid"/>
                      <a:round/>
                      <a:headEnd type="none" w="med" len="med"/>
                      <a:tailEnd type="none" w="med" len="med"/>
                    </a:lnL>
                    <a:lnR w="9525" cap="flat" cmpd="sng" algn="ctr">
                      <a:solidFill>
                        <a:srgbClr val="E2ECF1"/>
                      </a:solidFill>
                      <a:prstDash val="solid"/>
                      <a:round/>
                      <a:headEnd type="none" w="med" len="med"/>
                      <a:tailEnd type="none" w="med" len="med"/>
                    </a:lnR>
                    <a:lnT w="9525" cap="flat" cmpd="sng" algn="ctr">
                      <a:solidFill>
                        <a:srgbClr val="E2ECF1"/>
                      </a:solidFill>
                      <a:prstDash val="solid"/>
                      <a:round/>
                      <a:headEnd type="none" w="med" len="med"/>
                      <a:tailEnd type="none" w="med" len="med"/>
                    </a:lnT>
                    <a:lnB w="9525" cap="flat" cmpd="sng" algn="ctr">
                      <a:solidFill>
                        <a:srgbClr val="E2ECF1"/>
                      </a:solidFill>
                      <a:prstDash val="solid"/>
                      <a:round/>
                      <a:headEnd type="none" w="med" len="med"/>
                      <a:tailEnd type="none" w="med" len="med"/>
                    </a:lnB>
                  </a:tcPr>
                </a:tc>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Cloud security, encryption, IAM control</a:t>
                      </a:r>
                      <a:endParaRPr lang="en-US" sz="1250" dirty="0">
                        <a:latin typeface="Calibri" charset="0"/>
                        <a:ea typeface="Calibri" charset="0"/>
                        <a:cs typeface="Calibri" charset="0"/>
                      </a:endParaRPr>
                    </a:p>
                  </a:txBody>
                  <a:tcPr marL="91440" marR="91440" marT="45720" marB="45720" anchor="ctr">
                    <a:lnL w="9525" cap="flat" cmpd="sng" algn="ctr">
                      <a:solidFill>
                        <a:srgbClr val="E2ECF1"/>
                      </a:solidFill>
                      <a:prstDash val="solid"/>
                      <a:round/>
                      <a:headEnd type="none" w="med" len="med"/>
                      <a:tailEnd type="none" w="med" len="med"/>
                    </a:lnL>
                    <a:lnR w="9525" cap="flat" cmpd="sng" algn="ctr">
                      <a:solidFill>
                        <a:srgbClr val="E2ECF1"/>
                      </a:solidFill>
                      <a:prstDash val="solid"/>
                      <a:round/>
                      <a:headEnd type="none" w="med" len="med"/>
                      <a:tailEnd type="none" w="med" len="med"/>
                    </a:lnR>
                    <a:lnT w="9525" cap="flat" cmpd="sng" algn="ctr">
                      <a:solidFill>
                        <a:srgbClr val="E2ECF1"/>
                      </a:solidFill>
                      <a:prstDash val="solid"/>
                      <a:round/>
                      <a:headEnd type="none" w="med" len="med"/>
                      <a:tailEnd type="none" w="med" len="med"/>
                    </a:lnT>
                    <a:lnB w="9525" cap="flat" cmpd="sng" algn="ctr">
                      <a:solidFill>
                        <a:srgbClr val="E2ECF1"/>
                      </a:solidFill>
                      <a:prstDash val="solid"/>
                      <a:round/>
                      <a:headEnd type="none" w="med" len="med"/>
                      <a:tailEnd type="none" w="med" len="med"/>
                    </a:lnB>
                  </a:tcPr>
                </a:tc>
              </a:tr>
              <a:tr h="777240">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State locking</a:t>
                      </a:r>
                      <a:endParaRPr lang="en-US" sz="1250" dirty="0">
                        <a:latin typeface="Calibri" charset="0"/>
                        <a:ea typeface="Calibri" charset="0"/>
                        <a:cs typeface="Calibri" charset="0"/>
                      </a:endParaRPr>
                    </a:p>
                  </a:txBody>
                  <a:tcPr marL="91440" marR="91440" marT="45720" marB="45720" anchor="ctr">
                    <a:lnL w="9525" cap="flat" cmpd="sng" algn="ctr">
                      <a:solidFill>
                        <a:srgbClr val="E2ECF1"/>
                      </a:solidFill>
                      <a:prstDash val="solid"/>
                      <a:round/>
                      <a:headEnd type="none" w="med" len="med"/>
                      <a:tailEnd type="none" w="med" len="med"/>
                    </a:lnL>
                    <a:lnR w="9525" cap="flat" cmpd="sng" algn="ctr">
                      <a:solidFill>
                        <a:srgbClr val="E2ECF1"/>
                      </a:solidFill>
                      <a:prstDash val="solid"/>
                      <a:round/>
                      <a:headEnd type="none" w="med" len="med"/>
                      <a:tailEnd type="none" w="med" len="med"/>
                    </a:lnR>
                    <a:lnT w="9525" cap="flat" cmpd="sng" algn="ctr">
                      <a:solidFill>
                        <a:srgbClr val="E2ECF1"/>
                      </a:solidFill>
                      <a:prstDash val="solid"/>
                      <a:round/>
                      <a:headEnd type="none" w="med" len="med"/>
                      <a:tailEnd type="none" w="med" len="med"/>
                    </a:lnT>
                    <a:lnB w="9525" cap="flat" cmpd="sng" algn="ctr">
                      <a:solidFill>
                        <a:srgbClr val="E2ECF1"/>
                      </a:solidFill>
                      <a:prstDash val="solid"/>
                      <a:round/>
                      <a:headEnd type="none" w="med" len="med"/>
                      <a:tailEnd type="none" w="med" len="med"/>
                    </a:lnB>
                  </a:tcPr>
                </a:tc>
                <a:tc>
                  <a:txBody>
                    <a:bodyPr/>
                    <a:lstStyle/>
                    <a:p>
                      <a:pPr indent="0" marL="0">
                        <a:buNone/>
                      </a:pPr>
                      <a:r>
                        <a:rPr lang="en-US" sz="1250" b="1" dirty="0">
                          <a:solidFill>
                            <a:srgbClr val="C04A3D"/>
                          </a:solidFill>
                          <a:latin typeface="Calibri" pitchFamily="34" charset="0"/>
                          <a:ea typeface="Calibri" pitchFamily="34" charset="-122"/>
                          <a:cs typeface="Calibri" pitchFamily="34" charset="-120"/>
                        </a:rPr>
                        <a:t>❌  Not supported</a:t>
                      </a:r>
                      <a:endParaRPr lang="en-US" sz="1250" dirty="0">
                        <a:latin typeface="Calibri" charset="0"/>
                        <a:ea typeface="Calibri" charset="0"/>
                        <a:cs typeface="Calibri" charset="0"/>
                      </a:endParaRPr>
                    </a:p>
                  </a:txBody>
                  <a:tcPr marL="91440" marR="91440" marT="45720" marB="45720" anchor="ctr">
                    <a:lnL w="9525" cap="flat" cmpd="sng" algn="ctr">
                      <a:solidFill>
                        <a:srgbClr val="E2ECF1"/>
                      </a:solidFill>
                      <a:prstDash val="solid"/>
                      <a:round/>
                      <a:headEnd type="none" w="med" len="med"/>
                      <a:tailEnd type="none" w="med" len="med"/>
                    </a:lnL>
                    <a:lnR w="9525" cap="flat" cmpd="sng" algn="ctr">
                      <a:solidFill>
                        <a:srgbClr val="E2ECF1"/>
                      </a:solidFill>
                      <a:prstDash val="solid"/>
                      <a:round/>
                      <a:headEnd type="none" w="med" len="med"/>
                      <a:tailEnd type="none" w="med" len="med"/>
                    </a:lnR>
                    <a:lnT w="9525" cap="flat" cmpd="sng" algn="ctr">
                      <a:solidFill>
                        <a:srgbClr val="E2ECF1"/>
                      </a:solidFill>
                      <a:prstDash val="solid"/>
                      <a:round/>
                      <a:headEnd type="none" w="med" len="med"/>
                      <a:tailEnd type="none" w="med" len="med"/>
                    </a:lnT>
                    <a:lnB w="9525" cap="flat" cmpd="sng" algn="ctr">
                      <a:solidFill>
                        <a:srgbClr val="E2ECF1"/>
                      </a:solidFill>
                      <a:prstDash val="solid"/>
                      <a:round/>
                      <a:headEnd type="none" w="med" len="med"/>
                      <a:tailEnd type="none" w="med" len="med"/>
                    </a:lnB>
                  </a:tcPr>
                </a:tc>
                <a:tc>
                  <a:txBody>
                    <a:bodyPr/>
                    <a:lstStyle/>
                    <a:p>
                      <a:pPr indent="0" marL="0">
                        <a:buNone/>
                      </a:pPr>
                      <a:r>
                        <a:rPr lang="en-US" sz="1250" b="1" dirty="0">
                          <a:solidFill>
                            <a:srgbClr val="2E9E6B"/>
                          </a:solidFill>
                          <a:latin typeface="Calibri" pitchFamily="34" charset="0"/>
                          <a:ea typeface="Calibri" pitchFamily="34" charset="-122"/>
                          <a:cs typeface="Calibri" pitchFamily="34" charset="-120"/>
                        </a:rPr>
                        <a:t>✔  Supported (e.g., DynamoDB for S3)</a:t>
                      </a:r>
                      <a:endParaRPr lang="en-US" sz="1250" dirty="0">
                        <a:latin typeface="Calibri" charset="0"/>
                        <a:ea typeface="Calibri" charset="0"/>
                        <a:cs typeface="Calibri" charset="0"/>
                      </a:endParaRPr>
                    </a:p>
                  </a:txBody>
                  <a:tcPr marL="91440" marR="91440" marT="45720" marB="45720" anchor="ctr">
                    <a:lnL w="9525" cap="flat" cmpd="sng" algn="ctr">
                      <a:solidFill>
                        <a:srgbClr val="E2ECF1"/>
                      </a:solidFill>
                      <a:prstDash val="solid"/>
                      <a:round/>
                      <a:headEnd type="none" w="med" len="med"/>
                      <a:tailEnd type="none" w="med" len="med"/>
                    </a:lnL>
                    <a:lnR w="9525" cap="flat" cmpd="sng" algn="ctr">
                      <a:solidFill>
                        <a:srgbClr val="E2ECF1"/>
                      </a:solidFill>
                      <a:prstDash val="solid"/>
                      <a:round/>
                      <a:headEnd type="none" w="med" len="med"/>
                      <a:tailEnd type="none" w="med" len="med"/>
                    </a:lnR>
                    <a:lnT w="9525" cap="flat" cmpd="sng" algn="ctr">
                      <a:solidFill>
                        <a:srgbClr val="E2ECF1"/>
                      </a:solidFill>
                      <a:prstDash val="solid"/>
                      <a:round/>
                      <a:headEnd type="none" w="med" len="med"/>
                      <a:tailEnd type="none" w="med" len="med"/>
                    </a:lnT>
                    <a:lnB w="9525" cap="flat" cmpd="sng" algn="ctr">
                      <a:solidFill>
                        <a:srgbClr val="E2ECF1"/>
                      </a:solidFill>
                      <a:prstDash val="solid"/>
                      <a:round/>
                      <a:headEnd type="none" w="med" len="med"/>
                      <a:tailEnd type="none" w="med" len="med"/>
                    </a:lnB>
                  </a:tcPr>
                </a:tc>
              </a:tr>
              <a:tr h="777240">
                <a:tc>
                  <a:txBody>
                    <a:bodyPr/>
                    <a:lstStyle/>
                    <a:p>
                      <a:pPr indent="0" marL="0">
                        <a:buNone/>
                      </a:pPr>
                      <a:r>
                        <a:rPr lang="en-US" sz="1250" dirty="0">
                          <a:solidFill>
                            <a:srgbClr val="1E293B"/>
                          </a:solidFill>
                          <a:latin typeface="Calibri" pitchFamily="34" charset="0"/>
                          <a:ea typeface="Calibri" pitchFamily="34" charset="-122"/>
                          <a:cs typeface="Calibri" pitchFamily="34" charset="-120"/>
                        </a:rPr>
                        <a:t>Versioning</a:t>
                      </a:r>
                      <a:endParaRPr lang="en-US" sz="1250" dirty="0">
                        <a:latin typeface="Calibri" charset="0"/>
                        <a:ea typeface="Calibri" charset="0"/>
                        <a:cs typeface="Calibri" charset="0"/>
                      </a:endParaRPr>
                    </a:p>
                  </a:txBody>
                  <a:tcPr marL="91440" marR="91440" marT="45720" marB="45720" anchor="ctr">
                    <a:lnL w="9525" cap="flat" cmpd="sng" algn="ctr">
                      <a:solidFill>
                        <a:srgbClr val="E2ECF1"/>
                      </a:solidFill>
                      <a:prstDash val="solid"/>
                      <a:round/>
                      <a:headEnd type="none" w="med" len="med"/>
                      <a:tailEnd type="none" w="med" len="med"/>
                    </a:lnL>
                    <a:lnR w="9525" cap="flat" cmpd="sng" algn="ctr">
                      <a:solidFill>
                        <a:srgbClr val="E2ECF1"/>
                      </a:solidFill>
                      <a:prstDash val="solid"/>
                      <a:round/>
                      <a:headEnd type="none" w="med" len="med"/>
                      <a:tailEnd type="none" w="med" len="med"/>
                    </a:lnR>
                    <a:lnT w="9525" cap="flat" cmpd="sng" algn="ctr">
                      <a:solidFill>
                        <a:srgbClr val="E2ECF1"/>
                      </a:solidFill>
                      <a:prstDash val="solid"/>
                      <a:round/>
                      <a:headEnd type="none" w="med" len="med"/>
                      <a:tailEnd type="none" w="med" len="med"/>
                    </a:lnT>
                    <a:lnB w="9525" cap="flat" cmpd="sng" algn="ctr">
                      <a:solidFill>
                        <a:srgbClr val="E2ECF1"/>
                      </a:solidFill>
                      <a:prstDash val="solid"/>
                      <a:round/>
                      <a:headEnd type="none" w="med" len="med"/>
                      <a:tailEnd type="none" w="med" len="med"/>
                    </a:lnB>
                  </a:tcPr>
                </a:tc>
                <a:tc>
                  <a:txBody>
                    <a:bodyPr/>
                    <a:lstStyle/>
                    <a:p>
                      <a:pPr indent="0" marL="0">
                        <a:buNone/>
                      </a:pPr>
                      <a:r>
                        <a:rPr lang="en-US" sz="1250" b="1" dirty="0">
                          <a:solidFill>
                            <a:srgbClr val="C04A3D"/>
                          </a:solidFill>
                          <a:latin typeface="Calibri" pitchFamily="34" charset="0"/>
                          <a:ea typeface="Calibri" pitchFamily="34" charset="-122"/>
                          <a:cs typeface="Calibri" pitchFamily="34" charset="-120"/>
                        </a:rPr>
                        <a:t>❌  No automatic versioning</a:t>
                      </a:r>
                      <a:endParaRPr lang="en-US" sz="1250" dirty="0">
                        <a:latin typeface="Calibri" charset="0"/>
                        <a:ea typeface="Calibri" charset="0"/>
                        <a:cs typeface="Calibri" charset="0"/>
                      </a:endParaRPr>
                    </a:p>
                  </a:txBody>
                  <a:tcPr marL="91440" marR="91440" marT="45720" marB="45720" anchor="ctr">
                    <a:lnL w="9525" cap="flat" cmpd="sng" algn="ctr">
                      <a:solidFill>
                        <a:srgbClr val="E2ECF1"/>
                      </a:solidFill>
                      <a:prstDash val="solid"/>
                      <a:round/>
                      <a:headEnd type="none" w="med" len="med"/>
                      <a:tailEnd type="none" w="med" len="med"/>
                    </a:lnL>
                    <a:lnR w="9525" cap="flat" cmpd="sng" algn="ctr">
                      <a:solidFill>
                        <a:srgbClr val="E2ECF1"/>
                      </a:solidFill>
                      <a:prstDash val="solid"/>
                      <a:round/>
                      <a:headEnd type="none" w="med" len="med"/>
                      <a:tailEnd type="none" w="med" len="med"/>
                    </a:lnR>
                    <a:lnT w="9525" cap="flat" cmpd="sng" algn="ctr">
                      <a:solidFill>
                        <a:srgbClr val="E2ECF1"/>
                      </a:solidFill>
                      <a:prstDash val="solid"/>
                      <a:round/>
                      <a:headEnd type="none" w="med" len="med"/>
                      <a:tailEnd type="none" w="med" len="med"/>
                    </a:lnT>
                    <a:lnB w="9525" cap="flat" cmpd="sng" algn="ctr">
                      <a:solidFill>
                        <a:srgbClr val="E2ECF1"/>
                      </a:solidFill>
                      <a:prstDash val="solid"/>
                      <a:round/>
                      <a:headEnd type="none" w="med" len="med"/>
                      <a:tailEnd type="none" w="med" len="med"/>
                    </a:lnB>
                  </a:tcPr>
                </a:tc>
                <a:tc>
                  <a:txBody>
                    <a:bodyPr/>
                    <a:lstStyle/>
                    <a:p>
                      <a:pPr indent="0" marL="0">
                        <a:buNone/>
                      </a:pPr>
                      <a:r>
                        <a:rPr lang="en-US" sz="1250" b="1" dirty="0">
                          <a:solidFill>
                            <a:srgbClr val="2E9E6B"/>
                          </a:solidFill>
                          <a:latin typeface="Calibri" pitchFamily="34" charset="0"/>
                          <a:ea typeface="Calibri" pitchFamily="34" charset="-122"/>
                          <a:cs typeface="Calibri" pitchFamily="34" charset="-120"/>
                        </a:rPr>
                        <a:t>✔  Cloud storage versioning</a:t>
                      </a:r>
                      <a:endParaRPr lang="en-US" sz="1250" dirty="0">
                        <a:latin typeface="Calibri" charset="0"/>
                        <a:ea typeface="Calibri" charset="0"/>
                        <a:cs typeface="Calibri" charset="0"/>
                      </a:endParaRPr>
                    </a:p>
                  </a:txBody>
                  <a:tcPr marL="91440" marR="91440" marT="45720" marB="45720" anchor="ctr">
                    <a:lnL w="9525" cap="flat" cmpd="sng" algn="ctr">
                      <a:solidFill>
                        <a:srgbClr val="E2ECF1"/>
                      </a:solidFill>
                      <a:prstDash val="solid"/>
                      <a:round/>
                      <a:headEnd type="none" w="med" len="med"/>
                      <a:tailEnd type="none" w="med" len="med"/>
                    </a:lnL>
                    <a:lnR w="9525" cap="flat" cmpd="sng" algn="ctr">
                      <a:solidFill>
                        <a:srgbClr val="E2ECF1"/>
                      </a:solidFill>
                      <a:prstDash val="solid"/>
                      <a:round/>
                      <a:headEnd type="none" w="med" len="med"/>
                      <a:tailEnd type="none" w="med" len="med"/>
                    </a:lnR>
                    <a:lnT w="9525" cap="flat" cmpd="sng" algn="ctr">
                      <a:solidFill>
                        <a:srgbClr val="E2ECF1"/>
                      </a:solidFill>
                      <a:prstDash val="solid"/>
                      <a:round/>
                      <a:headEnd type="none" w="med" len="med"/>
                      <a:tailEnd type="none" w="med" len="med"/>
                    </a:lnT>
                    <a:lnB w="9525" cap="flat" cmpd="sng" algn="ctr">
                      <a:solidFill>
                        <a:srgbClr val="E2ECF1"/>
                      </a:solidFill>
                      <a:prstDash val="solid"/>
                      <a:round/>
                      <a:headEnd type="none" w="med" len="med"/>
                      <a:tailEnd type="none" w="med" len="med"/>
                    </a:lnB>
                  </a:tcPr>
                </a:tc>
              </a:tr>
            </a:tbl>
          </a:graphicData>
        </a:graphic>
      </p:graphicFrame>
      <p:sp>
        <p:nvSpPr>
          <p:cNvPr id="7" name="Text 3"/>
          <p:cNvSpPr/>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
        <p:nvSpPr>
          <p:cNvPr id="8" name="Text 4"/>
          <p:cNvSpPr/>
          <p:nvPr/>
        </p:nvSpPr>
        <p:spPr>
          <a:xfrm>
            <a:off x="502920" y="6446520"/>
            <a:ext cx="3657600" cy="274320"/>
          </a:xfrm>
          <a:prstGeom prst="rect">
            <a:avLst/>
          </a:prstGeom>
          <a:noFill/>
          <a:ln/>
        </p:spPr>
        <p:txBody>
          <a:bodyPr wrap="square" lIns="0" tIns="0" rIns="0" bIns="0" rtlCol="0" anchor="ctr"/>
          <a:lstStyle/>
          <a:p>
            <a:pPr indent="0" marL="0">
              <a:buNone/>
            </a:pPr>
            <a:r>
              <a:rPr lang="en-US" sz="900" b="1" spc="150" kern="0" dirty="0">
                <a:solidFill>
                  <a:srgbClr val="64748B"/>
                </a:solidFill>
                <a:latin typeface="Calibri" pitchFamily="34" charset="0"/>
                <a:ea typeface="Calibri" pitchFamily="34" charset="-122"/>
                <a:cs typeface="Calibri" pitchFamily="34" charset="-120"/>
              </a:rPr>
              <a:t>TERRAFORM BACKENDS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65A82"/>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384048"/>
            <a:ext cx="73152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9.2 CONFIGURING BACKENDS</a:t>
            </a:r>
            <a:endParaRPr lang="en-US" sz="1200" dirty="0"/>
          </a:p>
        </p:txBody>
      </p:sp>
      <p:sp>
        <p:nvSpPr>
          <p:cNvPr id="5" name="Text 2"/>
          <p:cNvSpPr/>
          <p:nvPr/>
        </p:nvSpPr>
        <p:spPr>
          <a:xfrm>
            <a:off x="1234440" y="621792"/>
            <a:ext cx="9601200" cy="50292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Local Backend (Default)</a:t>
            </a:r>
            <a:endParaRPr lang="en-US" sz="2800" dirty="0"/>
          </a:p>
        </p:txBody>
      </p:sp>
      <p:sp>
        <p:nvSpPr>
          <p:cNvPr id="6" name="Shape 3"/>
          <p:cNvSpPr/>
          <p:nvPr/>
        </p:nvSpPr>
        <p:spPr>
          <a:xfrm>
            <a:off x="502920" y="1463040"/>
            <a:ext cx="5029200" cy="3200400"/>
          </a:xfrm>
          <a:prstGeom prst="roundRect">
            <a:avLst>
              <a:gd name="adj" fmla="val 2857"/>
            </a:avLst>
          </a:prstGeom>
          <a:solidFill>
            <a:srgbClr val="EFF6F9"/>
          </a:solidFill>
          <a:ln/>
          <a:effectLst>
            <a:outerShdw sx="100000" sy="100000" kx="0" ky="0" algn="bl" rotWithShape="0" blurRad="101600" dist="38100" dir="2700000">
              <a:srgbClr val="000000">
                <a:alpha val="10000"/>
              </a:srgbClr>
            </a:outerShdw>
          </a:effectLst>
        </p:spPr>
      </p:sp>
      <p:sp>
        <p:nvSpPr>
          <p:cNvPr id="7" name="Text 4"/>
          <p:cNvSpPr/>
          <p:nvPr/>
        </p:nvSpPr>
        <p:spPr>
          <a:xfrm>
            <a:off x="777240" y="1627632"/>
            <a:ext cx="4480560" cy="5486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If no backend is configured, Terraform stores state in the project directory:</a:t>
            </a:r>
            <a:endParaRPr lang="en-US" sz="1300" dirty="0"/>
          </a:p>
        </p:txBody>
      </p:sp>
      <p:sp>
        <p:nvSpPr>
          <p:cNvPr id="8" name="Shape 5"/>
          <p:cNvSpPr/>
          <p:nvPr/>
        </p:nvSpPr>
        <p:spPr>
          <a:xfrm>
            <a:off x="777240" y="2240280"/>
            <a:ext cx="4480560" cy="2194560"/>
          </a:xfrm>
          <a:prstGeom prst="roundRect">
            <a:avLst>
              <a:gd name="adj" fmla="val 3333"/>
            </a:avLst>
          </a:prstGeom>
          <a:solidFill>
            <a:srgbClr val="10233A"/>
          </a:solidFill>
          <a:ln/>
          <a:effectLst>
            <a:outerShdw sx="100000" sy="100000" kx="0" ky="0" algn="bl" rotWithShape="0" blurRad="101600" dist="38100" dir="5400000">
              <a:srgbClr val="000000">
                <a:alpha val="18000"/>
              </a:srgbClr>
            </a:outerShdw>
          </a:effectLst>
        </p:spPr>
      </p:sp>
      <p:sp>
        <p:nvSpPr>
          <p:cNvPr id="9" name="Text 6"/>
          <p:cNvSpPr/>
          <p:nvPr/>
        </p:nvSpPr>
        <p:spPr>
          <a:xfrm>
            <a:off x="1005840" y="2404872"/>
            <a:ext cx="4023360" cy="1865376"/>
          </a:xfrm>
          <a:prstGeom prst="rect">
            <a:avLst/>
          </a:prstGeom>
          <a:noFill/>
          <a:ln/>
        </p:spPr>
        <p:txBody>
          <a:bodyPr wrap="square" lIns="0" tIns="0" rIns="0" bIns="0" rtlCol="0" anchor="t"/>
          <a:lstStyle/>
          <a:p>
            <a:pPr indent="0" marL="0">
              <a:lnSpc>
                <a:spcPct val="115000"/>
              </a:lnSpc>
              <a:buNone/>
            </a:pPr>
            <a:r>
              <a:rPr lang="en-US" sz="1500" dirty="0">
                <a:solidFill>
                  <a:srgbClr val="D9E8EE"/>
                </a:solidFill>
                <a:latin typeface="Courier New" pitchFamily="34" charset="0"/>
                <a:ea typeface="Courier New" pitchFamily="34" charset="-122"/>
                <a:cs typeface="Courier New" pitchFamily="34" charset="-120"/>
              </a:rPr>
              <a:t>terraform/</a:t>
            </a:r>
            <a:endParaRPr lang="en-US" sz="1500" dirty="0"/>
          </a:p>
          <a:p>
            <a:pPr indent="0" marL="0">
              <a:lnSpc>
                <a:spcPct val="115000"/>
              </a:lnSpc>
              <a:buNone/>
            </a:pPr>
            <a:r>
              <a:rPr lang="en-US" sz="1500" dirty="0">
                <a:solidFill>
                  <a:srgbClr val="D9E8EE"/>
                </a:solidFill>
                <a:latin typeface="Courier New" pitchFamily="34" charset="0"/>
                <a:ea typeface="Courier New" pitchFamily="34" charset="-122"/>
                <a:cs typeface="Courier New" pitchFamily="34" charset="-120"/>
              </a:rPr>
              <a:t>├── main.tf</a:t>
            </a:r>
            <a:endParaRPr lang="en-US" sz="1500" dirty="0"/>
          </a:p>
          <a:p>
            <a:pPr indent="0" marL="0">
              <a:lnSpc>
                <a:spcPct val="115000"/>
              </a:lnSpc>
              <a:buNone/>
            </a:pPr>
            <a:r>
              <a:rPr lang="en-US" sz="1500" dirty="0">
                <a:solidFill>
                  <a:srgbClr val="D9E8EE"/>
                </a:solidFill>
                <a:latin typeface="Courier New" pitchFamily="34" charset="0"/>
                <a:ea typeface="Courier New" pitchFamily="34" charset="-122"/>
                <a:cs typeface="Courier New" pitchFamily="34" charset="-120"/>
              </a:rPr>
              <a:t>└── terraform.tfstate</a:t>
            </a:r>
            <a:endParaRPr lang="en-US" sz="1500" dirty="0"/>
          </a:p>
        </p:txBody>
      </p:sp>
      <p:sp>
        <p:nvSpPr>
          <p:cNvPr id="10" name="Text 7"/>
          <p:cNvSpPr/>
          <p:nvPr/>
        </p:nvSpPr>
        <p:spPr>
          <a:xfrm>
            <a:off x="5852160" y="1463040"/>
            <a:ext cx="5760720" cy="365760"/>
          </a:xfrm>
          <a:prstGeom prst="rect">
            <a:avLst/>
          </a:prstGeom>
          <a:noFill/>
          <a:ln/>
        </p:spPr>
        <p:txBody>
          <a:bodyPr wrap="square" lIns="0" tIns="0" rIns="0" bIns="0" rtlCol="0" anchor="ctr"/>
          <a:lstStyle/>
          <a:p>
            <a:pPr indent="0" marL="0">
              <a:buNone/>
            </a:pPr>
            <a:r>
              <a:rPr lang="en-US" sz="1700" b="1" dirty="0">
                <a:solidFill>
                  <a:srgbClr val="1E293B"/>
                </a:solidFill>
                <a:latin typeface="Cambria" pitchFamily="34" charset="0"/>
                <a:ea typeface="Cambria" pitchFamily="34" charset="-122"/>
                <a:cs typeface="Cambria" pitchFamily="34" charset="-120"/>
              </a:rPr>
              <a:t>Problems with the Local Backend</a:t>
            </a:r>
            <a:endParaRPr lang="en-US" sz="1700" dirty="0"/>
          </a:p>
        </p:txBody>
      </p:sp>
      <p:sp>
        <p:nvSpPr>
          <p:cNvPr id="11" name="Shape 8"/>
          <p:cNvSpPr/>
          <p:nvPr/>
        </p:nvSpPr>
        <p:spPr>
          <a:xfrm>
            <a:off x="5852160" y="2057400"/>
            <a:ext cx="5760720" cy="777240"/>
          </a:xfrm>
          <a:prstGeom prst="roundRect">
            <a:avLst>
              <a:gd name="adj" fmla="val 9412"/>
            </a:avLst>
          </a:prstGeom>
          <a:solidFill>
            <a:srgbClr val="EFF6F9"/>
          </a:solidFill>
          <a:ln/>
        </p:spPr>
      </p:sp>
      <p:sp>
        <p:nvSpPr>
          <p:cNvPr id="12" name="Shape 9"/>
          <p:cNvSpPr/>
          <p:nvPr/>
        </p:nvSpPr>
        <p:spPr>
          <a:xfrm>
            <a:off x="6016752" y="2194560"/>
            <a:ext cx="457200" cy="457200"/>
          </a:xfrm>
          <a:prstGeom prst="ellipse">
            <a:avLst/>
          </a:prstGeom>
          <a:solidFill>
            <a:srgbClr val="C04A3D"/>
          </a:solidFill>
          <a:ln/>
        </p:spPr>
      </p:sp>
      <p:pic>
        <p:nvPicPr>
          <p:cNvPr id="13" name="Image 1" descr="preencoded.png">    </p:cNvPr>
          <p:cNvPicPr>
            <a:picLocks noChangeAspect="1"/>
          </p:cNvPicPr>
          <p:nvPr/>
        </p:nvPicPr>
        <p:blipFill>
          <a:blip r:embed="rId2"/>
          <a:stretch>
            <a:fillRect/>
          </a:stretch>
        </p:blipFill>
        <p:spPr>
          <a:xfrm>
            <a:off x="6117336" y="2295144"/>
            <a:ext cx="256032" cy="256032"/>
          </a:xfrm>
          <a:prstGeom prst="rect">
            <a:avLst/>
          </a:prstGeom>
        </p:spPr>
      </p:pic>
      <p:sp>
        <p:nvSpPr>
          <p:cNvPr id="14" name="Text 10"/>
          <p:cNvSpPr/>
          <p:nvPr/>
        </p:nvSpPr>
        <p:spPr>
          <a:xfrm>
            <a:off x="6675120" y="2057400"/>
            <a:ext cx="4800600" cy="77724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Difficult to collaborate with multiple team members</a:t>
            </a:r>
            <a:endParaRPr lang="en-US" sz="1350" dirty="0"/>
          </a:p>
        </p:txBody>
      </p:sp>
      <p:sp>
        <p:nvSpPr>
          <p:cNvPr id="15" name="Shape 11"/>
          <p:cNvSpPr/>
          <p:nvPr/>
        </p:nvSpPr>
        <p:spPr>
          <a:xfrm>
            <a:off x="5852160" y="2990088"/>
            <a:ext cx="5760720" cy="777240"/>
          </a:xfrm>
          <a:prstGeom prst="roundRect">
            <a:avLst>
              <a:gd name="adj" fmla="val 9412"/>
            </a:avLst>
          </a:prstGeom>
          <a:solidFill>
            <a:srgbClr val="EFF6F9"/>
          </a:solidFill>
          <a:ln/>
        </p:spPr>
      </p:sp>
      <p:sp>
        <p:nvSpPr>
          <p:cNvPr id="16" name="Shape 12"/>
          <p:cNvSpPr/>
          <p:nvPr/>
        </p:nvSpPr>
        <p:spPr>
          <a:xfrm>
            <a:off x="6016752" y="3127248"/>
            <a:ext cx="457200" cy="457200"/>
          </a:xfrm>
          <a:prstGeom prst="ellipse">
            <a:avLst/>
          </a:prstGeom>
          <a:solidFill>
            <a:srgbClr val="C04A3D"/>
          </a:solidFill>
          <a:ln/>
        </p:spPr>
      </p:sp>
      <p:pic>
        <p:nvPicPr>
          <p:cNvPr id="17" name="Image 2" descr="preencoded.png">    </p:cNvPr>
          <p:cNvPicPr>
            <a:picLocks noChangeAspect="1"/>
          </p:cNvPicPr>
          <p:nvPr/>
        </p:nvPicPr>
        <p:blipFill>
          <a:blip r:embed="rId3"/>
          <a:stretch>
            <a:fillRect/>
          </a:stretch>
        </p:blipFill>
        <p:spPr>
          <a:xfrm>
            <a:off x="6117336" y="3227832"/>
            <a:ext cx="256032" cy="256032"/>
          </a:xfrm>
          <a:prstGeom prst="rect">
            <a:avLst/>
          </a:prstGeom>
        </p:spPr>
      </p:pic>
      <p:sp>
        <p:nvSpPr>
          <p:cNvPr id="18" name="Text 13"/>
          <p:cNvSpPr/>
          <p:nvPr/>
        </p:nvSpPr>
        <p:spPr>
          <a:xfrm>
            <a:off x="6675120" y="2990088"/>
            <a:ext cx="4800600" cy="77724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No state locking — risk of corrupting state</a:t>
            </a:r>
            <a:endParaRPr lang="en-US" sz="1350" dirty="0"/>
          </a:p>
        </p:txBody>
      </p:sp>
      <p:sp>
        <p:nvSpPr>
          <p:cNvPr id="19" name="Shape 14"/>
          <p:cNvSpPr/>
          <p:nvPr/>
        </p:nvSpPr>
        <p:spPr>
          <a:xfrm>
            <a:off x="5852160" y="3922776"/>
            <a:ext cx="5760720" cy="777240"/>
          </a:xfrm>
          <a:prstGeom prst="roundRect">
            <a:avLst>
              <a:gd name="adj" fmla="val 9412"/>
            </a:avLst>
          </a:prstGeom>
          <a:solidFill>
            <a:srgbClr val="EFF6F9"/>
          </a:solidFill>
          <a:ln/>
        </p:spPr>
      </p:sp>
      <p:sp>
        <p:nvSpPr>
          <p:cNvPr id="20" name="Shape 15"/>
          <p:cNvSpPr/>
          <p:nvPr/>
        </p:nvSpPr>
        <p:spPr>
          <a:xfrm>
            <a:off x="6016752" y="4059936"/>
            <a:ext cx="457200" cy="457200"/>
          </a:xfrm>
          <a:prstGeom prst="ellipse">
            <a:avLst/>
          </a:prstGeom>
          <a:solidFill>
            <a:srgbClr val="C04A3D"/>
          </a:solidFill>
          <a:ln/>
        </p:spPr>
      </p:sp>
      <p:pic>
        <p:nvPicPr>
          <p:cNvPr id="21" name="Image 3" descr="preencoded.png">    </p:cNvPr>
          <p:cNvPicPr>
            <a:picLocks noChangeAspect="1"/>
          </p:cNvPicPr>
          <p:nvPr/>
        </p:nvPicPr>
        <p:blipFill>
          <a:blip r:embed="rId4"/>
          <a:stretch>
            <a:fillRect/>
          </a:stretch>
        </p:blipFill>
        <p:spPr>
          <a:xfrm>
            <a:off x="6117336" y="4160520"/>
            <a:ext cx="256032" cy="256032"/>
          </a:xfrm>
          <a:prstGeom prst="rect">
            <a:avLst/>
          </a:prstGeom>
        </p:spPr>
      </p:pic>
      <p:sp>
        <p:nvSpPr>
          <p:cNvPr id="22" name="Text 16"/>
          <p:cNvSpPr/>
          <p:nvPr/>
        </p:nvSpPr>
        <p:spPr>
          <a:xfrm>
            <a:off x="6675120" y="3922776"/>
            <a:ext cx="4800600" cy="77724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If the local machine crashes, state is lost</a:t>
            </a:r>
            <a:endParaRPr lang="en-US" sz="1350" dirty="0"/>
          </a:p>
        </p:txBody>
      </p:sp>
      <p:sp>
        <p:nvSpPr>
          <p:cNvPr id="23" name="Text 17"/>
          <p:cNvSpPr/>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
        <p:nvSpPr>
          <p:cNvPr id="24" name="Text 18"/>
          <p:cNvSpPr/>
          <p:nvPr/>
        </p:nvSpPr>
        <p:spPr>
          <a:xfrm>
            <a:off x="502920" y="6446520"/>
            <a:ext cx="3657600" cy="274320"/>
          </a:xfrm>
          <a:prstGeom prst="rect">
            <a:avLst/>
          </a:prstGeom>
          <a:noFill/>
          <a:ln/>
        </p:spPr>
        <p:txBody>
          <a:bodyPr wrap="square" lIns="0" tIns="0" rIns="0" bIns="0" rtlCol="0" anchor="ctr"/>
          <a:lstStyle/>
          <a:p>
            <a:pPr indent="0" marL="0">
              <a:buNone/>
            </a:pPr>
            <a:r>
              <a:rPr lang="en-US" sz="900" b="1" spc="150" kern="0" dirty="0">
                <a:solidFill>
                  <a:srgbClr val="64748B"/>
                </a:solidFill>
                <a:latin typeface="Calibri" pitchFamily="34" charset="0"/>
                <a:ea typeface="Calibri" pitchFamily="34" charset="-122"/>
                <a:cs typeface="Calibri" pitchFamily="34" charset="-120"/>
              </a:rPr>
              <a:t>TERRAFORM BACKENDS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65A82"/>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384048"/>
            <a:ext cx="73152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9.3 STORING STATE REMOTELY</a:t>
            </a:r>
            <a:endParaRPr lang="en-US" sz="1200" dirty="0"/>
          </a:p>
        </p:txBody>
      </p:sp>
      <p:sp>
        <p:nvSpPr>
          <p:cNvPr id="5" name="Text 2"/>
          <p:cNvSpPr/>
          <p:nvPr/>
        </p:nvSpPr>
        <p:spPr>
          <a:xfrm>
            <a:off x="1234440" y="621792"/>
            <a:ext cx="9601200" cy="50292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Remote Backend: AWS S3</a:t>
            </a:r>
            <a:endParaRPr lang="en-US" sz="2800" dirty="0"/>
          </a:p>
        </p:txBody>
      </p:sp>
      <p:sp>
        <p:nvSpPr>
          <p:cNvPr id="6" name="Shape 3"/>
          <p:cNvSpPr/>
          <p:nvPr/>
        </p:nvSpPr>
        <p:spPr>
          <a:xfrm>
            <a:off x="502920" y="1463040"/>
            <a:ext cx="457200" cy="457200"/>
          </a:xfrm>
          <a:prstGeom prst="ellipse">
            <a:avLst/>
          </a:prstGeom>
          <a:solidFill>
            <a:srgbClr val="F2A65A"/>
          </a:solidFill>
          <a:ln/>
        </p:spPr>
      </p:sp>
      <p:sp>
        <p:nvSpPr>
          <p:cNvPr id="7" name="Text 4"/>
          <p:cNvSpPr/>
          <p:nvPr/>
        </p:nvSpPr>
        <p:spPr>
          <a:xfrm>
            <a:off x="502920" y="1463040"/>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mbria" pitchFamily="34" charset="0"/>
                <a:ea typeface="Cambria" pitchFamily="34" charset="-122"/>
                <a:cs typeface="Cambria" pitchFamily="34" charset="-120"/>
              </a:rPr>
              <a:t>1</a:t>
            </a:r>
            <a:endParaRPr lang="en-US" sz="1800" dirty="0"/>
          </a:p>
        </p:txBody>
      </p:sp>
      <p:sp>
        <p:nvSpPr>
          <p:cNvPr id="8" name="Text 5"/>
          <p:cNvSpPr/>
          <p:nvPr/>
        </p:nvSpPr>
        <p:spPr>
          <a:xfrm>
            <a:off x="1143000" y="1417320"/>
            <a:ext cx="4206240" cy="548640"/>
          </a:xfrm>
          <a:prstGeom prst="rect">
            <a:avLst/>
          </a:prstGeom>
          <a:noFill/>
          <a:ln/>
        </p:spPr>
        <p:txBody>
          <a:bodyPr wrap="square" lIns="0" tIns="0" rIns="0" bIns="0" rtlCol="0" anchor="ctr"/>
          <a:lstStyle/>
          <a:p>
            <a:pPr indent="0" marL="0">
              <a:buNone/>
            </a:pPr>
            <a:r>
              <a:rPr lang="en-US" sz="1500" b="1" dirty="0">
                <a:solidFill>
                  <a:srgbClr val="1E293B"/>
                </a:solidFill>
                <a:latin typeface="Cambria" pitchFamily="34" charset="0"/>
                <a:ea typeface="Cambria" pitchFamily="34" charset="-122"/>
                <a:cs typeface="Cambria" pitchFamily="34" charset="-120"/>
              </a:rPr>
              <a:t>Create the S3 bucket</a:t>
            </a:r>
            <a:endParaRPr lang="en-US" sz="1500" dirty="0"/>
          </a:p>
        </p:txBody>
      </p:sp>
      <p:sp>
        <p:nvSpPr>
          <p:cNvPr id="9" name="Shape 6"/>
          <p:cNvSpPr/>
          <p:nvPr/>
        </p:nvSpPr>
        <p:spPr>
          <a:xfrm>
            <a:off x="1143000" y="1984248"/>
            <a:ext cx="5074920" cy="1005840"/>
          </a:xfrm>
          <a:prstGeom prst="roundRect">
            <a:avLst>
              <a:gd name="adj" fmla="val 7273"/>
            </a:avLst>
          </a:prstGeom>
          <a:solidFill>
            <a:srgbClr val="10233A"/>
          </a:solidFill>
          <a:ln/>
          <a:effectLst>
            <a:outerShdw sx="100000" sy="100000" kx="0" ky="0" algn="bl" rotWithShape="0" blurRad="101600" dist="38100" dir="5400000">
              <a:srgbClr val="000000">
                <a:alpha val="18000"/>
              </a:srgbClr>
            </a:outerShdw>
          </a:effectLst>
        </p:spPr>
      </p:sp>
      <p:sp>
        <p:nvSpPr>
          <p:cNvPr id="10" name="Text 7"/>
          <p:cNvSpPr/>
          <p:nvPr/>
        </p:nvSpPr>
        <p:spPr>
          <a:xfrm>
            <a:off x="1371600" y="2148840"/>
            <a:ext cx="4617720" cy="676656"/>
          </a:xfrm>
          <a:prstGeom prst="rect">
            <a:avLst/>
          </a:prstGeom>
          <a:noFill/>
          <a:ln/>
        </p:spPr>
        <p:txBody>
          <a:bodyPr wrap="square" lIns="0" tIns="0" rIns="0" bIns="0" rtlCol="0" anchor="t"/>
          <a:lstStyle/>
          <a:p>
            <a:pPr indent="0" marL="0">
              <a:lnSpc>
                <a:spcPct val="115000"/>
              </a:lnSpc>
              <a:buNone/>
            </a:pPr>
            <a:r>
              <a:rPr lang="en-US" sz="1150" b="1" dirty="0">
                <a:solidFill>
                  <a:srgbClr val="7FD8C4"/>
                </a:solidFill>
                <a:latin typeface="Courier New" pitchFamily="34" charset="0"/>
                <a:ea typeface="Courier New" pitchFamily="34" charset="-122"/>
                <a:cs typeface="Courier New" pitchFamily="34" charset="-120"/>
              </a:rPr>
              <a:t>$ aws s3api create-bucket \</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    --bucket my-terraform-state-bucket \</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    --region us-east-1</a:t>
            </a:r>
            <a:endParaRPr lang="en-US" sz="1150" dirty="0"/>
          </a:p>
        </p:txBody>
      </p:sp>
      <p:sp>
        <p:nvSpPr>
          <p:cNvPr id="11" name="Shape 8"/>
          <p:cNvSpPr/>
          <p:nvPr/>
        </p:nvSpPr>
        <p:spPr>
          <a:xfrm>
            <a:off x="502920" y="3200400"/>
            <a:ext cx="457200" cy="457200"/>
          </a:xfrm>
          <a:prstGeom prst="ellipse">
            <a:avLst/>
          </a:prstGeom>
          <a:solidFill>
            <a:srgbClr val="F2A65A"/>
          </a:solidFill>
          <a:ln/>
        </p:spPr>
      </p:sp>
      <p:sp>
        <p:nvSpPr>
          <p:cNvPr id="12" name="Text 9"/>
          <p:cNvSpPr/>
          <p:nvPr/>
        </p:nvSpPr>
        <p:spPr>
          <a:xfrm>
            <a:off x="502920" y="3200400"/>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mbria" pitchFamily="34" charset="0"/>
                <a:ea typeface="Cambria" pitchFamily="34" charset="-122"/>
                <a:cs typeface="Cambria" pitchFamily="34" charset="-120"/>
              </a:rPr>
              <a:t>2</a:t>
            </a:r>
            <a:endParaRPr lang="en-US" sz="1800" dirty="0"/>
          </a:p>
        </p:txBody>
      </p:sp>
      <p:sp>
        <p:nvSpPr>
          <p:cNvPr id="13" name="Text 10"/>
          <p:cNvSpPr/>
          <p:nvPr/>
        </p:nvSpPr>
        <p:spPr>
          <a:xfrm>
            <a:off x="1143000" y="3154680"/>
            <a:ext cx="4206240" cy="548640"/>
          </a:xfrm>
          <a:prstGeom prst="rect">
            <a:avLst/>
          </a:prstGeom>
          <a:noFill/>
          <a:ln/>
        </p:spPr>
        <p:txBody>
          <a:bodyPr wrap="square" lIns="0" tIns="0" rIns="0" bIns="0" rtlCol="0" anchor="ctr"/>
          <a:lstStyle/>
          <a:p>
            <a:pPr indent="0" marL="0">
              <a:buNone/>
            </a:pPr>
            <a:r>
              <a:rPr lang="en-US" sz="1500" b="1" dirty="0">
                <a:solidFill>
                  <a:srgbClr val="1E293B"/>
                </a:solidFill>
                <a:latin typeface="Cambria" pitchFamily="34" charset="0"/>
                <a:ea typeface="Cambria" pitchFamily="34" charset="-122"/>
                <a:cs typeface="Cambria" pitchFamily="34" charset="-120"/>
              </a:rPr>
              <a:t>Enable bucket versioning</a:t>
            </a:r>
            <a:endParaRPr lang="en-US" sz="1500" dirty="0"/>
          </a:p>
        </p:txBody>
      </p:sp>
      <p:sp>
        <p:nvSpPr>
          <p:cNvPr id="14" name="Shape 11"/>
          <p:cNvSpPr/>
          <p:nvPr/>
        </p:nvSpPr>
        <p:spPr>
          <a:xfrm>
            <a:off x="1143000" y="3721608"/>
            <a:ext cx="5074920" cy="1005840"/>
          </a:xfrm>
          <a:prstGeom prst="roundRect">
            <a:avLst>
              <a:gd name="adj" fmla="val 7273"/>
            </a:avLst>
          </a:prstGeom>
          <a:solidFill>
            <a:srgbClr val="10233A"/>
          </a:solidFill>
          <a:ln/>
          <a:effectLst>
            <a:outerShdw sx="100000" sy="100000" kx="0" ky="0" algn="bl" rotWithShape="0" blurRad="101600" dist="38100" dir="5400000">
              <a:srgbClr val="000000">
                <a:alpha val="18000"/>
              </a:srgbClr>
            </a:outerShdw>
          </a:effectLst>
        </p:spPr>
      </p:sp>
      <p:sp>
        <p:nvSpPr>
          <p:cNvPr id="15" name="Text 12"/>
          <p:cNvSpPr/>
          <p:nvPr/>
        </p:nvSpPr>
        <p:spPr>
          <a:xfrm>
            <a:off x="1371600" y="3886200"/>
            <a:ext cx="4617720" cy="676656"/>
          </a:xfrm>
          <a:prstGeom prst="rect">
            <a:avLst/>
          </a:prstGeom>
          <a:noFill/>
          <a:ln/>
        </p:spPr>
        <p:txBody>
          <a:bodyPr wrap="square" lIns="0" tIns="0" rIns="0" bIns="0" rtlCol="0" anchor="t"/>
          <a:lstStyle/>
          <a:p>
            <a:pPr indent="0" marL="0">
              <a:lnSpc>
                <a:spcPct val="115000"/>
              </a:lnSpc>
              <a:buNone/>
            </a:pPr>
            <a:r>
              <a:rPr lang="en-US" sz="1150" b="1" dirty="0">
                <a:solidFill>
                  <a:srgbClr val="7FD8C4"/>
                </a:solidFill>
                <a:latin typeface="Courier New" pitchFamily="34" charset="0"/>
                <a:ea typeface="Courier New" pitchFamily="34" charset="-122"/>
                <a:cs typeface="Courier New" pitchFamily="34" charset="-120"/>
              </a:rPr>
              <a:t>$ aws s3api put-bucket-versioning \</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    --bucket my-terraform-state-bucket \</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    --versioning-configuration Status=Enabled</a:t>
            </a:r>
            <a:endParaRPr lang="en-US" sz="1150" dirty="0"/>
          </a:p>
        </p:txBody>
      </p:sp>
      <p:sp>
        <p:nvSpPr>
          <p:cNvPr id="16" name="Text 13"/>
          <p:cNvSpPr/>
          <p:nvPr/>
        </p:nvSpPr>
        <p:spPr>
          <a:xfrm>
            <a:off x="6537960" y="1417320"/>
            <a:ext cx="5120640" cy="365760"/>
          </a:xfrm>
          <a:prstGeom prst="rect">
            <a:avLst/>
          </a:prstGeom>
          <a:noFill/>
          <a:ln/>
        </p:spPr>
        <p:txBody>
          <a:bodyPr wrap="square" lIns="0" tIns="0" rIns="0" bIns="0" rtlCol="0" anchor="ctr"/>
          <a:lstStyle/>
          <a:p>
            <a:pPr indent="0" marL="0">
              <a:buNone/>
            </a:pPr>
            <a:r>
              <a:rPr lang="en-US" sz="1500" b="1" dirty="0">
                <a:solidFill>
                  <a:srgbClr val="1E293B"/>
                </a:solidFill>
                <a:latin typeface="Cambria" pitchFamily="34" charset="0"/>
                <a:ea typeface="Cambria" pitchFamily="34" charset="-122"/>
                <a:cs typeface="Cambria" pitchFamily="34" charset="-120"/>
              </a:rPr>
              <a:t>Step 3 · Configure backend.tf</a:t>
            </a:r>
            <a:endParaRPr lang="en-US" sz="1500" dirty="0"/>
          </a:p>
        </p:txBody>
      </p:sp>
      <p:sp>
        <p:nvSpPr>
          <p:cNvPr id="17" name="Shape 14"/>
          <p:cNvSpPr/>
          <p:nvPr/>
        </p:nvSpPr>
        <p:spPr>
          <a:xfrm>
            <a:off x="6537960" y="1828800"/>
            <a:ext cx="5120640" cy="2331720"/>
          </a:xfrm>
          <a:prstGeom prst="roundRect">
            <a:avLst>
              <a:gd name="adj" fmla="val 3137"/>
            </a:avLst>
          </a:prstGeom>
          <a:solidFill>
            <a:srgbClr val="10233A"/>
          </a:solidFill>
          <a:ln/>
          <a:effectLst>
            <a:outerShdw sx="100000" sy="100000" kx="0" ky="0" algn="bl" rotWithShape="0" blurRad="101600" dist="38100" dir="5400000">
              <a:srgbClr val="000000">
                <a:alpha val="18000"/>
              </a:srgbClr>
            </a:outerShdw>
          </a:effectLst>
        </p:spPr>
      </p:sp>
      <p:sp>
        <p:nvSpPr>
          <p:cNvPr id="18" name="Text 15"/>
          <p:cNvSpPr/>
          <p:nvPr/>
        </p:nvSpPr>
        <p:spPr>
          <a:xfrm>
            <a:off x="6766560" y="1993392"/>
            <a:ext cx="4663440" cy="2002536"/>
          </a:xfrm>
          <a:prstGeom prst="rect">
            <a:avLst/>
          </a:prstGeom>
          <a:noFill/>
          <a:ln/>
        </p:spPr>
        <p:txBody>
          <a:bodyPr wrap="square" lIns="0" tIns="0" rIns="0" bIns="0" rtlCol="0" anchor="t"/>
          <a:lstStyle/>
          <a:p>
            <a:pPr indent="0" marL="0">
              <a:lnSpc>
                <a:spcPct val="115000"/>
              </a:lnSpc>
              <a:buNone/>
            </a:pPr>
            <a:r>
              <a:rPr lang="en-US" sz="1250" dirty="0">
                <a:solidFill>
                  <a:srgbClr val="D9E8EE"/>
                </a:solidFill>
                <a:latin typeface="Courier New" pitchFamily="34" charset="0"/>
                <a:ea typeface="Courier New" pitchFamily="34" charset="-122"/>
                <a:cs typeface="Courier New" pitchFamily="34" charset="-120"/>
              </a:rPr>
              <a:t>terraform {</a:t>
            </a:r>
            <a:endParaRPr lang="en-US" sz="1250" dirty="0"/>
          </a:p>
          <a:p>
            <a:pPr indent="0" marL="0">
              <a:lnSpc>
                <a:spcPct val="115000"/>
              </a:lnSpc>
              <a:buNone/>
            </a:pPr>
            <a:r>
              <a:rPr lang="en-US" sz="1250" dirty="0">
                <a:solidFill>
                  <a:srgbClr val="D9E8EE"/>
                </a:solidFill>
                <a:latin typeface="Courier New" pitchFamily="34" charset="0"/>
                <a:ea typeface="Courier New" pitchFamily="34" charset="-122"/>
                <a:cs typeface="Courier New" pitchFamily="34" charset="-120"/>
              </a:rPr>
              <a:t>  backend "s3" {</a:t>
            </a:r>
            <a:endParaRPr lang="en-US" sz="1250" dirty="0"/>
          </a:p>
          <a:p>
            <a:pPr indent="0" marL="0">
              <a:lnSpc>
                <a:spcPct val="115000"/>
              </a:lnSpc>
              <a:buNone/>
            </a:pPr>
            <a:r>
              <a:rPr lang="en-US" sz="1250" dirty="0">
                <a:solidFill>
                  <a:srgbClr val="D9E8EE"/>
                </a:solidFill>
                <a:latin typeface="Courier New" pitchFamily="34" charset="0"/>
                <a:ea typeface="Courier New" pitchFamily="34" charset="-122"/>
                <a:cs typeface="Courier New" pitchFamily="34" charset="-120"/>
              </a:rPr>
              <a:t>    bucket  = "my-terraform-state-bucket"</a:t>
            </a:r>
            <a:endParaRPr lang="en-US" sz="1250" dirty="0"/>
          </a:p>
          <a:p>
            <a:pPr indent="0" marL="0">
              <a:lnSpc>
                <a:spcPct val="115000"/>
              </a:lnSpc>
              <a:buNone/>
            </a:pPr>
            <a:r>
              <a:rPr lang="en-US" sz="1250" dirty="0">
                <a:solidFill>
                  <a:srgbClr val="D9E8EE"/>
                </a:solidFill>
                <a:latin typeface="Courier New" pitchFamily="34" charset="0"/>
                <a:ea typeface="Courier New" pitchFamily="34" charset="-122"/>
                <a:cs typeface="Courier New" pitchFamily="34" charset="-120"/>
              </a:rPr>
              <a:t>    key     = "terraform.tfstate"</a:t>
            </a:r>
            <a:endParaRPr lang="en-US" sz="1250" dirty="0"/>
          </a:p>
          <a:p>
            <a:pPr indent="0" marL="0">
              <a:lnSpc>
                <a:spcPct val="115000"/>
              </a:lnSpc>
              <a:buNone/>
            </a:pPr>
            <a:r>
              <a:rPr lang="en-US" sz="1250" dirty="0">
                <a:solidFill>
                  <a:srgbClr val="D9E8EE"/>
                </a:solidFill>
                <a:latin typeface="Courier New" pitchFamily="34" charset="0"/>
                <a:ea typeface="Courier New" pitchFamily="34" charset="-122"/>
                <a:cs typeface="Courier New" pitchFamily="34" charset="-120"/>
              </a:rPr>
              <a:t>    region  = "us-east-1"</a:t>
            </a:r>
            <a:endParaRPr lang="en-US" sz="1250" dirty="0"/>
          </a:p>
          <a:p>
            <a:pPr indent="0" marL="0">
              <a:lnSpc>
                <a:spcPct val="115000"/>
              </a:lnSpc>
              <a:buNone/>
            </a:pPr>
            <a:r>
              <a:rPr lang="en-US" sz="1250" dirty="0">
                <a:solidFill>
                  <a:srgbClr val="D9E8EE"/>
                </a:solidFill>
                <a:latin typeface="Courier New" pitchFamily="34" charset="0"/>
                <a:ea typeface="Courier New" pitchFamily="34" charset="-122"/>
                <a:cs typeface="Courier New" pitchFamily="34" charset="-120"/>
              </a:rPr>
              <a:t>    encrypt = true</a:t>
            </a:r>
            <a:endParaRPr lang="en-US" sz="1250" dirty="0"/>
          </a:p>
          <a:p>
            <a:pPr indent="0" marL="0">
              <a:lnSpc>
                <a:spcPct val="115000"/>
              </a:lnSpc>
              <a:buNone/>
            </a:pPr>
            <a:r>
              <a:rPr lang="en-US" sz="1250" dirty="0">
                <a:solidFill>
                  <a:srgbClr val="D9E8EE"/>
                </a:solidFill>
                <a:latin typeface="Courier New" pitchFamily="34" charset="0"/>
                <a:ea typeface="Courier New" pitchFamily="34" charset="-122"/>
                <a:cs typeface="Courier New" pitchFamily="34" charset="-120"/>
              </a:rPr>
              <a:t>  }</a:t>
            </a:r>
            <a:endParaRPr lang="en-US" sz="1250" dirty="0"/>
          </a:p>
          <a:p>
            <a:pPr indent="0" marL="0">
              <a:lnSpc>
                <a:spcPct val="115000"/>
              </a:lnSpc>
              <a:buNone/>
            </a:pPr>
            <a:r>
              <a:rPr lang="en-US" sz="1250" dirty="0">
                <a:solidFill>
                  <a:srgbClr val="D9E8EE"/>
                </a:solidFill>
                <a:latin typeface="Courier New" pitchFamily="34" charset="0"/>
                <a:ea typeface="Courier New" pitchFamily="34" charset="-122"/>
                <a:cs typeface="Courier New" pitchFamily="34" charset="-120"/>
              </a:rPr>
              <a:t>}</a:t>
            </a:r>
            <a:endParaRPr lang="en-US" sz="1250" dirty="0"/>
          </a:p>
        </p:txBody>
      </p:sp>
      <p:sp>
        <p:nvSpPr>
          <p:cNvPr id="19" name="Shape 16"/>
          <p:cNvSpPr/>
          <p:nvPr/>
        </p:nvSpPr>
        <p:spPr>
          <a:xfrm>
            <a:off x="6537960" y="4343400"/>
            <a:ext cx="5120640" cy="594360"/>
          </a:xfrm>
          <a:prstGeom prst="roundRect">
            <a:avLst>
              <a:gd name="adj" fmla="val 12308"/>
            </a:avLst>
          </a:prstGeom>
          <a:solidFill>
            <a:srgbClr val="EFF6F9"/>
          </a:solidFill>
          <a:ln/>
        </p:spPr>
      </p:sp>
      <p:sp>
        <p:nvSpPr>
          <p:cNvPr id="20" name="Text 17"/>
          <p:cNvSpPr/>
          <p:nvPr/>
        </p:nvSpPr>
        <p:spPr>
          <a:xfrm>
            <a:off x="6766560" y="4343400"/>
            <a:ext cx="4709160" cy="594360"/>
          </a:xfrm>
          <a:prstGeom prst="rect">
            <a:avLst/>
          </a:prstGeom>
          <a:noFill/>
          <a:ln/>
        </p:spPr>
        <p:txBody>
          <a:bodyPr wrap="square" lIns="0" tIns="0" rIns="0" bIns="0"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Running terraform init stores state in S3 from now on.</a:t>
            </a:r>
            <a:endParaRPr lang="en-US" sz="1250" dirty="0"/>
          </a:p>
        </p:txBody>
      </p:sp>
      <p:sp>
        <p:nvSpPr>
          <p:cNvPr id="21" name="Text 18"/>
          <p:cNvSpPr/>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
        <p:nvSpPr>
          <p:cNvPr id="22" name="Text 19"/>
          <p:cNvSpPr/>
          <p:nvPr/>
        </p:nvSpPr>
        <p:spPr>
          <a:xfrm>
            <a:off x="502920" y="6446520"/>
            <a:ext cx="3657600" cy="274320"/>
          </a:xfrm>
          <a:prstGeom prst="rect">
            <a:avLst/>
          </a:prstGeom>
          <a:noFill/>
          <a:ln/>
        </p:spPr>
        <p:txBody>
          <a:bodyPr wrap="square" lIns="0" tIns="0" rIns="0" bIns="0" rtlCol="0" anchor="ctr"/>
          <a:lstStyle/>
          <a:p>
            <a:pPr indent="0" marL="0">
              <a:buNone/>
            </a:pPr>
            <a:r>
              <a:rPr lang="en-US" sz="900" b="1" spc="150" kern="0" dirty="0">
                <a:solidFill>
                  <a:srgbClr val="64748B"/>
                </a:solidFill>
                <a:latin typeface="Calibri" pitchFamily="34" charset="0"/>
                <a:ea typeface="Calibri" pitchFamily="34" charset="-122"/>
                <a:cs typeface="Calibri" pitchFamily="34" charset="-120"/>
              </a:rPr>
              <a:t>TERRAFORM BACKENDS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C7293"/>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384048"/>
            <a:ext cx="73152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9.3 STORING STATE REMOTELY</a:t>
            </a:r>
            <a:endParaRPr lang="en-US" sz="1200" dirty="0"/>
          </a:p>
        </p:txBody>
      </p:sp>
      <p:sp>
        <p:nvSpPr>
          <p:cNvPr id="5" name="Text 2"/>
          <p:cNvSpPr/>
          <p:nvPr/>
        </p:nvSpPr>
        <p:spPr>
          <a:xfrm>
            <a:off x="1234440" y="621792"/>
            <a:ext cx="9601200" cy="50292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Remote Backend: Azure Blob Storage</a:t>
            </a:r>
            <a:endParaRPr lang="en-US" sz="2800" dirty="0"/>
          </a:p>
        </p:txBody>
      </p:sp>
      <p:sp>
        <p:nvSpPr>
          <p:cNvPr id="6" name="Text 3"/>
          <p:cNvSpPr/>
          <p:nvPr/>
        </p:nvSpPr>
        <p:spPr>
          <a:xfrm>
            <a:off x="502920" y="1463040"/>
            <a:ext cx="5486400" cy="365760"/>
          </a:xfrm>
          <a:prstGeom prst="rect">
            <a:avLst/>
          </a:prstGeom>
          <a:noFill/>
          <a:ln/>
        </p:spPr>
        <p:txBody>
          <a:bodyPr wrap="square" lIns="0" tIns="0" rIns="0" bIns="0" rtlCol="0" anchor="ctr"/>
          <a:lstStyle/>
          <a:p>
            <a:pPr indent="0" marL="0">
              <a:buNone/>
            </a:pPr>
            <a:r>
              <a:rPr lang="en-US" sz="1500" b="1" dirty="0">
                <a:solidFill>
                  <a:srgbClr val="1E293B"/>
                </a:solidFill>
                <a:latin typeface="Cambria" pitchFamily="34" charset="0"/>
                <a:ea typeface="Cambria" pitchFamily="34" charset="-122"/>
                <a:cs typeface="Cambria" pitchFamily="34" charset="-120"/>
              </a:rPr>
              <a:t>Step 1 · Create a storage account &amp; container</a:t>
            </a:r>
            <a:endParaRPr lang="en-US" sz="1500" dirty="0"/>
          </a:p>
        </p:txBody>
      </p:sp>
      <p:sp>
        <p:nvSpPr>
          <p:cNvPr id="7" name="Shape 4"/>
          <p:cNvSpPr/>
          <p:nvPr/>
        </p:nvSpPr>
        <p:spPr>
          <a:xfrm>
            <a:off x="502920" y="1874520"/>
            <a:ext cx="5486400" cy="1554480"/>
          </a:xfrm>
          <a:prstGeom prst="roundRect">
            <a:avLst>
              <a:gd name="adj" fmla="val 4706"/>
            </a:avLst>
          </a:prstGeom>
          <a:solidFill>
            <a:srgbClr val="10233A"/>
          </a:solidFill>
          <a:ln/>
          <a:effectLst>
            <a:outerShdw sx="100000" sy="100000" kx="0" ky="0" algn="bl" rotWithShape="0" blurRad="101600" dist="38100" dir="5400000">
              <a:srgbClr val="000000">
                <a:alpha val="18000"/>
              </a:srgbClr>
            </a:outerShdw>
          </a:effectLst>
        </p:spPr>
      </p:sp>
      <p:sp>
        <p:nvSpPr>
          <p:cNvPr id="8" name="Text 5"/>
          <p:cNvSpPr/>
          <p:nvPr/>
        </p:nvSpPr>
        <p:spPr>
          <a:xfrm>
            <a:off x="731520" y="2039112"/>
            <a:ext cx="5029200" cy="1225296"/>
          </a:xfrm>
          <a:prstGeom prst="rect">
            <a:avLst/>
          </a:prstGeom>
          <a:noFill/>
          <a:ln/>
        </p:spPr>
        <p:txBody>
          <a:bodyPr wrap="square" lIns="0" tIns="0" rIns="0" bIns="0" rtlCol="0" anchor="t"/>
          <a:lstStyle/>
          <a:p>
            <a:pPr indent="0" marL="0">
              <a:lnSpc>
                <a:spcPct val="115000"/>
              </a:lnSpc>
              <a:buNone/>
            </a:pPr>
            <a:r>
              <a:rPr lang="en-US" sz="1050" b="1" dirty="0">
                <a:solidFill>
                  <a:srgbClr val="7FD8C4"/>
                </a:solidFill>
                <a:latin typeface="Courier New" pitchFamily="34" charset="0"/>
                <a:ea typeface="Courier New" pitchFamily="34" charset="-122"/>
                <a:cs typeface="Courier New" pitchFamily="34" charset="-120"/>
              </a:rPr>
              <a:t>$ az storage account create \</a:t>
            </a:r>
            <a:endParaRPr lang="en-US" sz="1050" dirty="0"/>
          </a:p>
          <a:p>
            <a:pPr indent="0" marL="0">
              <a:lnSpc>
                <a:spcPct val="115000"/>
              </a:lnSpc>
              <a:buNone/>
            </a:pPr>
            <a:r>
              <a:rPr lang="en-US" sz="1050" dirty="0">
                <a:solidFill>
                  <a:srgbClr val="D9E8EE"/>
                </a:solidFill>
                <a:latin typeface="Courier New" pitchFamily="34" charset="0"/>
                <a:ea typeface="Courier New" pitchFamily="34" charset="-122"/>
                <a:cs typeface="Courier New" pitchFamily="34" charset="-120"/>
              </a:rPr>
              <a:t>    --name terraformstate123 \</a:t>
            </a:r>
            <a:endParaRPr lang="en-US" sz="1050" dirty="0"/>
          </a:p>
          <a:p>
            <a:pPr indent="0" marL="0">
              <a:lnSpc>
                <a:spcPct val="115000"/>
              </a:lnSpc>
              <a:buNone/>
            </a:pPr>
            <a:r>
              <a:rPr lang="en-US" sz="1050" dirty="0">
                <a:solidFill>
                  <a:srgbClr val="D9E8EE"/>
                </a:solidFill>
                <a:latin typeface="Courier New" pitchFamily="34" charset="0"/>
                <a:ea typeface="Courier New" pitchFamily="34" charset="-122"/>
                <a:cs typeface="Courier New" pitchFamily="34" charset="-120"/>
              </a:rPr>
              <a:t>    --resource-group myResourceGroup \</a:t>
            </a:r>
            <a:endParaRPr lang="en-US" sz="1050" dirty="0"/>
          </a:p>
          <a:p>
            <a:pPr indent="0" marL="0">
              <a:lnSpc>
                <a:spcPct val="115000"/>
              </a:lnSpc>
              <a:buNone/>
            </a:pPr>
            <a:r>
              <a:rPr lang="en-US" sz="1050" dirty="0">
                <a:solidFill>
                  <a:srgbClr val="D9E8EE"/>
                </a:solidFill>
                <a:latin typeface="Courier New" pitchFamily="34" charset="0"/>
                <a:ea typeface="Courier New" pitchFamily="34" charset="-122"/>
                <a:cs typeface="Courier New" pitchFamily="34" charset="-120"/>
              </a:rPr>
              <a:t>    --location eastus --sku Standard_LRS</a:t>
            </a:r>
            <a:endParaRPr lang="en-US" sz="1050" dirty="0"/>
          </a:p>
          <a:p>
            <a:pPr indent="0" marL="0">
              <a:lnSpc>
                <a:spcPct val="115000"/>
              </a:lnSpc>
              <a:buNone/>
            </a:pPr>
            <a:r>
              <a:rPr lang="en-US" sz="1050" b="1" dirty="0">
                <a:solidFill>
                  <a:srgbClr val="7FD8C4"/>
                </a:solidFill>
                <a:latin typeface="Courier New" pitchFamily="34" charset="0"/>
                <a:ea typeface="Courier New" pitchFamily="34" charset="-122"/>
                <a:cs typeface="Courier New" pitchFamily="34" charset="-120"/>
              </a:rPr>
              <a:t>$ az storage container create \</a:t>
            </a:r>
            <a:endParaRPr lang="en-US" sz="1050" dirty="0"/>
          </a:p>
          <a:p>
            <a:pPr indent="0" marL="0">
              <a:lnSpc>
                <a:spcPct val="115000"/>
              </a:lnSpc>
              <a:buNone/>
            </a:pPr>
            <a:r>
              <a:rPr lang="en-US" sz="1050" dirty="0">
                <a:solidFill>
                  <a:srgbClr val="D9E8EE"/>
                </a:solidFill>
                <a:latin typeface="Courier New" pitchFamily="34" charset="0"/>
                <a:ea typeface="Courier New" pitchFamily="34" charset="-122"/>
                <a:cs typeface="Courier New" pitchFamily="34" charset="-120"/>
              </a:rPr>
              <a:t>    --name terraformstate \</a:t>
            </a:r>
            <a:endParaRPr lang="en-US" sz="1050" dirty="0"/>
          </a:p>
          <a:p>
            <a:pPr indent="0" marL="0">
              <a:lnSpc>
                <a:spcPct val="115000"/>
              </a:lnSpc>
              <a:buNone/>
            </a:pPr>
            <a:r>
              <a:rPr lang="en-US" sz="1050" dirty="0">
                <a:solidFill>
                  <a:srgbClr val="D9E8EE"/>
                </a:solidFill>
                <a:latin typeface="Courier New" pitchFamily="34" charset="0"/>
                <a:ea typeface="Courier New" pitchFamily="34" charset="-122"/>
                <a:cs typeface="Courier New" pitchFamily="34" charset="-120"/>
              </a:rPr>
              <a:t>    --account-name terraformstate123</a:t>
            </a:r>
            <a:endParaRPr lang="en-US" sz="1050" dirty="0"/>
          </a:p>
        </p:txBody>
      </p:sp>
      <p:sp>
        <p:nvSpPr>
          <p:cNvPr id="9" name="Text 6"/>
          <p:cNvSpPr/>
          <p:nvPr/>
        </p:nvSpPr>
        <p:spPr>
          <a:xfrm>
            <a:off x="6355080" y="1463040"/>
            <a:ext cx="5349240" cy="365760"/>
          </a:xfrm>
          <a:prstGeom prst="rect">
            <a:avLst/>
          </a:prstGeom>
          <a:noFill/>
          <a:ln/>
        </p:spPr>
        <p:txBody>
          <a:bodyPr wrap="square" lIns="0" tIns="0" rIns="0" bIns="0" rtlCol="0" anchor="ctr"/>
          <a:lstStyle/>
          <a:p>
            <a:pPr indent="0" marL="0">
              <a:buNone/>
            </a:pPr>
            <a:r>
              <a:rPr lang="en-US" sz="1500" b="1" dirty="0">
                <a:solidFill>
                  <a:srgbClr val="1E293B"/>
                </a:solidFill>
                <a:latin typeface="Cambria" pitchFamily="34" charset="0"/>
                <a:ea typeface="Cambria" pitchFamily="34" charset="-122"/>
                <a:cs typeface="Cambria" pitchFamily="34" charset="-120"/>
              </a:rPr>
              <a:t>Step 2 · Configure backend.tf</a:t>
            </a:r>
            <a:endParaRPr lang="en-US" sz="1500" dirty="0"/>
          </a:p>
        </p:txBody>
      </p:sp>
      <p:sp>
        <p:nvSpPr>
          <p:cNvPr id="10" name="Shape 7"/>
          <p:cNvSpPr/>
          <p:nvPr/>
        </p:nvSpPr>
        <p:spPr>
          <a:xfrm>
            <a:off x="6355080" y="1874520"/>
            <a:ext cx="5349240" cy="2148840"/>
          </a:xfrm>
          <a:prstGeom prst="roundRect">
            <a:avLst>
              <a:gd name="adj" fmla="val 3404"/>
            </a:avLst>
          </a:prstGeom>
          <a:solidFill>
            <a:srgbClr val="10233A"/>
          </a:solidFill>
          <a:ln/>
          <a:effectLst>
            <a:outerShdw sx="100000" sy="100000" kx="0" ky="0" algn="bl" rotWithShape="0" blurRad="101600" dist="38100" dir="5400000">
              <a:srgbClr val="000000">
                <a:alpha val="18000"/>
              </a:srgbClr>
            </a:outerShdw>
          </a:effectLst>
        </p:spPr>
      </p:sp>
      <p:sp>
        <p:nvSpPr>
          <p:cNvPr id="11" name="Text 8"/>
          <p:cNvSpPr/>
          <p:nvPr/>
        </p:nvSpPr>
        <p:spPr>
          <a:xfrm>
            <a:off x="6583680" y="2039112"/>
            <a:ext cx="4892040" cy="1819656"/>
          </a:xfrm>
          <a:prstGeom prst="rect">
            <a:avLst/>
          </a:prstGeom>
          <a:noFill/>
          <a:ln/>
        </p:spPr>
        <p:txBody>
          <a:bodyPr wrap="square" lIns="0" tIns="0" rIns="0" bIns="0" rtlCol="0" anchor="t"/>
          <a:lstStyle/>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terraform {</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  backend "azurerm" {</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    resource_group_name  = "myResourceGroup"</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    storage_account_name = "terraformstate123"</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    container_name       = "terraformstate"</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    key                  = "terraform.tfstate"</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  }</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a:t>
            </a:r>
            <a:endParaRPr lang="en-US" sz="1150" dirty="0"/>
          </a:p>
        </p:txBody>
      </p:sp>
      <p:sp>
        <p:nvSpPr>
          <p:cNvPr id="12" name="Shape 9"/>
          <p:cNvSpPr/>
          <p:nvPr/>
        </p:nvSpPr>
        <p:spPr>
          <a:xfrm>
            <a:off x="502920" y="3703320"/>
            <a:ext cx="5486400" cy="1005840"/>
          </a:xfrm>
          <a:prstGeom prst="roundRect">
            <a:avLst>
              <a:gd name="adj" fmla="val 9091"/>
            </a:avLst>
          </a:prstGeom>
          <a:solidFill>
            <a:srgbClr val="EFF6F9"/>
          </a:solidFill>
          <a:ln/>
        </p:spPr>
      </p:sp>
      <p:sp>
        <p:nvSpPr>
          <p:cNvPr id="13" name="Shape 10"/>
          <p:cNvSpPr/>
          <p:nvPr/>
        </p:nvSpPr>
        <p:spPr>
          <a:xfrm>
            <a:off x="713232" y="3913632"/>
            <a:ext cx="502920" cy="502920"/>
          </a:xfrm>
          <a:prstGeom prst="ellipse">
            <a:avLst/>
          </a:prstGeom>
          <a:solidFill>
            <a:srgbClr val="1C7293"/>
          </a:solidFill>
          <a:ln/>
        </p:spPr>
      </p:sp>
      <p:pic>
        <p:nvPicPr>
          <p:cNvPr id="14" name="Image 1" descr="preencoded.png">    </p:cNvPr>
          <p:cNvPicPr>
            <a:picLocks noChangeAspect="1"/>
          </p:cNvPicPr>
          <p:nvPr/>
        </p:nvPicPr>
        <p:blipFill>
          <a:blip r:embed="rId2"/>
          <a:stretch>
            <a:fillRect/>
          </a:stretch>
        </p:blipFill>
        <p:spPr>
          <a:xfrm>
            <a:off x="822960" y="4023360"/>
            <a:ext cx="283464" cy="283464"/>
          </a:xfrm>
          <a:prstGeom prst="rect">
            <a:avLst/>
          </a:prstGeom>
        </p:spPr>
      </p:pic>
      <p:sp>
        <p:nvSpPr>
          <p:cNvPr id="15" name="Text 11"/>
          <p:cNvSpPr/>
          <p:nvPr/>
        </p:nvSpPr>
        <p:spPr>
          <a:xfrm>
            <a:off x="1417320" y="3703320"/>
            <a:ext cx="4434840" cy="10058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Running terraform init will configure the remote backend automatically.</a:t>
            </a:r>
            <a:endParaRPr lang="en-US" sz="1300" dirty="0"/>
          </a:p>
        </p:txBody>
      </p:sp>
      <p:sp>
        <p:nvSpPr>
          <p:cNvPr id="16" name="Text 12"/>
          <p:cNvSpPr/>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
        <p:nvSpPr>
          <p:cNvPr id="17" name="Text 13"/>
          <p:cNvSpPr/>
          <p:nvPr/>
        </p:nvSpPr>
        <p:spPr>
          <a:xfrm>
            <a:off x="502920" y="6446520"/>
            <a:ext cx="3657600" cy="274320"/>
          </a:xfrm>
          <a:prstGeom prst="rect">
            <a:avLst/>
          </a:prstGeom>
          <a:noFill/>
          <a:ln/>
        </p:spPr>
        <p:txBody>
          <a:bodyPr wrap="square" lIns="0" tIns="0" rIns="0" bIns="0" rtlCol="0" anchor="ctr"/>
          <a:lstStyle/>
          <a:p>
            <a:pPr indent="0" marL="0">
              <a:buNone/>
            </a:pPr>
            <a:r>
              <a:rPr lang="en-US" sz="900" b="1" spc="150" kern="0" dirty="0">
                <a:solidFill>
                  <a:srgbClr val="64748B"/>
                </a:solidFill>
                <a:latin typeface="Calibri" pitchFamily="34" charset="0"/>
                <a:ea typeface="Calibri" pitchFamily="34" charset="-122"/>
                <a:cs typeface="Calibri" pitchFamily="34" charset="-120"/>
              </a:rPr>
              <a:t>TERRAFORM BACKENDS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F2A65A"/>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384048"/>
            <a:ext cx="73152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9.3 STORING STATE REMOTELY</a:t>
            </a:r>
            <a:endParaRPr lang="en-US" sz="1200" dirty="0"/>
          </a:p>
        </p:txBody>
      </p:sp>
      <p:sp>
        <p:nvSpPr>
          <p:cNvPr id="5" name="Text 2"/>
          <p:cNvSpPr/>
          <p:nvPr/>
        </p:nvSpPr>
        <p:spPr>
          <a:xfrm>
            <a:off x="1234440" y="621792"/>
            <a:ext cx="9601200" cy="50292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Remote Backend: Google Cloud Storage</a:t>
            </a:r>
            <a:endParaRPr lang="en-US" sz="2800" dirty="0"/>
          </a:p>
        </p:txBody>
      </p:sp>
      <p:sp>
        <p:nvSpPr>
          <p:cNvPr id="6" name="Text 3"/>
          <p:cNvSpPr/>
          <p:nvPr/>
        </p:nvSpPr>
        <p:spPr>
          <a:xfrm>
            <a:off x="502920" y="1554480"/>
            <a:ext cx="5394960" cy="365760"/>
          </a:xfrm>
          <a:prstGeom prst="rect">
            <a:avLst/>
          </a:prstGeom>
          <a:noFill/>
          <a:ln/>
        </p:spPr>
        <p:txBody>
          <a:bodyPr wrap="square" lIns="0" tIns="0" rIns="0" bIns="0" rtlCol="0" anchor="ctr"/>
          <a:lstStyle/>
          <a:p>
            <a:pPr indent="0" marL="0">
              <a:buNone/>
            </a:pPr>
            <a:r>
              <a:rPr lang="en-US" sz="1600" b="1" dirty="0">
                <a:solidFill>
                  <a:srgbClr val="1E293B"/>
                </a:solidFill>
                <a:latin typeface="Cambria" pitchFamily="34" charset="0"/>
                <a:ea typeface="Cambria" pitchFamily="34" charset="-122"/>
                <a:cs typeface="Cambria" pitchFamily="34" charset="-120"/>
              </a:rPr>
              <a:t>Step 1 · Create a GCS bucket</a:t>
            </a:r>
            <a:endParaRPr lang="en-US" sz="1600" dirty="0"/>
          </a:p>
        </p:txBody>
      </p:sp>
      <p:sp>
        <p:nvSpPr>
          <p:cNvPr id="7" name="Shape 4"/>
          <p:cNvSpPr/>
          <p:nvPr/>
        </p:nvSpPr>
        <p:spPr>
          <a:xfrm>
            <a:off x="502920" y="2011680"/>
            <a:ext cx="5394960" cy="960120"/>
          </a:xfrm>
          <a:prstGeom prst="roundRect">
            <a:avLst>
              <a:gd name="adj" fmla="val 7619"/>
            </a:avLst>
          </a:prstGeom>
          <a:solidFill>
            <a:srgbClr val="10233A"/>
          </a:solidFill>
          <a:ln/>
          <a:effectLst>
            <a:outerShdw sx="100000" sy="100000" kx="0" ky="0" algn="bl" rotWithShape="0" blurRad="101600" dist="38100" dir="5400000">
              <a:srgbClr val="000000">
                <a:alpha val="18000"/>
              </a:srgbClr>
            </a:outerShdw>
          </a:effectLst>
        </p:spPr>
      </p:sp>
      <p:sp>
        <p:nvSpPr>
          <p:cNvPr id="8" name="Text 5"/>
          <p:cNvSpPr/>
          <p:nvPr/>
        </p:nvSpPr>
        <p:spPr>
          <a:xfrm>
            <a:off x="731520" y="2176272"/>
            <a:ext cx="4937760" cy="630936"/>
          </a:xfrm>
          <a:prstGeom prst="rect">
            <a:avLst/>
          </a:prstGeom>
          <a:noFill/>
          <a:ln/>
        </p:spPr>
        <p:txBody>
          <a:bodyPr wrap="square" lIns="0" tIns="0" rIns="0" bIns="0" rtlCol="0" anchor="t"/>
          <a:lstStyle/>
          <a:p>
            <a:pPr indent="0" marL="0">
              <a:lnSpc>
                <a:spcPct val="115000"/>
              </a:lnSpc>
              <a:buNone/>
            </a:pPr>
            <a:r>
              <a:rPr lang="en-US" sz="1300" b="1" dirty="0">
                <a:solidFill>
                  <a:srgbClr val="7FD8C4"/>
                </a:solidFill>
                <a:latin typeface="Courier New" pitchFamily="34" charset="0"/>
                <a:ea typeface="Courier New" pitchFamily="34" charset="-122"/>
                <a:cs typeface="Courier New" pitchFamily="34" charset="-120"/>
              </a:rPr>
              <a:t>$ gsutil mb -l us-east1 \</a:t>
            </a:r>
            <a:endParaRPr lang="en-US" sz="1300" dirty="0"/>
          </a:p>
          <a:p>
            <a:pPr indent="0" marL="0">
              <a:lnSpc>
                <a:spcPct val="115000"/>
              </a:lnSpc>
              <a:buNone/>
            </a:pPr>
            <a:r>
              <a:rPr lang="en-US" sz="1300" dirty="0">
                <a:solidFill>
                  <a:srgbClr val="D9E8EE"/>
                </a:solidFill>
                <a:latin typeface="Courier New" pitchFamily="34" charset="0"/>
                <a:ea typeface="Courier New" pitchFamily="34" charset="-122"/>
                <a:cs typeface="Courier New" pitchFamily="34" charset="-120"/>
              </a:rPr>
              <a:t>    gs://my-terraform-state-bucket/</a:t>
            </a:r>
            <a:endParaRPr lang="en-US" sz="1300" dirty="0"/>
          </a:p>
        </p:txBody>
      </p:sp>
      <p:sp>
        <p:nvSpPr>
          <p:cNvPr id="9" name="Text 6"/>
          <p:cNvSpPr/>
          <p:nvPr/>
        </p:nvSpPr>
        <p:spPr>
          <a:xfrm>
            <a:off x="6309360" y="1554480"/>
            <a:ext cx="5394960" cy="365760"/>
          </a:xfrm>
          <a:prstGeom prst="rect">
            <a:avLst/>
          </a:prstGeom>
          <a:noFill/>
          <a:ln/>
        </p:spPr>
        <p:txBody>
          <a:bodyPr wrap="square" lIns="0" tIns="0" rIns="0" bIns="0" rtlCol="0" anchor="ctr"/>
          <a:lstStyle/>
          <a:p>
            <a:pPr indent="0" marL="0">
              <a:buNone/>
            </a:pPr>
            <a:r>
              <a:rPr lang="en-US" sz="1600" b="1" dirty="0">
                <a:solidFill>
                  <a:srgbClr val="1E293B"/>
                </a:solidFill>
                <a:latin typeface="Cambria" pitchFamily="34" charset="0"/>
                <a:ea typeface="Cambria" pitchFamily="34" charset="-122"/>
                <a:cs typeface="Cambria" pitchFamily="34" charset="-120"/>
              </a:rPr>
              <a:t>Step 2 · Configure backend.tf</a:t>
            </a:r>
            <a:endParaRPr lang="en-US" sz="1600" dirty="0"/>
          </a:p>
        </p:txBody>
      </p:sp>
      <p:sp>
        <p:nvSpPr>
          <p:cNvPr id="10" name="Shape 7"/>
          <p:cNvSpPr/>
          <p:nvPr/>
        </p:nvSpPr>
        <p:spPr>
          <a:xfrm>
            <a:off x="6309360" y="2011680"/>
            <a:ext cx="5394960" cy="1417320"/>
          </a:xfrm>
          <a:prstGeom prst="roundRect">
            <a:avLst>
              <a:gd name="adj" fmla="val 5161"/>
            </a:avLst>
          </a:prstGeom>
          <a:solidFill>
            <a:srgbClr val="10233A"/>
          </a:solidFill>
          <a:ln/>
          <a:effectLst>
            <a:outerShdw sx="100000" sy="100000" kx="0" ky="0" algn="bl" rotWithShape="0" blurRad="101600" dist="38100" dir="5400000">
              <a:srgbClr val="000000">
                <a:alpha val="18000"/>
              </a:srgbClr>
            </a:outerShdw>
          </a:effectLst>
        </p:spPr>
      </p:sp>
      <p:sp>
        <p:nvSpPr>
          <p:cNvPr id="11" name="Text 8"/>
          <p:cNvSpPr/>
          <p:nvPr/>
        </p:nvSpPr>
        <p:spPr>
          <a:xfrm>
            <a:off x="6537960" y="2176272"/>
            <a:ext cx="4937760" cy="1088136"/>
          </a:xfrm>
          <a:prstGeom prst="rect">
            <a:avLst/>
          </a:prstGeom>
          <a:noFill/>
          <a:ln/>
        </p:spPr>
        <p:txBody>
          <a:bodyPr wrap="square" lIns="0" tIns="0" rIns="0" bIns="0" rtlCol="0" anchor="t"/>
          <a:lstStyle/>
          <a:p>
            <a:pPr indent="0" marL="0">
              <a:lnSpc>
                <a:spcPct val="115000"/>
              </a:lnSpc>
              <a:buNone/>
            </a:pPr>
            <a:r>
              <a:rPr lang="en-US" sz="1300" dirty="0">
                <a:solidFill>
                  <a:srgbClr val="D9E8EE"/>
                </a:solidFill>
                <a:latin typeface="Courier New" pitchFamily="34" charset="0"/>
                <a:ea typeface="Courier New" pitchFamily="34" charset="-122"/>
                <a:cs typeface="Courier New" pitchFamily="34" charset="-120"/>
              </a:rPr>
              <a:t>terraform {</a:t>
            </a:r>
            <a:endParaRPr lang="en-US" sz="1300" dirty="0"/>
          </a:p>
          <a:p>
            <a:pPr indent="0" marL="0">
              <a:lnSpc>
                <a:spcPct val="115000"/>
              </a:lnSpc>
              <a:buNone/>
            </a:pPr>
            <a:r>
              <a:rPr lang="en-US" sz="1300" dirty="0">
                <a:solidFill>
                  <a:srgbClr val="D9E8EE"/>
                </a:solidFill>
                <a:latin typeface="Courier New" pitchFamily="34" charset="0"/>
                <a:ea typeface="Courier New" pitchFamily="34" charset="-122"/>
                <a:cs typeface="Courier New" pitchFamily="34" charset="-120"/>
              </a:rPr>
              <a:t>  backend "gcs" {</a:t>
            </a:r>
            <a:endParaRPr lang="en-US" sz="1300" dirty="0"/>
          </a:p>
          <a:p>
            <a:pPr indent="0" marL="0">
              <a:lnSpc>
                <a:spcPct val="115000"/>
              </a:lnSpc>
              <a:buNone/>
            </a:pPr>
            <a:r>
              <a:rPr lang="en-US" sz="1300" dirty="0">
                <a:solidFill>
                  <a:srgbClr val="D9E8EE"/>
                </a:solidFill>
                <a:latin typeface="Courier New" pitchFamily="34" charset="0"/>
                <a:ea typeface="Courier New" pitchFamily="34" charset="-122"/>
                <a:cs typeface="Courier New" pitchFamily="34" charset="-120"/>
              </a:rPr>
              <a:t>    bucket = "my-terraform-state-bucket"</a:t>
            </a:r>
            <a:endParaRPr lang="en-US" sz="1300" dirty="0"/>
          </a:p>
          <a:p>
            <a:pPr indent="0" marL="0">
              <a:lnSpc>
                <a:spcPct val="115000"/>
              </a:lnSpc>
              <a:buNone/>
            </a:pPr>
            <a:r>
              <a:rPr lang="en-US" sz="1300" dirty="0">
                <a:solidFill>
                  <a:srgbClr val="D9E8EE"/>
                </a:solidFill>
                <a:latin typeface="Courier New" pitchFamily="34" charset="0"/>
                <a:ea typeface="Courier New" pitchFamily="34" charset="-122"/>
                <a:cs typeface="Courier New" pitchFamily="34" charset="-120"/>
              </a:rPr>
              <a:t>    prefix = "terraform/state"</a:t>
            </a:r>
            <a:endParaRPr lang="en-US" sz="1300" dirty="0"/>
          </a:p>
          <a:p>
            <a:pPr indent="0" marL="0">
              <a:lnSpc>
                <a:spcPct val="115000"/>
              </a:lnSpc>
              <a:buNone/>
            </a:pPr>
            <a:r>
              <a:rPr lang="en-US" sz="1300" dirty="0">
                <a:solidFill>
                  <a:srgbClr val="D9E8EE"/>
                </a:solidFill>
                <a:latin typeface="Courier New" pitchFamily="34" charset="0"/>
                <a:ea typeface="Courier New" pitchFamily="34" charset="-122"/>
                <a:cs typeface="Courier New" pitchFamily="34" charset="-120"/>
              </a:rPr>
              <a:t>  }</a:t>
            </a:r>
            <a:endParaRPr lang="en-US" sz="1300" dirty="0"/>
          </a:p>
          <a:p>
            <a:pPr indent="0" marL="0">
              <a:lnSpc>
                <a:spcPct val="115000"/>
              </a:lnSpc>
              <a:buNone/>
            </a:pPr>
            <a:r>
              <a:rPr lang="en-US" sz="1300" dirty="0">
                <a:solidFill>
                  <a:srgbClr val="D9E8EE"/>
                </a:solidFill>
                <a:latin typeface="Courier New" pitchFamily="34" charset="0"/>
                <a:ea typeface="Courier New" pitchFamily="34" charset="-122"/>
                <a:cs typeface="Courier New" pitchFamily="34" charset="-120"/>
              </a:rPr>
              <a:t>}</a:t>
            </a:r>
            <a:endParaRPr lang="en-US" sz="1300" dirty="0"/>
          </a:p>
        </p:txBody>
      </p:sp>
      <p:sp>
        <p:nvSpPr>
          <p:cNvPr id="12" name="Shape 9"/>
          <p:cNvSpPr/>
          <p:nvPr/>
        </p:nvSpPr>
        <p:spPr>
          <a:xfrm>
            <a:off x="502920" y="3337560"/>
            <a:ext cx="11201400" cy="1234440"/>
          </a:xfrm>
          <a:prstGeom prst="roundRect">
            <a:avLst>
              <a:gd name="adj" fmla="val 7407"/>
            </a:avLst>
          </a:prstGeom>
          <a:solidFill>
            <a:srgbClr val="EFF6F9"/>
          </a:solidFill>
          <a:ln/>
        </p:spPr>
      </p:sp>
      <p:sp>
        <p:nvSpPr>
          <p:cNvPr id="13" name="Shape 10"/>
          <p:cNvSpPr/>
          <p:nvPr/>
        </p:nvSpPr>
        <p:spPr>
          <a:xfrm>
            <a:off x="777240" y="3611880"/>
            <a:ext cx="594360" cy="594360"/>
          </a:xfrm>
          <a:prstGeom prst="ellipse">
            <a:avLst/>
          </a:prstGeom>
          <a:solidFill>
            <a:srgbClr val="F2A65A"/>
          </a:solidFill>
          <a:ln/>
        </p:spPr>
      </p:sp>
      <p:pic>
        <p:nvPicPr>
          <p:cNvPr id="14" name="Image 1" descr="preencoded.png">    </p:cNvPr>
          <p:cNvPicPr>
            <a:picLocks noChangeAspect="1"/>
          </p:cNvPicPr>
          <p:nvPr/>
        </p:nvPicPr>
        <p:blipFill>
          <a:blip r:embed="rId2"/>
          <a:stretch>
            <a:fillRect/>
          </a:stretch>
        </p:blipFill>
        <p:spPr>
          <a:xfrm>
            <a:off x="905256" y="3739896"/>
            <a:ext cx="338328" cy="338328"/>
          </a:xfrm>
          <a:prstGeom prst="rect">
            <a:avLst/>
          </a:prstGeom>
        </p:spPr>
      </p:pic>
      <p:sp>
        <p:nvSpPr>
          <p:cNvPr id="15" name="Text 11"/>
          <p:cNvSpPr/>
          <p:nvPr/>
        </p:nvSpPr>
        <p:spPr>
          <a:xfrm>
            <a:off x="1600200" y="3337560"/>
            <a:ext cx="9875520" cy="123444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Running terraform init will store the state in Google Cloud Storage — the prefix acts like a folder path inside the bucket, useful for separating environments (dev/, staging/, prod/).</a:t>
            </a:r>
            <a:endParaRPr lang="en-US" sz="1350" dirty="0"/>
          </a:p>
        </p:txBody>
      </p:sp>
      <p:sp>
        <p:nvSpPr>
          <p:cNvPr id="16" name="Text 12"/>
          <p:cNvSpPr/>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
        <p:nvSpPr>
          <p:cNvPr id="17" name="Text 13"/>
          <p:cNvSpPr/>
          <p:nvPr/>
        </p:nvSpPr>
        <p:spPr>
          <a:xfrm>
            <a:off x="502920" y="6446520"/>
            <a:ext cx="3657600" cy="274320"/>
          </a:xfrm>
          <a:prstGeom prst="rect">
            <a:avLst/>
          </a:prstGeom>
          <a:noFill/>
          <a:ln/>
        </p:spPr>
        <p:txBody>
          <a:bodyPr wrap="square" lIns="0" tIns="0" rIns="0" bIns="0" rtlCol="0" anchor="ctr"/>
          <a:lstStyle/>
          <a:p>
            <a:pPr indent="0" marL="0">
              <a:buNone/>
            </a:pPr>
            <a:r>
              <a:rPr lang="en-US" sz="900" b="1" spc="150" kern="0" dirty="0">
                <a:solidFill>
                  <a:srgbClr val="64748B"/>
                </a:solidFill>
                <a:latin typeface="Calibri" pitchFamily="34" charset="0"/>
                <a:ea typeface="Calibri" pitchFamily="34" charset="-122"/>
                <a:cs typeface="Calibri" pitchFamily="34" charset="-120"/>
              </a:rPr>
              <a:t>TERRAFORM BACKENDS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65A82"/>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384048"/>
            <a:ext cx="73152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9.4 PREVENTING CORRUPTION</a:t>
            </a:r>
            <a:endParaRPr lang="en-US" sz="1200" dirty="0"/>
          </a:p>
        </p:txBody>
      </p:sp>
      <p:sp>
        <p:nvSpPr>
          <p:cNvPr id="5" name="Text 2"/>
          <p:cNvSpPr/>
          <p:nvPr/>
        </p:nvSpPr>
        <p:spPr>
          <a:xfrm>
            <a:off x="1234440" y="621792"/>
            <a:ext cx="9601200" cy="50292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State Locking with DynamoDB</a:t>
            </a:r>
            <a:endParaRPr lang="en-US" sz="2800" dirty="0"/>
          </a:p>
        </p:txBody>
      </p:sp>
      <p:sp>
        <p:nvSpPr>
          <p:cNvPr id="6" name="Shape 3"/>
          <p:cNvSpPr/>
          <p:nvPr/>
        </p:nvSpPr>
        <p:spPr>
          <a:xfrm>
            <a:off x="502920" y="1417320"/>
            <a:ext cx="11201400" cy="777240"/>
          </a:xfrm>
          <a:prstGeom prst="roundRect">
            <a:avLst>
              <a:gd name="adj" fmla="val 11765"/>
            </a:avLst>
          </a:prstGeom>
          <a:solidFill>
            <a:srgbClr val="EFF6F9"/>
          </a:solidFill>
          <a:ln/>
        </p:spPr>
      </p:sp>
      <p:sp>
        <p:nvSpPr>
          <p:cNvPr id="7" name="Shape 4"/>
          <p:cNvSpPr/>
          <p:nvPr/>
        </p:nvSpPr>
        <p:spPr>
          <a:xfrm>
            <a:off x="731520" y="1554480"/>
            <a:ext cx="502920" cy="502920"/>
          </a:xfrm>
          <a:prstGeom prst="ellipse">
            <a:avLst/>
          </a:prstGeom>
          <a:solidFill>
            <a:srgbClr val="C04A3D"/>
          </a:solidFill>
          <a:ln/>
        </p:spPr>
      </p:sp>
      <p:pic>
        <p:nvPicPr>
          <p:cNvPr id="8" name="Image 1" descr="preencoded.png">    </p:cNvPr>
          <p:cNvPicPr>
            <a:picLocks noChangeAspect="1"/>
          </p:cNvPicPr>
          <p:nvPr/>
        </p:nvPicPr>
        <p:blipFill>
          <a:blip r:embed="rId2"/>
          <a:stretch>
            <a:fillRect/>
          </a:stretch>
        </p:blipFill>
        <p:spPr>
          <a:xfrm>
            <a:off x="841248" y="1664208"/>
            <a:ext cx="283464" cy="283464"/>
          </a:xfrm>
          <a:prstGeom prst="rect">
            <a:avLst/>
          </a:prstGeom>
        </p:spPr>
      </p:pic>
      <p:sp>
        <p:nvSpPr>
          <p:cNvPr id="9" name="Text 5"/>
          <p:cNvSpPr/>
          <p:nvPr/>
        </p:nvSpPr>
        <p:spPr>
          <a:xfrm>
            <a:off x="1463040" y="1417320"/>
            <a:ext cx="9966960" cy="77724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If multiple users apply Terraform at the same time, it can cause state corruption. Locking allows only one user to modify state at a time.</a:t>
            </a:r>
            <a:endParaRPr lang="en-US" sz="1350" dirty="0"/>
          </a:p>
        </p:txBody>
      </p:sp>
      <p:sp>
        <p:nvSpPr>
          <p:cNvPr id="10" name="Text 6"/>
          <p:cNvSpPr/>
          <p:nvPr/>
        </p:nvSpPr>
        <p:spPr>
          <a:xfrm>
            <a:off x="502920" y="2423160"/>
            <a:ext cx="5486400" cy="365760"/>
          </a:xfrm>
          <a:prstGeom prst="rect">
            <a:avLst/>
          </a:prstGeom>
          <a:noFill/>
          <a:ln/>
        </p:spPr>
        <p:txBody>
          <a:bodyPr wrap="square" lIns="0" tIns="0" rIns="0" bIns="0" rtlCol="0" anchor="ctr"/>
          <a:lstStyle/>
          <a:p>
            <a:pPr indent="0" marL="0">
              <a:buNone/>
            </a:pPr>
            <a:r>
              <a:rPr lang="en-US" sz="1500" b="1" dirty="0">
                <a:solidFill>
                  <a:srgbClr val="1E293B"/>
                </a:solidFill>
                <a:latin typeface="Cambria" pitchFamily="34" charset="0"/>
                <a:ea typeface="Cambria" pitchFamily="34" charset="-122"/>
                <a:cs typeface="Cambria" pitchFamily="34" charset="-120"/>
              </a:rPr>
              <a:t>Step 1 · Create a DynamoDB table for locking</a:t>
            </a:r>
            <a:endParaRPr lang="en-US" sz="1500" dirty="0"/>
          </a:p>
        </p:txBody>
      </p:sp>
      <p:sp>
        <p:nvSpPr>
          <p:cNvPr id="11" name="Shape 7"/>
          <p:cNvSpPr/>
          <p:nvPr/>
        </p:nvSpPr>
        <p:spPr>
          <a:xfrm>
            <a:off x="502920" y="2834640"/>
            <a:ext cx="5486400" cy="1920240"/>
          </a:xfrm>
          <a:prstGeom prst="roundRect">
            <a:avLst>
              <a:gd name="adj" fmla="val 3810"/>
            </a:avLst>
          </a:prstGeom>
          <a:solidFill>
            <a:srgbClr val="10233A"/>
          </a:solidFill>
          <a:ln/>
          <a:effectLst>
            <a:outerShdw sx="100000" sy="100000" kx="0" ky="0" algn="bl" rotWithShape="0" blurRad="101600" dist="38100" dir="5400000">
              <a:srgbClr val="000000">
                <a:alpha val="18000"/>
              </a:srgbClr>
            </a:outerShdw>
          </a:effectLst>
        </p:spPr>
      </p:sp>
      <p:sp>
        <p:nvSpPr>
          <p:cNvPr id="12" name="Text 8"/>
          <p:cNvSpPr/>
          <p:nvPr/>
        </p:nvSpPr>
        <p:spPr>
          <a:xfrm>
            <a:off x="731520" y="2999232"/>
            <a:ext cx="5029200" cy="1591056"/>
          </a:xfrm>
          <a:prstGeom prst="rect">
            <a:avLst/>
          </a:prstGeom>
          <a:noFill/>
          <a:ln/>
        </p:spPr>
        <p:txBody>
          <a:bodyPr wrap="square" lIns="0" tIns="0" rIns="0" bIns="0" rtlCol="0" anchor="t"/>
          <a:lstStyle/>
          <a:p>
            <a:pPr indent="0" marL="0">
              <a:lnSpc>
                <a:spcPct val="115000"/>
              </a:lnSpc>
              <a:buNone/>
            </a:pPr>
            <a:r>
              <a:rPr lang="en-US" sz="1050" b="1" dirty="0">
                <a:solidFill>
                  <a:srgbClr val="7FD8C4"/>
                </a:solidFill>
                <a:latin typeface="Courier New" pitchFamily="34" charset="0"/>
                <a:ea typeface="Courier New" pitchFamily="34" charset="-122"/>
                <a:cs typeface="Courier New" pitchFamily="34" charset="-120"/>
              </a:rPr>
              <a:t>$ aws dynamodb create-table \</a:t>
            </a:r>
            <a:endParaRPr lang="en-US" sz="1050" dirty="0"/>
          </a:p>
          <a:p>
            <a:pPr indent="0" marL="0">
              <a:lnSpc>
                <a:spcPct val="115000"/>
              </a:lnSpc>
              <a:buNone/>
            </a:pPr>
            <a:r>
              <a:rPr lang="en-US" sz="1050" dirty="0">
                <a:solidFill>
                  <a:srgbClr val="D9E8EE"/>
                </a:solidFill>
                <a:latin typeface="Courier New" pitchFamily="34" charset="0"/>
                <a:ea typeface="Courier New" pitchFamily="34" charset="-122"/>
                <a:cs typeface="Courier New" pitchFamily="34" charset="-120"/>
              </a:rPr>
              <a:t>    --table-name terraform-lock \</a:t>
            </a:r>
            <a:endParaRPr lang="en-US" sz="1050" dirty="0"/>
          </a:p>
          <a:p>
            <a:pPr indent="0" marL="0">
              <a:lnSpc>
                <a:spcPct val="115000"/>
              </a:lnSpc>
              <a:buNone/>
            </a:pPr>
            <a:r>
              <a:rPr lang="en-US" sz="1050" dirty="0">
                <a:solidFill>
                  <a:srgbClr val="D9E8EE"/>
                </a:solidFill>
                <a:latin typeface="Courier New" pitchFamily="34" charset="0"/>
                <a:ea typeface="Courier New" pitchFamily="34" charset="-122"/>
                <a:cs typeface="Courier New" pitchFamily="34" charset="-120"/>
              </a:rPr>
              <a:t>    --attribute-definitions \</a:t>
            </a:r>
            <a:endParaRPr lang="en-US" sz="1050" dirty="0"/>
          </a:p>
          <a:p>
            <a:pPr indent="0" marL="0">
              <a:lnSpc>
                <a:spcPct val="115000"/>
              </a:lnSpc>
              <a:buNone/>
            </a:pPr>
            <a:r>
              <a:rPr lang="en-US" sz="1050" dirty="0">
                <a:solidFill>
                  <a:srgbClr val="D9E8EE"/>
                </a:solidFill>
                <a:latin typeface="Courier New" pitchFamily="34" charset="0"/>
                <a:ea typeface="Courier New" pitchFamily="34" charset="-122"/>
                <a:cs typeface="Courier New" pitchFamily="34" charset="-120"/>
              </a:rPr>
              <a:t>        AttributeName=LockID,AttributeType=S \</a:t>
            </a:r>
            <a:endParaRPr lang="en-US" sz="1050" dirty="0"/>
          </a:p>
          <a:p>
            <a:pPr indent="0" marL="0">
              <a:lnSpc>
                <a:spcPct val="115000"/>
              </a:lnSpc>
              <a:buNone/>
            </a:pPr>
            <a:r>
              <a:rPr lang="en-US" sz="1050" dirty="0">
                <a:solidFill>
                  <a:srgbClr val="D9E8EE"/>
                </a:solidFill>
                <a:latin typeface="Courier New" pitchFamily="34" charset="0"/>
                <a:ea typeface="Courier New" pitchFamily="34" charset="-122"/>
                <a:cs typeface="Courier New" pitchFamily="34" charset="-120"/>
              </a:rPr>
              <a:t>    --key-schema \</a:t>
            </a:r>
            <a:endParaRPr lang="en-US" sz="1050" dirty="0"/>
          </a:p>
          <a:p>
            <a:pPr indent="0" marL="0">
              <a:lnSpc>
                <a:spcPct val="115000"/>
              </a:lnSpc>
              <a:buNone/>
            </a:pPr>
            <a:r>
              <a:rPr lang="en-US" sz="1050" dirty="0">
                <a:solidFill>
                  <a:srgbClr val="D9E8EE"/>
                </a:solidFill>
                <a:latin typeface="Courier New" pitchFamily="34" charset="0"/>
                <a:ea typeface="Courier New" pitchFamily="34" charset="-122"/>
                <a:cs typeface="Courier New" pitchFamily="34" charset="-120"/>
              </a:rPr>
              <a:t>        AttributeName=LockID,KeyType=HASH \</a:t>
            </a:r>
            <a:endParaRPr lang="en-US" sz="1050" dirty="0"/>
          </a:p>
          <a:p>
            <a:pPr indent="0" marL="0">
              <a:lnSpc>
                <a:spcPct val="115000"/>
              </a:lnSpc>
              <a:buNone/>
            </a:pPr>
            <a:r>
              <a:rPr lang="en-US" sz="1050" dirty="0">
                <a:solidFill>
                  <a:srgbClr val="D9E8EE"/>
                </a:solidFill>
                <a:latin typeface="Courier New" pitchFamily="34" charset="0"/>
                <a:ea typeface="Courier New" pitchFamily="34" charset="-122"/>
                <a:cs typeface="Courier New" pitchFamily="34" charset="-120"/>
              </a:rPr>
              <a:t>    --billing-mode PAY_PER_REQUEST</a:t>
            </a:r>
            <a:endParaRPr lang="en-US" sz="1050" dirty="0"/>
          </a:p>
        </p:txBody>
      </p:sp>
      <p:sp>
        <p:nvSpPr>
          <p:cNvPr id="13" name="Text 9"/>
          <p:cNvSpPr/>
          <p:nvPr/>
        </p:nvSpPr>
        <p:spPr>
          <a:xfrm>
            <a:off x="6355080" y="2423160"/>
            <a:ext cx="5349240" cy="365760"/>
          </a:xfrm>
          <a:prstGeom prst="rect">
            <a:avLst/>
          </a:prstGeom>
          <a:noFill/>
          <a:ln/>
        </p:spPr>
        <p:txBody>
          <a:bodyPr wrap="square" lIns="0" tIns="0" rIns="0" bIns="0" rtlCol="0" anchor="ctr"/>
          <a:lstStyle/>
          <a:p>
            <a:pPr indent="0" marL="0">
              <a:buNone/>
            </a:pPr>
            <a:r>
              <a:rPr lang="en-US" sz="1500" b="1" dirty="0">
                <a:solidFill>
                  <a:srgbClr val="1E293B"/>
                </a:solidFill>
                <a:latin typeface="Cambria" pitchFamily="34" charset="0"/>
                <a:ea typeface="Cambria" pitchFamily="34" charset="-122"/>
                <a:cs typeface="Cambria" pitchFamily="34" charset="-120"/>
              </a:rPr>
              <a:t>Step 2 · Enable locking in backend.tf</a:t>
            </a:r>
            <a:endParaRPr lang="en-US" sz="1500" dirty="0"/>
          </a:p>
        </p:txBody>
      </p:sp>
      <p:sp>
        <p:nvSpPr>
          <p:cNvPr id="14" name="Shape 10"/>
          <p:cNvSpPr/>
          <p:nvPr/>
        </p:nvSpPr>
        <p:spPr>
          <a:xfrm>
            <a:off x="6355080" y="2834640"/>
            <a:ext cx="5349240" cy="2331720"/>
          </a:xfrm>
          <a:prstGeom prst="roundRect">
            <a:avLst>
              <a:gd name="adj" fmla="val 3137"/>
            </a:avLst>
          </a:prstGeom>
          <a:solidFill>
            <a:srgbClr val="10233A"/>
          </a:solidFill>
          <a:ln/>
          <a:effectLst>
            <a:outerShdw sx="100000" sy="100000" kx="0" ky="0" algn="bl" rotWithShape="0" blurRad="101600" dist="38100" dir="5400000">
              <a:srgbClr val="000000">
                <a:alpha val="18000"/>
              </a:srgbClr>
            </a:outerShdw>
          </a:effectLst>
        </p:spPr>
      </p:sp>
      <p:sp>
        <p:nvSpPr>
          <p:cNvPr id="15" name="Text 11"/>
          <p:cNvSpPr/>
          <p:nvPr/>
        </p:nvSpPr>
        <p:spPr>
          <a:xfrm>
            <a:off x="6583680" y="2999232"/>
            <a:ext cx="4892040" cy="2002536"/>
          </a:xfrm>
          <a:prstGeom prst="rect">
            <a:avLst/>
          </a:prstGeom>
          <a:noFill/>
          <a:ln/>
        </p:spPr>
        <p:txBody>
          <a:bodyPr wrap="square" lIns="0" tIns="0" rIns="0" bIns="0" rtlCol="0" anchor="t"/>
          <a:lstStyle/>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terraform {</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  backend "s3" {</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    bucket         = "my-terraform-state-bucket"</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    key            = "terraform.tfstate"</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    region         = "us-east-1"</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    encrypt        = true</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    dynamodb_table = "terraform-lock"</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  }</a:t>
            </a:r>
            <a:endParaRPr lang="en-US" sz="1150" dirty="0"/>
          </a:p>
          <a:p>
            <a:pPr indent="0" marL="0">
              <a:lnSpc>
                <a:spcPct val="115000"/>
              </a:lnSpc>
              <a:buNone/>
            </a:pPr>
            <a:r>
              <a:rPr lang="en-US" sz="1150" dirty="0">
                <a:solidFill>
                  <a:srgbClr val="D9E8EE"/>
                </a:solidFill>
                <a:latin typeface="Courier New" pitchFamily="34" charset="0"/>
                <a:ea typeface="Courier New" pitchFamily="34" charset="-122"/>
                <a:cs typeface="Courier New" pitchFamily="34" charset="-120"/>
              </a:rPr>
              <a:t>}</a:t>
            </a:r>
            <a:endParaRPr lang="en-US" sz="1150" dirty="0"/>
          </a:p>
        </p:txBody>
      </p:sp>
      <p:sp>
        <p:nvSpPr>
          <p:cNvPr id="16" name="Text 12"/>
          <p:cNvSpPr/>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
        <p:nvSpPr>
          <p:cNvPr id="17" name="Text 13"/>
          <p:cNvSpPr/>
          <p:nvPr/>
        </p:nvSpPr>
        <p:spPr>
          <a:xfrm>
            <a:off x="502920" y="6446520"/>
            <a:ext cx="3657600" cy="274320"/>
          </a:xfrm>
          <a:prstGeom prst="rect">
            <a:avLst/>
          </a:prstGeom>
          <a:noFill/>
          <a:ln/>
        </p:spPr>
        <p:txBody>
          <a:bodyPr wrap="square" lIns="0" tIns="0" rIns="0" bIns="0" rtlCol="0" anchor="ctr"/>
          <a:lstStyle/>
          <a:p>
            <a:pPr indent="0" marL="0">
              <a:buNone/>
            </a:pPr>
            <a:r>
              <a:rPr lang="en-US" sz="900" b="1" spc="150" kern="0" dirty="0">
                <a:solidFill>
                  <a:srgbClr val="64748B"/>
                </a:solidFill>
                <a:latin typeface="Calibri" pitchFamily="34" charset="0"/>
                <a:ea typeface="Calibri" pitchFamily="34" charset="-122"/>
                <a:cs typeface="Calibri" pitchFamily="34" charset="-120"/>
              </a:rPr>
              <a:t>TERRAFORM BACKENDS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65A82"/>
          </a:solidFill>
          <a:ln/>
        </p:spPr>
      </p:sp>
      <p:pic>
        <p:nvPicPr>
          <p:cNvPr id="3" name="Image 0" descr="preencoded.png">    </p:cNvPr>
          <p:cNvPicPr>
            <a:picLocks noChangeAspect="1"/>
          </p:cNvPicPr>
          <p:nvPr/>
        </p:nvPicPr>
        <p:blipFill>
          <a:blip r:embed="rId1"/>
          <a:stretch>
            <a:fillRect/>
          </a:stretch>
        </p:blipFill>
        <p:spPr>
          <a:xfrm>
            <a:off x="640080" y="594360"/>
            <a:ext cx="292608" cy="292608"/>
          </a:xfrm>
          <a:prstGeom prst="rect">
            <a:avLst/>
          </a:prstGeom>
        </p:spPr>
      </p:pic>
      <p:sp>
        <p:nvSpPr>
          <p:cNvPr id="4" name="Text 1"/>
          <p:cNvSpPr/>
          <p:nvPr/>
        </p:nvSpPr>
        <p:spPr>
          <a:xfrm>
            <a:off x="1234440" y="384048"/>
            <a:ext cx="73152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9.5 HANDS-ON SCENARIO</a:t>
            </a:r>
            <a:endParaRPr lang="en-US" sz="1200" dirty="0"/>
          </a:p>
        </p:txBody>
      </p:sp>
      <p:sp>
        <p:nvSpPr>
          <p:cNvPr id="5" name="Text 2"/>
          <p:cNvSpPr/>
          <p:nvPr/>
        </p:nvSpPr>
        <p:spPr>
          <a:xfrm>
            <a:off x="1234440" y="621792"/>
            <a:ext cx="9601200" cy="50292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Migrating Local State to S3 + DynamoDB</a:t>
            </a:r>
            <a:endParaRPr lang="en-US" sz="2800" dirty="0"/>
          </a:p>
        </p:txBody>
      </p:sp>
      <p:sp>
        <p:nvSpPr>
          <p:cNvPr id="6" name="Shape 3"/>
          <p:cNvSpPr/>
          <p:nvPr/>
        </p:nvSpPr>
        <p:spPr>
          <a:xfrm>
            <a:off x="502920" y="1508760"/>
            <a:ext cx="2148840" cy="4434840"/>
          </a:xfrm>
          <a:prstGeom prst="roundRect">
            <a:avLst>
              <a:gd name="adj" fmla="val 4255"/>
            </a:avLst>
          </a:prstGeom>
          <a:solidFill>
            <a:srgbClr val="EFF6F9"/>
          </a:solidFill>
          <a:ln/>
          <a:effectLst>
            <a:outerShdw sx="100000" sy="100000" kx="0" ky="0" algn="bl" rotWithShape="0" blurRad="76200" dist="25400" dir="2700000">
              <a:srgbClr val="000000">
                <a:alpha val="10000"/>
              </a:srgbClr>
            </a:outerShdw>
          </a:effectLst>
        </p:spPr>
      </p:sp>
      <p:sp>
        <p:nvSpPr>
          <p:cNvPr id="7" name="Shape 4"/>
          <p:cNvSpPr/>
          <p:nvPr/>
        </p:nvSpPr>
        <p:spPr>
          <a:xfrm>
            <a:off x="1321308" y="1709928"/>
            <a:ext cx="512064" cy="512064"/>
          </a:xfrm>
          <a:prstGeom prst="ellipse">
            <a:avLst/>
          </a:prstGeom>
          <a:solidFill>
            <a:srgbClr val="065A82"/>
          </a:solidFill>
          <a:ln/>
        </p:spPr>
      </p:sp>
      <p:sp>
        <p:nvSpPr>
          <p:cNvPr id="8" name="Text 5"/>
          <p:cNvSpPr/>
          <p:nvPr/>
        </p:nvSpPr>
        <p:spPr>
          <a:xfrm>
            <a:off x="1321308" y="170992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6"/>
          <p:cNvSpPr/>
          <p:nvPr/>
        </p:nvSpPr>
        <p:spPr>
          <a:xfrm>
            <a:off x="612648" y="2331720"/>
            <a:ext cx="1929384" cy="502920"/>
          </a:xfrm>
          <a:prstGeom prst="rect">
            <a:avLst/>
          </a:prstGeom>
          <a:noFill/>
          <a:ln/>
        </p:spPr>
        <p:txBody>
          <a:bodyPr wrap="square" lIns="0" tIns="0" rIns="0" bIns="0" rtlCol="0" anchor="ctr"/>
          <a:lstStyle/>
          <a:p>
            <a:pPr algn="ctr" indent="0" marL="0">
              <a:buNone/>
            </a:pPr>
            <a:r>
              <a:rPr lang="en-US" sz="1300" b="1" dirty="0">
                <a:solidFill>
                  <a:srgbClr val="1E293B"/>
                </a:solidFill>
                <a:latin typeface="Cambria" pitchFamily="34" charset="0"/>
                <a:ea typeface="Cambria" pitchFamily="34" charset="-122"/>
                <a:cs typeface="Cambria" pitchFamily="34" charset="-120"/>
              </a:rPr>
              <a:t>Initialize locally</a:t>
            </a:r>
            <a:endParaRPr lang="en-US" sz="1300" dirty="0"/>
          </a:p>
        </p:txBody>
      </p:sp>
      <p:sp>
        <p:nvSpPr>
          <p:cNvPr id="10" name="Shape 7"/>
          <p:cNvSpPr/>
          <p:nvPr/>
        </p:nvSpPr>
        <p:spPr>
          <a:xfrm>
            <a:off x="612648" y="2862072"/>
            <a:ext cx="1929384" cy="1417320"/>
          </a:xfrm>
          <a:prstGeom prst="roundRect">
            <a:avLst>
              <a:gd name="adj" fmla="val 5161"/>
            </a:avLst>
          </a:prstGeom>
          <a:solidFill>
            <a:srgbClr val="10233A"/>
          </a:solidFill>
          <a:ln/>
          <a:effectLst>
            <a:outerShdw sx="100000" sy="100000" kx="0" ky="0" algn="bl" rotWithShape="0" blurRad="101600" dist="38100" dir="5400000">
              <a:srgbClr val="000000">
                <a:alpha val="18000"/>
              </a:srgbClr>
            </a:outerShdw>
          </a:effectLst>
        </p:spPr>
      </p:sp>
      <p:sp>
        <p:nvSpPr>
          <p:cNvPr id="11" name="Text 8"/>
          <p:cNvSpPr/>
          <p:nvPr/>
        </p:nvSpPr>
        <p:spPr>
          <a:xfrm>
            <a:off x="841248" y="3026664"/>
            <a:ext cx="1472184" cy="1088136"/>
          </a:xfrm>
          <a:prstGeom prst="rect">
            <a:avLst/>
          </a:prstGeom>
          <a:noFill/>
          <a:ln/>
        </p:spPr>
        <p:txBody>
          <a:bodyPr wrap="square" lIns="0" tIns="0" rIns="0" bIns="0" rtlCol="0" anchor="t"/>
          <a:lstStyle/>
          <a:p>
            <a:pPr indent="0" marL="0">
              <a:lnSpc>
                <a:spcPct val="115000"/>
              </a:lnSpc>
              <a:buNone/>
            </a:pPr>
            <a:r>
              <a:rPr lang="en-US" sz="900" dirty="0">
                <a:solidFill>
                  <a:srgbClr val="D9E8EE"/>
                </a:solidFill>
                <a:latin typeface="Courier New" pitchFamily="34" charset="0"/>
                <a:ea typeface="Courier New" pitchFamily="34" charset="-122"/>
                <a:cs typeface="Courier New" pitchFamily="34" charset="-120"/>
              </a:rPr>
              <a:t>terraform init</a:t>
            </a:r>
            <a:endParaRPr lang="en-US" sz="900" dirty="0"/>
          </a:p>
          <a:p>
            <a:pPr indent="0" marL="0">
              <a:lnSpc>
                <a:spcPct val="115000"/>
              </a:lnSpc>
              <a:buNone/>
            </a:pPr>
            <a:r>
              <a:rPr lang="en-US" sz="900" dirty="0">
                <a:solidFill>
                  <a:srgbClr val="D9E8EE"/>
                </a:solidFill>
                <a:latin typeface="Courier New" pitchFamily="34" charset="0"/>
                <a:ea typeface="Courier New" pitchFamily="34" charset="-122"/>
                <a:cs typeface="Courier New" pitchFamily="34" charset="-120"/>
              </a:rPr>
              <a:t>terraform apply -auto-approve</a:t>
            </a:r>
            <a:endParaRPr lang="en-US" sz="900" dirty="0"/>
          </a:p>
        </p:txBody>
      </p:sp>
      <p:sp>
        <p:nvSpPr>
          <p:cNvPr id="12" name="Text 9"/>
          <p:cNvSpPr/>
          <p:nvPr/>
        </p:nvSpPr>
        <p:spPr>
          <a:xfrm>
            <a:off x="612648" y="4389120"/>
            <a:ext cx="1929384" cy="11887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Creates infrastructure; state saved locally.</a:t>
            </a:r>
            <a:endParaRPr lang="en-US" sz="1050" dirty="0"/>
          </a:p>
        </p:txBody>
      </p:sp>
      <p:sp>
        <p:nvSpPr>
          <p:cNvPr id="13" name="Text 10"/>
          <p:cNvSpPr/>
          <p:nvPr/>
        </p:nvSpPr>
        <p:spPr>
          <a:xfrm>
            <a:off x="2670048" y="3337560"/>
            <a:ext cx="164592" cy="365760"/>
          </a:xfrm>
          <a:prstGeom prst="rect">
            <a:avLst/>
          </a:prstGeom>
          <a:noFill/>
          <a:ln/>
        </p:spPr>
        <p:txBody>
          <a:bodyPr wrap="square" lIns="0" tIns="0" rIns="0" bIns="0" rtlCol="0" anchor="ctr"/>
          <a:lstStyle/>
          <a:p>
            <a:pPr algn="ctr" indent="0" marL="0">
              <a:buNone/>
            </a:pPr>
            <a:r>
              <a:rPr lang="en-US" sz="1800" b="1" dirty="0">
                <a:solidFill>
                  <a:srgbClr val="1C7293"/>
                </a:solidFill>
                <a:latin typeface="Calibri" pitchFamily="34" charset="0"/>
                <a:ea typeface="Calibri" pitchFamily="34" charset="-122"/>
                <a:cs typeface="Calibri" pitchFamily="34" charset="-120"/>
              </a:rPr>
              <a:t>›</a:t>
            </a:r>
            <a:endParaRPr lang="en-US" sz="1800" dirty="0"/>
          </a:p>
        </p:txBody>
      </p:sp>
      <p:sp>
        <p:nvSpPr>
          <p:cNvPr id="14" name="Shape 11"/>
          <p:cNvSpPr/>
          <p:nvPr/>
        </p:nvSpPr>
        <p:spPr>
          <a:xfrm>
            <a:off x="2798064" y="1508760"/>
            <a:ext cx="2148840" cy="4434840"/>
          </a:xfrm>
          <a:prstGeom prst="roundRect">
            <a:avLst>
              <a:gd name="adj" fmla="val 4255"/>
            </a:avLst>
          </a:prstGeom>
          <a:solidFill>
            <a:srgbClr val="EFF6F9"/>
          </a:solidFill>
          <a:ln/>
          <a:effectLst>
            <a:outerShdw sx="100000" sy="100000" kx="0" ky="0" algn="bl" rotWithShape="0" blurRad="76200" dist="25400" dir="2700000">
              <a:srgbClr val="000000">
                <a:alpha val="10000"/>
              </a:srgbClr>
            </a:outerShdw>
          </a:effectLst>
        </p:spPr>
      </p:sp>
      <p:sp>
        <p:nvSpPr>
          <p:cNvPr id="15" name="Shape 12"/>
          <p:cNvSpPr/>
          <p:nvPr/>
        </p:nvSpPr>
        <p:spPr>
          <a:xfrm>
            <a:off x="3616452" y="1709928"/>
            <a:ext cx="512064" cy="512064"/>
          </a:xfrm>
          <a:prstGeom prst="ellipse">
            <a:avLst/>
          </a:prstGeom>
          <a:solidFill>
            <a:srgbClr val="065A82"/>
          </a:solidFill>
          <a:ln/>
        </p:spPr>
      </p:sp>
      <p:sp>
        <p:nvSpPr>
          <p:cNvPr id="16" name="Text 13"/>
          <p:cNvSpPr/>
          <p:nvPr/>
        </p:nvSpPr>
        <p:spPr>
          <a:xfrm>
            <a:off x="3616452" y="170992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7" name="Text 14"/>
          <p:cNvSpPr/>
          <p:nvPr/>
        </p:nvSpPr>
        <p:spPr>
          <a:xfrm>
            <a:off x="2907792" y="2331720"/>
            <a:ext cx="1929384" cy="502920"/>
          </a:xfrm>
          <a:prstGeom prst="rect">
            <a:avLst/>
          </a:prstGeom>
          <a:noFill/>
          <a:ln/>
        </p:spPr>
        <p:txBody>
          <a:bodyPr wrap="square" lIns="0" tIns="0" rIns="0" bIns="0" rtlCol="0" anchor="ctr"/>
          <a:lstStyle/>
          <a:p>
            <a:pPr algn="ctr" indent="0" marL="0">
              <a:buNone/>
            </a:pPr>
            <a:r>
              <a:rPr lang="en-US" sz="1300" b="1" dirty="0">
                <a:solidFill>
                  <a:srgbClr val="1E293B"/>
                </a:solidFill>
                <a:latin typeface="Cambria" pitchFamily="34" charset="0"/>
                <a:ea typeface="Cambria" pitchFamily="34" charset="-122"/>
                <a:cs typeface="Cambria" pitchFamily="34" charset="-120"/>
              </a:rPr>
              <a:t>Add backend.tf</a:t>
            </a:r>
            <a:endParaRPr lang="en-US" sz="1300" dirty="0"/>
          </a:p>
        </p:txBody>
      </p:sp>
      <p:sp>
        <p:nvSpPr>
          <p:cNvPr id="18" name="Shape 15"/>
          <p:cNvSpPr/>
          <p:nvPr/>
        </p:nvSpPr>
        <p:spPr>
          <a:xfrm>
            <a:off x="2907792" y="2862072"/>
            <a:ext cx="1929384" cy="1417320"/>
          </a:xfrm>
          <a:prstGeom prst="roundRect">
            <a:avLst>
              <a:gd name="adj" fmla="val 5161"/>
            </a:avLst>
          </a:prstGeom>
          <a:solidFill>
            <a:srgbClr val="10233A"/>
          </a:solidFill>
          <a:ln/>
          <a:effectLst>
            <a:outerShdw sx="100000" sy="100000" kx="0" ky="0" algn="bl" rotWithShape="0" blurRad="101600" dist="38100" dir="5400000">
              <a:srgbClr val="000000">
                <a:alpha val="18000"/>
              </a:srgbClr>
            </a:outerShdw>
          </a:effectLst>
        </p:spPr>
      </p:sp>
      <p:sp>
        <p:nvSpPr>
          <p:cNvPr id="19" name="Text 16"/>
          <p:cNvSpPr/>
          <p:nvPr/>
        </p:nvSpPr>
        <p:spPr>
          <a:xfrm>
            <a:off x="3136392" y="3026664"/>
            <a:ext cx="1472184" cy="1088136"/>
          </a:xfrm>
          <a:prstGeom prst="rect">
            <a:avLst/>
          </a:prstGeom>
          <a:noFill/>
          <a:ln/>
        </p:spPr>
        <p:txBody>
          <a:bodyPr wrap="square" lIns="0" tIns="0" rIns="0" bIns="0" rtlCol="0" anchor="t"/>
          <a:lstStyle/>
          <a:p>
            <a:pPr indent="0" marL="0">
              <a:lnSpc>
                <a:spcPct val="115000"/>
              </a:lnSpc>
              <a:buNone/>
            </a:pPr>
            <a:r>
              <a:rPr lang="en-US" sz="900" dirty="0">
                <a:solidFill>
                  <a:srgbClr val="D9E8EE"/>
                </a:solidFill>
                <a:latin typeface="Courier New" pitchFamily="34" charset="0"/>
                <a:ea typeface="Courier New" pitchFamily="34" charset="-122"/>
                <a:cs typeface="Courier New" pitchFamily="34" charset="-120"/>
              </a:rPr>
              <a:t>backend "s3" {</a:t>
            </a:r>
            <a:endParaRPr lang="en-US" sz="900" dirty="0"/>
          </a:p>
          <a:p>
            <a:pPr indent="0" marL="0">
              <a:lnSpc>
                <a:spcPct val="115000"/>
              </a:lnSpc>
              <a:buNone/>
            </a:pPr>
            <a:r>
              <a:rPr lang="en-US" sz="900" dirty="0">
                <a:solidFill>
                  <a:srgbClr val="D9E8EE"/>
                </a:solidFill>
                <a:latin typeface="Courier New" pitchFamily="34" charset="0"/>
                <a:ea typeface="Courier New" pitchFamily="34" charset="-122"/>
                <a:cs typeface="Courier New" pitchFamily="34" charset="-120"/>
              </a:rPr>
              <a:t>  ...</a:t>
            </a:r>
            <a:endParaRPr lang="en-US" sz="900" dirty="0"/>
          </a:p>
          <a:p>
            <a:pPr indent="0" marL="0">
              <a:lnSpc>
                <a:spcPct val="115000"/>
              </a:lnSpc>
              <a:buNone/>
            </a:pPr>
            <a:r>
              <a:rPr lang="en-US" sz="900" dirty="0">
                <a:solidFill>
                  <a:srgbClr val="D9E8EE"/>
                </a:solidFill>
                <a:latin typeface="Courier New" pitchFamily="34" charset="0"/>
                <a:ea typeface="Courier New" pitchFamily="34" charset="-122"/>
                <a:cs typeface="Courier New" pitchFamily="34" charset="-120"/>
              </a:rPr>
              <a:t>  dynamodb_table = "terraform-lock"</a:t>
            </a:r>
            <a:endParaRPr lang="en-US" sz="900" dirty="0"/>
          </a:p>
          <a:p>
            <a:pPr indent="0" marL="0">
              <a:lnSpc>
                <a:spcPct val="115000"/>
              </a:lnSpc>
              <a:buNone/>
            </a:pPr>
            <a:r>
              <a:rPr lang="en-US" sz="900" dirty="0">
                <a:solidFill>
                  <a:srgbClr val="D9E8EE"/>
                </a:solidFill>
                <a:latin typeface="Courier New" pitchFamily="34" charset="0"/>
                <a:ea typeface="Courier New" pitchFamily="34" charset="-122"/>
                <a:cs typeface="Courier New" pitchFamily="34" charset="-120"/>
              </a:rPr>
              <a:t>}</a:t>
            </a:r>
            <a:endParaRPr lang="en-US" sz="900" dirty="0"/>
          </a:p>
        </p:txBody>
      </p:sp>
      <p:sp>
        <p:nvSpPr>
          <p:cNvPr id="20" name="Text 17"/>
          <p:cNvSpPr/>
          <p:nvPr/>
        </p:nvSpPr>
        <p:spPr>
          <a:xfrm>
            <a:off x="2907792" y="4389120"/>
            <a:ext cx="1929384" cy="11887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Declare the S3 + DynamoDB remote backend.</a:t>
            </a:r>
            <a:endParaRPr lang="en-US" sz="1050" dirty="0"/>
          </a:p>
        </p:txBody>
      </p:sp>
      <p:sp>
        <p:nvSpPr>
          <p:cNvPr id="21" name="Text 18"/>
          <p:cNvSpPr/>
          <p:nvPr/>
        </p:nvSpPr>
        <p:spPr>
          <a:xfrm>
            <a:off x="4965192" y="3337560"/>
            <a:ext cx="164592" cy="365760"/>
          </a:xfrm>
          <a:prstGeom prst="rect">
            <a:avLst/>
          </a:prstGeom>
          <a:noFill/>
          <a:ln/>
        </p:spPr>
        <p:txBody>
          <a:bodyPr wrap="square" lIns="0" tIns="0" rIns="0" bIns="0" rtlCol="0" anchor="ctr"/>
          <a:lstStyle/>
          <a:p>
            <a:pPr algn="ctr" indent="0" marL="0">
              <a:buNone/>
            </a:pPr>
            <a:r>
              <a:rPr lang="en-US" sz="1800" b="1" dirty="0">
                <a:solidFill>
                  <a:srgbClr val="1C7293"/>
                </a:solidFill>
                <a:latin typeface="Calibri" pitchFamily="34" charset="0"/>
                <a:ea typeface="Calibri" pitchFamily="34" charset="-122"/>
                <a:cs typeface="Calibri" pitchFamily="34" charset="-120"/>
              </a:rPr>
              <a:t>›</a:t>
            </a:r>
            <a:endParaRPr lang="en-US" sz="1800" dirty="0"/>
          </a:p>
        </p:txBody>
      </p:sp>
      <p:sp>
        <p:nvSpPr>
          <p:cNvPr id="22" name="Shape 19"/>
          <p:cNvSpPr/>
          <p:nvPr/>
        </p:nvSpPr>
        <p:spPr>
          <a:xfrm>
            <a:off x="5093208" y="1508760"/>
            <a:ext cx="2148840" cy="4434840"/>
          </a:xfrm>
          <a:prstGeom prst="roundRect">
            <a:avLst>
              <a:gd name="adj" fmla="val 4255"/>
            </a:avLst>
          </a:prstGeom>
          <a:solidFill>
            <a:srgbClr val="EFF6F9"/>
          </a:solidFill>
          <a:ln/>
          <a:effectLst>
            <a:outerShdw sx="100000" sy="100000" kx="0" ky="0" algn="bl" rotWithShape="0" blurRad="76200" dist="25400" dir="2700000">
              <a:srgbClr val="000000">
                <a:alpha val="10000"/>
              </a:srgbClr>
            </a:outerShdw>
          </a:effectLst>
        </p:spPr>
      </p:sp>
      <p:sp>
        <p:nvSpPr>
          <p:cNvPr id="23" name="Shape 20"/>
          <p:cNvSpPr/>
          <p:nvPr/>
        </p:nvSpPr>
        <p:spPr>
          <a:xfrm>
            <a:off x="5911596" y="1709928"/>
            <a:ext cx="512064" cy="512064"/>
          </a:xfrm>
          <a:prstGeom prst="ellipse">
            <a:avLst/>
          </a:prstGeom>
          <a:solidFill>
            <a:srgbClr val="065A82"/>
          </a:solidFill>
          <a:ln/>
        </p:spPr>
      </p:sp>
      <p:sp>
        <p:nvSpPr>
          <p:cNvPr id="24" name="Text 21"/>
          <p:cNvSpPr/>
          <p:nvPr/>
        </p:nvSpPr>
        <p:spPr>
          <a:xfrm>
            <a:off x="5911596" y="170992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5" name="Text 22"/>
          <p:cNvSpPr/>
          <p:nvPr/>
        </p:nvSpPr>
        <p:spPr>
          <a:xfrm>
            <a:off x="5202936" y="2331720"/>
            <a:ext cx="1929384" cy="502920"/>
          </a:xfrm>
          <a:prstGeom prst="rect">
            <a:avLst/>
          </a:prstGeom>
          <a:noFill/>
          <a:ln/>
        </p:spPr>
        <p:txBody>
          <a:bodyPr wrap="square" lIns="0" tIns="0" rIns="0" bIns="0" rtlCol="0" anchor="ctr"/>
          <a:lstStyle/>
          <a:p>
            <a:pPr algn="ctr" indent="0" marL="0">
              <a:buNone/>
            </a:pPr>
            <a:r>
              <a:rPr lang="en-US" sz="1300" b="1" dirty="0">
                <a:solidFill>
                  <a:srgbClr val="1E293B"/>
                </a:solidFill>
                <a:latin typeface="Cambria" pitchFamily="34" charset="0"/>
                <a:ea typeface="Cambria" pitchFamily="34" charset="-122"/>
                <a:cs typeface="Cambria" pitchFamily="34" charset="-120"/>
              </a:rPr>
              <a:t>Migrate state</a:t>
            </a:r>
            <a:endParaRPr lang="en-US" sz="1300" dirty="0"/>
          </a:p>
        </p:txBody>
      </p:sp>
      <p:sp>
        <p:nvSpPr>
          <p:cNvPr id="26" name="Shape 23"/>
          <p:cNvSpPr/>
          <p:nvPr/>
        </p:nvSpPr>
        <p:spPr>
          <a:xfrm>
            <a:off x="5202936" y="2862072"/>
            <a:ext cx="1929384" cy="1417320"/>
          </a:xfrm>
          <a:prstGeom prst="roundRect">
            <a:avLst>
              <a:gd name="adj" fmla="val 5161"/>
            </a:avLst>
          </a:prstGeom>
          <a:solidFill>
            <a:srgbClr val="10233A"/>
          </a:solidFill>
          <a:ln/>
          <a:effectLst>
            <a:outerShdw sx="100000" sy="100000" kx="0" ky="0" algn="bl" rotWithShape="0" blurRad="101600" dist="38100" dir="5400000">
              <a:srgbClr val="000000">
                <a:alpha val="18000"/>
              </a:srgbClr>
            </a:outerShdw>
          </a:effectLst>
        </p:spPr>
      </p:sp>
      <p:sp>
        <p:nvSpPr>
          <p:cNvPr id="27" name="Text 24"/>
          <p:cNvSpPr/>
          <p:nvPr/>
        </p:nvSpPr>
        <p:spPr>
          <a:xfrm>
            <a:off x="5431536" y="3026664"/>
            <a:ext cx="1472184" cy="1088136"/>
          </a:xfrm>
          <a:prstGeom prst="rect">
            <a:avLst/>
          </a:prstGeom>
          <a:noFill/>
          <a:ln/>
        </p:spPr>
        <p:txBody>
          <a:bodyPr wrap="square" lIns="0" tIns="0" rIns="0" bIns="0" rtlCol="0" anchor="t"/>
          <a:lstStyle/>
          <a:p>
            <a:pPr indent="0" marL="0">
              <a:lnSpc>
                <a:spcPct val="115000"/>
              </a:lnSpc>
              <a:buNone/>
            </a:pPr>
            <a:r>
              <a:rPr lang="en-US" sz="900" dirty="0">
                <a:solidFill>
                  <a:srgbClr val="D9E8EE"/>
                </a:solidFill>
                <a:latin typeface="Courier New" pitchFamily="34" charset="0"/>
                <a:ea typeface="Courier New" pitchFamily="34" charset="-122"/>
                <a:cs typeface="Courier New" pitchFamily="34" charset="-120"/>
              </a:rPr>
              <a:t>terraform init -migrate-state</a:t>
            </a:r>
            <a:endParaRPr lang="en-US" sz="900" dirty="0"/>
          </a:p>
        </p:txBody>
      </p:sp>
      <p:sp>
        <p:nvSpPr>
          <p:cNvPr id="28" name="Text 25"/>
          <p:cNvSpPr/>
          <p:nvPr/>
        </p:nvSpPr>
        <p:spPr>
          <a:xfrm>
            <a:off x="5202936" y="4389120"/>
            <a:ext cx="1929384" cy="11887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Terraform detects the change and migrates state.</a:t>
            </a:r>
            <a:endParaRPr lang="en-US" sz="1050" dirty="0"/>
          </a:p>
        </p:txBody>
      </p:sp>
      <p:sp>
        <p:nvSpPr>
          <p:cNvPr id="29" name="Text 26"/>
          <p:cNvSpPr/>
          <p:nvPr/>
        </p:nvSpPr>
        <p:spPr>
          <a:xfrm>
            <a:off x="7260336" y="3337560"/>
            <a:ext cx="164592" cy="365760"/>
          </a:xfrm>
          <a:prstGeom prst="rect">
            <a:avLst/>
          </a:prstGeom>
          <a:noFill/>
          <a:ln/>
        </p:spPr>
        <p:txBody>
          <a:bodyPr wrap="square" lIns="0" tIns="0" rIns="0" bIns="0" rtlCol="0" anchor="ctr"/>
          <a:lstStyle/>
          <a:p>
            <a:pPr algn="ctr" indent="0" marL="0">
              <a:buNone/>
            </a:pPr>
            <a:r>
              <a:rPr lang="en-US" sz="1800" b="1" dirty="0">
                <a:solidFill>
                  <a:srgbClr val="1C7293"/>
                </a:solidFill>
                <a:latin typeface="Calibri" pitchFamily="34" charset="0"/>
                <a:ea typeface="Calibri" pitchFamily="34" charset="-122"/>
                <a:cs typeface="Calibri" pitchFamily="34" charset="-120"/>
              </a:rPr>
              <a:t>›</a:t>
            </a:r>
            <a:endParaRPr lang="en-US" sz="1800" dirty="0"/>
          </a:p>
        </p:txBody>
      </p:sp>
      <p:sp>
        <p:nvSpPr>
          <p:cNvPr id="30" name="Shape 27"/>
          <p:cNvSpPr/>
          <p:nvPr/>
        </p:nvSpPr>
        <p:spPr>
          <a:xfrm>
            <a:off x="7388352" y="1508760"/>
            <a:ext cx="2148840" cy="4434840"/>
          </a:xfrm>
          <a:prstGeom prst="roundRect">
            <a:avLst>
              <a:gd name="adj" fmla="val 4255"/>
            </a:avLst>
          </a:prstGeom>
          <a:solidFill>
            <a:srgbClr val="EFF6F9"/>
          </a:solidFill>
          <a:ln/>
          <a:effectLst>
            <a:outerShdw sx="100000" sy="100000" kx="0" ky="0" algn="bl" rotWithShape="0" blurRad="76200" dist="25400" dir="2700000">
              <a:srgbClr val="000000">
                <a:alpha val="10000"/>
              </a:srgbClr>
            </a:outerShdw>
          </a:effectLst>
        </p:spPr>
      </p:sp>
      <p:sp>
        <p:nvSpPr>
          <p:cNvPr id="31" name="Shape 28"/>
          <p:cNvSpPr/>
          <p:nvPr/>
        </p:nvSpPr>
        <p:spPr>
          <a:xfrm>
            <a:off x="8206740" y="1709928"/>
            <a:ext cx="512064" cy="512064"/>
          </a:xfrm>
          <a:prstGeom prst="ellipse">
            <a:avLst/>
          </a:prstGeom>
          <a:solidFill>
            <a:srgbClr val="065A82"/>
          </a:solidFill>
          <a:ln/>
        </p:spPr>
      </p:sp>
      <p:sp>
        <p:nvSpPr>
          <p:cNvPr id="32" name="Text 29"/>
          <p:cNvSpPr/>
          <p:nvPr/>
        </p:nvSpPr>
        <p:spPr>
          <a:xfrm>
            <a:off x="8206740" y="170992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33" name="Text 30"/>
          <p:cNvSpPr/>
          <p:nvPr/>
        </p:nvSpPr>
        <p:spPr>
          <a:xfrm>
            <a:off x="7498080" y="2331720"/>
            <a:ext cx="1929384" cy="502920"/>
          </a:xfrm>
          <a:prstGeom prst="rect">
            <a:avLst/>
          </a:prstGeom>
          <a:noFill/>
          <a:ln/>
        </p:spPr>
        <p:txBody>
          <a:bodyPr wrap="square" lIns="0" tIns="0" rIns="0" bIns="0" rtlCol="0" anchor="ctr"/>
          <a:lstStyle/>
          <a:p>
            <a:pPr algn="ctr" indent="0" marL="0">
              <a:buNone/>
            </a:pPr>
            <a:r>
              <a:rPr lang="en-US" sz="1300" b="1" dirty="0">
                <a:solidFill>
                  <a:srgbClr val="1E293B"/>
                </a:solidFill>
                <a:latin typeface="Cambria" pitchFamily="34" charset="0"/>
                <a:ea typeface="Cambria" pitchFamily="34" charset="-122"/>
                <a:cs typeface="Cambria" pitchFamily="34" charset="-120"/>
              </a:rPr>
              <a:t>Verify in S3</a:t>
            </a:r>
            <a:endParaRPr lang="en-US" sz="1300" dirty="0"/>
          </a:p>
        </p:txBody>
      </p:sp>
      <p:sp>
        <p:nvSpPr>
          <p:cNvPr id="34" name="Shape 31"/>
          <p:cNvSpPr/>
          <p:nvPr/>
        </p:nvSpPr>
        <p:spPr>
          <a:xfrm>
            <a:off x="7498080" y="2862072"/>
            <a:ext cx="1929384" cy="1417320"/>
          </a:xfrm>
          <a:prstGeom prst="roundRect">
            <a:avLst>
              <a:gd name="adj" fmla="val 5161"/>
            </a:avLst>
          </a:prstGeom>
          <a:solidFill>
            <a:srgbClr val="10233A"/>
          </a:solidFill>
          <a:ln/>
          <a:effectLst>
            <a:outerShdw sx="100000" sy="100000" kx="0" ky="0" algn="bl" rotWithShape="0" blurRad="101600" dist="38100" dir="5400000">
              <a:srgbClr val="000000">
                <a:alpha val="18000"/>
              </a:srgbClr>
            </a:outerShdw>
          </a:effectLst>
        </p:spPr>
      </p:sp>
      <p:sp>
        <p:nvSpPr>
          <p:cNvPr id="35" name="Text 32"/>
          <p:cNvSpPr/>
          <p:nvPr/>
        </p:nvSpPr>
        <p:spPr>
          <a:xfrm>
            <a:off x="7726680" y="3026664"/>
            <a:ext cx="1472184" cy="1088136"/>
          </a:xfrm>
          <a:prstGeom prst="rect">
            <a:avLst/>
          </a:prstGeom>
          <a:noFill/>
          <a:ln/>
        </p:spPr>
        <p:txBody>
          <a:bodyPr wrap="square" lIns="0" tIns="0" rIns="0" bIns="0" rtlCol="0" anchor="t"/>
          <a:lstStyle/>
          <a:p>
            <a:pPr indent="0" marL="0">
              <a:lnSpc>
                <a:spcPct val="115000"/>
              </a:lnSpc>
              <a:buNone/>
            </a:pPr>
            <a:r>
              <a:rPr lang="en-US" sz="900" dirty="0">
                <a:solidFill>
                  <a:srgbClr val="D9E8EE"/>
                </a:solidFill>
                <a:latin typeface="Courier New" pitchFamily="34" charset="0"/>
                <a:ea typeface="Courier New" pitchFamily="34" charset="-122"/>
                <a:cs typeface="Courier New" pitchFamily="34" charset="-120"/>
              </a:rPr>
              <a:t>aws s3 ls s3://my-terraform-state-bucket</a:t>
            </a:r>
            <a:endParaRPr lang="en-US" sz="900" dirty="0"/>
          </a:p>
        </p:txBody>
      </p:sp>
      <p:sp>
        <p:nvSpPr>
          <p:cNvPr id="36" name="Text 33"/>
          <p:cNvSpPr/>
          <p:nvPr/>
        </p:nvSpPr>
        <p:spPr>
          <a:xfrm>
            <a:off x="7498080" y="4389120"/>
            <a:ext cx="1929384" cy="11887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Confirm terraform.tfstate now lives in the bucket.</a:t>
            </a:r>
            <a:endParaRPr lang="en-US" sz="1050" dirty="0"/>
          </a:p>
        </p:txBody>
      </p:sp>
      <p:sp>
        <p:nvSpPr>
          <p:cNvPr id="37" name="Text 34"/>
          <p:cNvSpPr/>
          <p:nvPr/>
        </p:nvSpPr>
        <p:spPr>
          <a:xfrm>
            <a:off x="9555480" y="3337560"/>
            <a:ext cx="164592" cy="365760"/>
          </a:xfrm>
          <a:prstGeom prst="rect">
            <a:avLst/>
          </a:prstGeom>
          <a:noFill/>
          <a:ln/>
        </p:spPr>
        <p:txBody>
          <a:bodyPr wrap="square" lIns="0" tIns="0" rIns="0" bIns="0" rtlCol="0" anchor="ctr"/>
          <a:lstStyle/>
          <a:p>
            <a:pPr algn="ctr" indent="0" marL="0">
              <a:buNone/>
            </a:pPr>
            <a:r>
              <a:rPr lang="en-US" sz="1800" b="1" dirty="0">
                <a:solidFill>
                  <a:srgbClr val="1C7293"/>
                </a:solidFill>
                <a:latin typeface="Calibri" pitchFamily="34" charset="0"/>
                <a:ea typeface="Calibri" pitchFamily="34" charset="-122"/>
                <a:cs typeface="Calibri" pitchFamily="34" charset="-120"/>
              </a:rPr>
              <a:t>›</a:t>
            </a:r>
            <a:endParaRPr lang="en-US" sz="1800" dirty="0"/>
          </a:p>
        </p:txBody>
      </p:sp>
      <p:sp>
        <p:nvSpPr>
          <p:cNvPr id="38" name="Shape 35"/>
          <p:cNvSpPr/>
          <p:nvPr/>
        </p:nvSpPr>
        <p:spPr>
          <a:xfrm>
            <a:off x="9683496" y="1508760"/>
            <a:ext cx="2148840" cy="4434840"/>
          </a:xfrm>
          <a:prstGeom prst="roundRect">
            <a:avLst>
              <a:gd name="adj" fmla="val 4255"/>
            </a:avLst>
          </a:prstGeom>
          <a:solidFill>
            <a:srgbClr val="EFF6F9"/>
          </a:solidFill>
          <a:ln/>
          <a:effectLst>
            <a:outerShdw sx="100000" sy="100000" kx="0" ky="0" algn="bl" rotWithShape="0" blurRad="76200" dist="25400" dir="2700000">
              <a:srgbClr val="000000">
                <a:alpha val="10000"/>
              </a:srgbClr>
            </a:outerShdw>
          </a:effectLst>
        </p:spPr>
      </p:sp>
      <p:sp>
        <p:nvSpPr>
          <p:cNvPr id="39" name="Shape 36"/>
          <p:cNvSpPr/>
          <p:nvPr/>
        </p:nvSpPr>
        <p:spPr>
          <a:xfrm>
            <a:off x="10501884" y="1709928"/>
            <a:ext cx="512064" cy="512064"/>
          </a:xfrm>
          <a:prstGeom prst="ellipse">
            <a:avLst/>
          </a:prstGeom>
          <a:solidFill>
            <a:srgbClr val="2E9E6B"/>
          </a:solidFill>
          <a:ln/>
        </p:spPr>
      </p:sp>
      <p:sp>
        <p:nvSpPr>
          <p:cNvPr id="40" name="Text 37"/>
          <p:cNvSpPr/>
          <p:nvPr/>
        </p:nvSpPr>
        <p:spPr>
          <a:xfrm>
            <a:off x="10501884" y="170992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41" name="Text 38"/>
          <p:cNvSpPr/>
          <p:nvPr/>
        </p:nvSpPr>
        <p:spPr>
          <a:xfrm>
            <a:off x="9793224" y="2331720"/>
            <a:ext cx="1929384" cy="502920"/>
          </a:xfrm>
          <a:prstGeom prst="rect">
            <a:avLst/>
          </a:prstGeom>
          <a:noFill/>
          <a:ln/>
        </p:spPr>
        <p:txBody>
          <a:bodyPr wrap="square" lIns="0" tIns="0" rIns="0" bIns="0" rtlCol="0" anchor="ctr"/>
          <a:lstStyle/>
          <a:p>
            <a:pPr algn="ctr" indent="0" marL="0">
              <a:buNone/>
            </a:pPr>
            <a:r>
              <a:rPr lang="en-US" sz="1300" b="1" dirty="0">
                <a:solidFill>
                  <a:srgbClr val="1E293B"/>
                </a:solidFill>
                <a:latin typeface="Cambria" pitchFamily="34" charset="0"/>
                <a:ea typeface="Cambria" pitchFamily="34" charset="-122"/>
                <a:cs typeface="Cambria" pitchFamily="34" charset="-120"/>
              </a:rPr>
              <a:t>Apply remotely</a:t>
            </a:r>
            <a:endParaRPr lang="en-US" sz="1300" dirty="0"/>
          </a:p>
        </p:txBody>
      </p:sp>
      <p:sp>
        <p:nvSpPr>
          <p:cNvPr id="42" name="Shape 39"/>
          <p:cNvSpPr/>
          <p:nvPr/>
        </p:nvSpPr>
        <p:spPr>
          <a:xfrm>
            <a:off x="9793224" y="2862072"/>
            <a:ext cx="1929384" cy="1417320"/>
          </a:xfrm>
          <a:prstGeom prst="roundRect">
            <a:avLst>
              <a:gd name="adj" fmla="val 5161"/>
            </a:avLst>
          </a:prstGeom>
          <a:solidFill>
            <a:srgbClr val="10233A"/>
          </a:solidFill>
          <a:ln/>
          <a:effectLst>
            <a:outerShdw sx="100000" sy="100000" kx="0" ky="0" algn="bl" rotWithShape="0" blurRad="101600" dist="38100" dir="5400000">
              <a:srgbClr val="000000">
                <a:alpha val="18000"/>
              </a:srgbClr>
            </a:outerShdw>
          </a:effectLst>
        </p:spPr>
      </p:sp>
      <p:sp>
        <p:nvSpPr>
          <p:cNvPr id="43" name="Text 40"/>
          <p:cNvSpPr/>
          <p:nvPr/>
        </p:nvSpPr>
        <p:spPr>
          <a:xfrm>
            <a:off x="10021824" y="3026664"/>
            <a:ext cx="1472184" cy="1088136"/>
          </a:xfrm>
          <a:prstGeom prst="rect">
            <a:avLst/>
          </a:prstGeom>
          <a:noFill/>
          <a:ln/>
        </p:spPr>
        <p:txBody>
          <a:bodyPr wrap="square" lIns="0" tIns="0" rIns="0" bIns="0" rtlCol="0" anchor="t"/>
          <a:lstStyle/>
          <a:p>
            <a:pPr indent="0" marL="0">
              <a:lnSpc>
                <a:spcPct val="115000"/>
              </a:lnSpc>
              <a:buNone/>
            </a:pPr>
            <a:r>
              <a:rPr lang="en-US" sz="900" dirty="0">
                <a:solidFill>
                  <a:srgbClr val="D9E8EE"/>
                </a:solidFill>
                <a:latin typeface="Courier New" pitchFamily="34" charset="0"/>
                <a:ea typeface="Courier New" pitchFamily="34" charset="-122"/>
                <a:cs typeface="Courier New" pitchFamily="34" charset="-120"/>
              </a:rPr>
              <a:t>terraform apply -auto-approve</a:t>
            </a:r>
            <a:endParaRPr lang="en-US" sz="900" dirty="0"/>
          </a:p>
        </p:txBody>
      </p:sp>
      <p:sp>
        <p:nvSpPr>
          <p:cNvPr id="44" name="Text 41"/>
          <p:cNvSpPr/>
          <p:nvPr/>
        </p:nvSpPr>
        <p:spPr>
          <a:xfrm>
            <a:off x="9793224" y="4389120"/>
            <a:ext cx="1929384" cy="11887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State is now stored and locked remotely.</a:t>
            </a:r>
            <a:endParaRPr lang="en-US" sz="1050" dirty="0"/>
          </a:p>
        </p:txBody>
      </p:sp>
      <p:sp>
        <p:nvSpPr>
          <p:cNvPr id="45" name="Text 42"/>
          <p:cNvSpPr/>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
        <p:nvSpPr>
          <p:cNvPr id="46" name="Text 43"/>
          <p:cNvSpPr/>
          <p:nvPr/>
        </p:nvSpPr>
        <p:spPr>
          <a:xfrm>
            <a:off x="502920" y="6446520"/>
            <a:ext cx="3657600" cy="274320"/>
          </a:xfrm>
          <a:prstGeom prst="rect">
            <a:avLst/>
          </a:prstGeom>
          <a:noFill/>
          <a:ln/>
        </p:spPr>
        <p:txBody>
          <a:bodyPr wrap="square" lIns="0" tIns="0" rIns="0" bIns="0" rtlCol="0" anchor="ctr"/>
          <a:lstStyle/>
          <a:p>
            <a:pPr indent="0" marL="0">
              <a:buNone/>
            </a:pPr>
            <a:r>
              <a:rPr lang="en-US" sz="900" b="1" spc="150" kern="0" dirty="0">
                <a:solidFill>
                  <a:srgbClr val="64748B"/>
                </a:solidFill>
                <a:latin typeface="Calibri" pitchFamily="34" charset="0"/>
                <a:ea typeface="Calibri" pitchFamily="34" charset="-122"/>
                <a:cs typeface="Calibri" pitchFamily="34" charset="-120"/>
              </a:rPr>
              <a:t>TERRAFORM BACKENDS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280160" y="4206240"/>
            <a:ext cx="4114800" cy="4114800"/>
          </a:xfrm>
          <a:prstGeom prst="ellipse">
            <a:avLst/>
          </a:prstGeom>
          <a:solidFill>
            <a:srgbClr val="065A82">
              <a:alpha val="45000"/>
            </a:srgbClr>
          </a:solidFill>
          <a:ln/>
        </p:spPr>
      </p:sp>
      <p:sp>
        <p:nvSpPr>
          <p:cNvPr id="3" name="Shape 1"/>
          <p:cNvSpPr/>
          <p:nvPr/>
        </p:nvSpPr>
        <p:spPr>
          <a:xfrm>
            <a:off x="10789920" y="-1280160"/>
            <a:ext cx="3108960" cy="3108960"/>
          </a:xfrm>
          <a:prstGeom prst="ellipse">
            <a:avLst/>
          </a:prstGeom>
          <a:solidFill>
            <a:srgbClr val="1C7293">
              <a:alpha val="55000"/>
            </a:srgbClr>
          </a:solidFill>
          <a:ln/>
        </p:spPr>
      </p:sp>
      <p:sp>
        <p:nvSpPr>
          <p:cNvPr id="4" name="Shape 2"/>
          <p:cNvSpPr/>
          <p:nvPr/>
        </p:nvSpPr>
        <p:spPr>
          <a:xfrm>
            <a:off x="502920" y="502920"/>
            <a:ext cx="566928" cy="566928"/>
          </a:xfrm>
          <a:prstGeom prst="ellipse">
            <a:avLst/>
          </a:prstGeom>
          <a:solidFill>
            <a:srgbClr val="F2A65A"/>
          </a:solidFill>
          <a:ln/>
        </p:spPr>
      </p:sp>
      <p:pic>
        <p:nvPicPr>
          <p:cNvPr id="5" name="Image 0" descr="preencoded.png">    </p:cNvPr>
          <p:cNvPicPr>
            <a:picLocks noChangeAspect="1"/>
          </p:cNvPicPr>
          <p:nvPr/>
        </p:nvPicPr>
        <p:blipFill>
          <a:blip r:embed="rId1"/>
          <a:stretch>
            <a:fillRect/>
          </a:stretch>
        </p:blipFill>
        <p:spPr>
          <a:xfrm>
            <a:off x="621792" y="621792"/>
            <a:ext cx="329184" cy="329184"/>
          </a:xfrm>
          <a:prstGeom prst="rect">
            <a:avLst/>
          </a:prstGeom>
        </p:spPr>
      </p:pic>
      <p:sp>
        <p:nvSpPr>
          <p:cNvPr id="6" name="Text 3"/>
          <p:cNvSpPr/>
          <p:nvPr/>
        </p:nvSpPr>
        <p:spPr>
          <a:xfrm>
            <a:off x="1234440" y="438912"/>
            <a:ext cx="7315200" cy="274320"/>
          </a:xfrm>
          <a:prstGeom prst="rect">
            <a:avLst/>
          </a:prstGeom>
          <a:noFill/>
          <a:ln/>
        </p:spPr>
        <p:txBody>
          <a:bodyPr wrap="square" lIns="0" tIns="0" rIns="0" bIns="0" rtlCol="0" anchor="ctr"/>
          <a:lstStyle/>
          <a:p>
            <a:pPr indent="0" marL="0">
              <a:buNone/>
            </a:pPr>
            <a:r>
              <a:rPr lang="en-US" sz="1200" b="1" spc="200" kern="0" dirty="0">
                <a:solidFill>
                  <a:srgbClr val="F2A65A"/>
                </a:solidFill>
                <a:latin typeface="Calibri" pitchFamily="34" charset="0"/>
                <a:ea typeface="Calibri" pitchFamily="34" charset="-122"/>
                <a:cs typeface="Calibri" pitchFamily="34" charset="-120"/>
              </a:rPr>
              <a:t>9.6 CHAPTER RECAP</a:t>
            </a:r>
            <a:endParaRPr lang="en-US" sz="1200" dirty="0"/>
          </a:p>
        </p:txBody>
      </p:sp>
      <p:sp>
        <p:nvSpPr>
          <p:cNvPr id="7" name="Text 4"/>
          <p:cNvSpPr/>
          <p:nvPr/>
        </p:nvSpPr>
        <p:spPr>
          <a:xfrm>
            <a:off x="1234440" y="676656"/>
            <a:ext cx="960120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8" name="Shape 5"/>
          <p:cNvSpPr/>
          <p:nvPr/>
        </p:nvSpPr>
        <p:spPr>
          <a:xfrm>
            <a:off x="685800" y="1645920"/>
            <a:ext cx="420624" cy="420624"/>
          </a:xfrm>
          <a:prstGeom prst="ellipse">
            <a:avLst/>
          </a:prstGeom>
          <a:solidFill>
            <a:srgbClr val="1C7293"/>
          </a:solidFill>
          <a:ln/>
        </p:spPr>
      </p:sp>
      <p:pic>
        <p:nvPicPr>
          <p:cNvPr id="9" name="Image 1" descr="preencoded.png">    </p:cNvPr>
          <p:cNvPicPr>
            <a:picLocks noChangeAspect="1"/>
          </p:cNvPicPr>
          <p:nvPr/>
        </p:nvPicPr>
        <p:blipFill>
          <a:blip r:embed="rId2"/>
          <a:stretch>
            <a:fillRect/>
          </a:stretch>
        </p:blipFill>
        <p:spPr>
          <a:xfrm>
            <a:off x="777240" y="1737360"/>
            <a:ext cx="237744" cy="237744"/>
          </a:xfrm>
          <a:prstGeom prst="rect">
            <a:avLst/>
          </a:prstGeom>
        </p:spPr>
      </p:pic>
      <p:sp>
        <p:nvSpPr>
          <p:cNvPr id="10" name="Text 6"/>
          <p:cNvSpPr/>
          <p:nvPr/>
        </p:nvSpPr>
        <p:spPr>
          <a:xfrm>
            <a:off x="1371600" y="1600200"/>
            <a:ext cx="10149840" cy="777240"/>
          </a:xfrm>
          <a:prstGeom prst="rect">
            <a:avLst/>
          </a:prstGeom>
          <a:noFill/>
          <a:ln/>
        </p:spPr>
        <p:txBody>
          <a:bodyPr wrap="square" lIns="0" tIns="0" rIns="0" bIns="0" rtlCol="0" anchor="ctr"/>
          <a:lstStyle/>
          <a:p>
            <a:pPr indent="0" marL="0">
              <a:lnSpc>
                <a:spcPct val="115000"/>
              </a:lnSpc>
              <a:buNone/>
            </a:pPr>
            <a:r>
              <a:rPr lang="en-US" sz="1450" dirty="0">
                <a:solidFill>
                  <a:srgbClr val="E4EEF3"/>
                </a:solidFill>
                <a:latin typeface="Calibri" pitchFamily="34" charset="0"/>
                <a:ea typeface="Calibri" pitchFamily="34" charset="-122"/>
                <a:cs typeface="Calibri" pitchFamily="34" charset="-120"/>
              </a:rPr>
              <a:t>Local vs. remote backends — remote storage adds collaboration, security, and versioning that local state can't provide.</a:t>
            </a:r>
            <a:endParaRPr lang="en-US" sz="1450" dirty="0"/>
          </a:p>
        </p:txBody>
      </p:sp>
      <p:sp>
        <p:nvSpPr>
          <p:cNvPr id="11" name="Shape 7"/>
          <p:cNvSpPr/>
          <p:nvPr/>
        </p:nvSpPr>
        <p:spPr>
          <a:xfrm>
            <a:off x="685800" y="2697480"/>
            <a:ext cx="420624" cy="420624"/>
          </a:xfrm>
          <a:prstGeom prst="ellipse">
            <a:avLst/>
          </a:prstGeom>
          <a:solidFill>
            <a:srgbClr val="1C7293"/>
          </a:solidFill>
          <a:ln/>
        </p:spPr>
      </p:sp>
      <p:pic>
        <p:nvPicPr>
          <p:cNvPr id="12" name="Image 2" descr="preencoded.png">    </p:cNvPr>
          <p:cNvPicPr>
            <a:picLocks noChangeAspect="1"/>
          </p:cNvPicPr>
          <p:nvPr/>
        </p:nvPicPr>
        <p:blipFill>
          <a:blip r:embed="rId3"/>
          <a:stretch>
            <a:fillRect/>
          </a:stretch>
        </p:blipFill>
        <p:spPr>
          <a:xfrm>
            <a:off x="777240" y="2788920"/>
            <a:ext cx="237744" cy="237744"/>
          </a:xfrm>
          <a:prstGeom prst="rect">
            <a:avLst/>
          </a:prstGeom>
        </p:spPr>
      </p:pic>
      <p:sp>
        <p:nvSpPr>
          <p:cNvPr id="13" name="Text 8"/>
          <p:cNvSpPr/>
          <p:nvPr/>
        </p:nvSpPr>
        <p:spPr>
          <a:xfrm>
            <a:off x="1371600" y="2651760"/>
            <a:ext cx="10149840" cy="777240"/>
          </a:xfrm>
          <a:prstGeom prst="rect">
            <a:avLst/>
          </a:prstGeom>
          <a:noFill/>
          <a:ln/>
        </p:spPr>
        <p:txBody>
          <a:bodyPr wrap="square" lIns="0" tIns="0" rIns="0" bIns="0" rtlCol="0" anchor="ctr"/>
          <a:lstStyle/>
          <a:p>
            <a:pPr indent="0" marL="0">
              <a:lnSpc>
                <a:spcPct val="115000"/>
              </a:lnSpc>
              <a:buNone/>
            </a:pPr>
            <a:r>
              <a:rPr lang="en-US" sz="1450" dirty="0">
                <a:solidFill>
                  <a:srgbClr val="E4EEF3"/>
                </a:solidFill>
                <a:latin typeface="Calibri" pitchFamily="34" charset="0"/>
                <a:ea typeface="Calibri" pitchFamily="34" charset="-122"/>
                <a:cs typeface="Calibri" pitchFamily="34" charset="-120"/>
              </a:rPr>
              <a:t>Storing state in AWS S3, Azure Blob, and Google Cloud Storage — each configured through a simple backend.tf block.</a:t>
            </a:r>
            <a:endParaRPr lang="en-US" sz="1450" dirty="0"/>
          </a:p>
        </p:txBody>
      </p:sp>
      <p:sp>
        <p:nvSpPr>
          <p:cNvPr id="14" name="Shape 9"/>
          <p:cNvSpPr/>
          <p:nvPr/>
        </p:nvSpPr>
        <p:spPr>
          <a:xfrm>
            <a:off x="685800" y="3749040"/>
            <a:ext cx="420624" cy="420624"/>
          </a:xfrm>
          <a:prstGeom prst="ellipse">
            <a:avLst/>
          </a:prstGeom>
          <a:solidFill>
            <a:srgbClr val="1C7293"/>
          </a:solidFill>
          <a:ln/>
        </p:spPr>
      </p:sp>
      <p:pic>
        <p:nvPicPr>
          <p:cNvPr id="15" name="Image 3" descr="preencoded.png">    </p:cNvPr>
          <p:cNvPicPr>
            <a:picLocks noChangeAspect="1"/>
          </p:cNvPicPr>
          <p:nvPr/>
        </p:nvPicPr>
        <p:blipFill>
          <a:blip r:embed="rId4"/>
          <a:stretch>
            <a:fillRect/>
          </a:stretch>
        </p:blipFill>
        <p:spPr>
          <a:xfrm>
            <a:off x="777240" y="3840480"/>
            <a:ext cx="237744" cy="237744"/>
          </a:xfrm>
          <a:prstGeom prst="rect">
            <a:avLst/>
          </a:prstGeom>
        </p:spPr>
      </p:pic>
      <p:sp>
        <p:nvSpPr>
          <p:cNvPr id="16" name="Text 10"/>
          <p:cNvSpPr/>
          <p:nvPr/>
        </p:nvSpPr>
        <p:spPr>
          <a:xfrm>
            <a:off x="1371600" y="3703320"/>
            <a:ext cx="10149840" cy="777240"/>
          </a:xfrm>
          <a:prstGeom prst="rect">
            <a:avLst/>
          </a:prstGeom>
          <a:noFill/>
          <a:ln/>
        </p:spPr>
        <p:txBody>
          <a:bodyPr wrap="square" lIns="0" tIns="0" rIns="0" bIns="0" rtlCol="0" anchor="ctr"/>
          <a:lstStyle/>
          <a:p>
            <a:pPr indent="0" marL="0">
              <a:lnSpc>
                <a:spcPct val="115000"/>
              </a:lnSpc>
              <a:buNone/>
            </a:pPr>
            <a:r>
              <a:rPr lang="en-US" sz="1450" dirty="0">
                <a:solidFill>
                  <a:srgbClr val="E4EEF3"/>
                </a:solidFill>
                <a:latin typeface="Calibri" pitchFamily="34" charset="0"/>
                <a:ea typeface="Calibri" pitchFamily="34" charset="-122"/>
                <a:cs typeface="Calibri" pitchFamily="34" charset="-120"/>
              </a:rPr>
              <a:t>State locking with DynamoDB — prevents two engineers from corrupting state by applying at the same time.</a:t>
            </a:r>
            <a:endParaRPr lang="en-US" sz="1450" dirty="0"/>
          </a:p>
        </p:txBody>
      </p:sp>
      <p:sp>
        <p:nvSpPr>
          <p:cNvPr id="17" name="Shape 11"/>
          <p:cNvSpPr/>
          <p:nvPr/>
        </p:nvSpPr>
        <p:spPr>
          <a:xfrm>
            <a:off x="685800" y="4800600"/>
            <a:ext cx="420624" cy="420624"/>
          </a:xfrm>
          <a:prstGeom prst="ellipse">
            <a:avLst/>
          </a:prstGeom>
          <a:solidFill>
            <a:srgbClr val="1C7293"/>
          </a:solidFill>
          <a:ln/>
        </p:spPr>
      </p:sp>
      <p:pic>
        <p:nvPicPr>
          <p:cNvPr id="18" name="Image 4" descr="preencoded.png">    </p:cNvPr>
          <p:cNvPicPr>
            <a:picLocks noChangeAspect="1"/>
          </p:cNvPicPr>
          <p:nvPr/>
        </p:nvPicPr>
        <p:blipFill>
          <a:blip r:embed="rId5"/>
          <a:stretch>
            <a:fillRect/>
          </a:stretch>
        </p:blipFill>
        <p:spPr>
          <a:xfrm>
            <a:off x="777240" y="4892040"/>
            <a:ext cx="237744" cy="237744"/>
          </a:xfrm>
          <a:prstGeom prst="rect">
            <a:avLst/>
          </a:prstGeom>
        </p:spPr>
      </p:pic>
      <p:sp>
        <p:nvSpPr>
          <p:cNvPr id="19" name="Text 12"/>
          <p:cNvSpPr/>
          <p:nvPr/>
        </p:nvSpPr>
        <p:spPr>
          <a:xfrm>
            <a:off x="1371600" y="4754880"/>
            <a:ext cx="10149840" cy="777240"/>
          </a:xfrm>
          <a:prstGeom prst="rect">
            <a:avLst/>
          </a:prstGeom>
          <a:noFill/>
          <a:ln/>
        </p:spPr>
        <p:txBody>
          <a:bodyPr wrap="square" lIns="0" tIns="0" rIns="0" bIns="0" rtlCol="0" anchor="ctr"/>
          <a:lstStyle/>
          <a:p>
            <a:pPr indent="0" marL="0">
              <a:lnSpc>
                <a:spcPct val="115000"/>
              </a:lnSpc>
              <a:buNone/>
            </a:pPr>
            <a:r>
              <a:rPr lang="en-US" sz="1450" dirty="0">
                <a:solidFill>
                  <a:srgbClr val="E4EEF3"/>
                </a:solidFill>
                <a:latin typeface="Calibri" pitchFamily="34" charset="0"/>
                <a:ea typeface="Calibri" pitchFamily="34" charset="-122"/>
                <a:cs typeface="Calibri" pitchFamily="34" charset="-120"/>
              </a:rPr>
              <a:t>Migration scenario — terraform init -migrate-state safely moves existing local state into a remote, locked backend.</a:t>
            </a:r>
            <a:endParaRPr lang="en-US" sz="1450" dirty="0"/>
          </a:p>
        </p:txBody>
      </p:sp>
      <p:sp>
        <p:nvSpPr>
          <p:cNvPr id="20" name="Text 13"/>
          <p:cNvSpPr/>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
        <p:nvSpPr>
          <p:cNvPr id="21" name="Text 14"/>
          <p:cNvSpPr/>
          <p:nvPr/>
        </p:nvSpPr>
        <p:spPr>
          <a:xfrm>
            <a:off x="502920" y="6446520"/>
            <a:ext cx="3657600" cy="274320"/>
          </a:xfrm>
          <a:prstGeom prst="rect">
            <a:avLst/>
          </a:prstGeom>
          <a:noFill/>
          <a:ln/>
        </p:spPr>
        <p:txBody>
          <a:bodyPr wrap="square" lIns="0" tIns="0" rIns="0" bIns="0" rtlCol="0" anchor="ctr"/>
          <a:lstStyle/>
          <a:p>
            <a:pPr indent="0" marL="0">
              <a:buNone/>
            </a:pPr>
            <a:r>
              <a:rPr lang="en-US" sz="900" b="1" spc="150" kern="0" dirty="0">
                <a:solidFill>
                  <a:srgbClr val="9FB6C9"/>
                </a:solidFill>
                <a:latin typeface="Calibri" pitchFamily="34" charset="0"/>
                <a:ea typeface="Calibri" pitchFamily="34" charset="-122"/>
                <a:cs typeface="Calibri" pitchFamily="34" charset="-120"/>
              </a:rPr>
              <a:t>TERRAFORM BACKENDS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Managing Terraform Backends</dc:title>
  <dc:subject>PptxGenJS Presentation</dc:subject>
  <dc:creator>Terraform Training</dc:creator>
  <cp:lastModifiedBy>Terraform Training</cp:lastModifiedBy>
  <cp:revision>1</cp:revision>
  <dcterms:created xsi:type="dcterms:W3CDTF">2026-07-07T10:02:21Z</dcterms:created>
  <dcterms:modified xsi:type="dcterms:W3CDTF">2026-07-07T10:02:21Z</dcterms:modified>
</cp:coreProperties>
</file>