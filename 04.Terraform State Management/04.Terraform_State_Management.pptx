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group to Chapter 4. Frame the session: we've covered writing Terraform configs — now we need to talk about how Terraform remembers what it built. Set expectations: by the end of this chapter, they should be able to explain what state is, why local state breaks down for teams, and set up a real S3 + DynamoDB backend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Terraform is just applying a config file, why does it need a separate state file at all?' Let a couple of people answer before revealing the four reasons. Emphasize the dependency-mapping point — that's the one people underestimate. Terraform state is the only thing that tells Terraform 'this block in my .tf file IS this specific bucket in AWS,' which is why deleting the state file by hand is so dangerous — Terraform loses that mapping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JSON top to bottom. Point out this is generated automatically after `terraform apply` — nobody hand-writes this file. Key teaching moment: the 'arn' field is what ties this JSON entry to one specific S3 bucket in AWS. If someone manually deletes or renames the bucket outside of Terraform, this mapping breaks and the next `terraform plan` will show a confusing diff — that's the seed for the 'why remote state and locking matter' discussion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pivotal slide of the chapter — everything after this is 'how do we get to the right column.' Ask the room: 'has anyone ever lost a local state file, or had two people run apply at the same time?' War stories help this land. Note the one honest downside of remote state — the extra setup — because that's exactly what the rest of the chapter walks through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left diagram first: two engineers run `terraform apply` at nearly the same moment, both reading the same stale state, both writing back — the result is a corrupted or inconsistent state file that no longer matches reality. Then pivot to the fix: locking. Be explicit that locking is a property of the *backend*, not Terraform core — S3 alone doesn't lock; you need DynamoDB alongside it. That distinction sets up the next slide's architecture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to anchor before showing any commands. Trace the arrows out loud: CLI writes state to S3; before it writes, it checks the lock in DynamoDB; once released, any teammate's CLI reads the same S3 object. Tell them the next four slides are simply building these three boxes, in order: S3 bucket, DynamoDB table, then the backend.tf that wires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tip: run these two AWS CLI commands on screen if you have a sandbox account. Point out `PAY_PER_REQUEST` billing mode — this table sees tiny, infrequent traffic (one write per apply), so on-demand billing avoids paying for idle provisioned capacity. Reinforce that versioning on the S3 bucket is what lets you recover a previous state file if something ever gets corrupted or wrongly overwritten.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backend.tf line by line — this is the file most students will copy-paste into real projects, so make sure they understand each key, not just where to put their bucket name. Call out `terraform init`: it will actually prompt 'Do you want to copy existing state to the new backend?' — mention that prompt so it doesn't surprise anyone the first time they run it against a project that already has local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great point to pause for a hands-on exercise: have students open two terminals against the same project, run apply in one, and try to run it in the other. They should see the classic 'Error acquiring the state lock' message with the Lock Info block (ID, path, operation, who, created). Use that error message as a segue into the summary — this is the whole reason we set DynamoDB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re-drawing the through-line: state is Terraform's memory; that memory needs to be shared safely; sharing safely means remote storage plus locking; S3 + DynamoDB is the concrete, widely-used way to do that on AWS. Good discussion prompt to end on: 'What would go wrong on your own team's project right now if two people ran apply at the same time?' Segue into Chapter 5 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6.png"/><Relationship Id="rId8" Type="http://schemas.openxmlformats.org/officeDocument/2006/relationships/image" Target="../media/image-4-6.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748"/>
        </a:solidFill>
      </p:bgPr>
    </p:bg>
    <p:spTree>
      <p:nvGrpSpPr>
        <p:cNvPr id="1" name=""/>
        <p:cNvGrpSpPr/>
        <p:nvPr/>
      </p:nvGrpSpPr>
      <p:grpSpPr>
        <a:xfrm>
          <a:off x="0" y="0"/>
          <a:ext cx="0" cy="0"/>
          <a:chOff x="0" y="0"/>
          <a:chExt cx="0" cy="0"/>
        </a:xfrm>
      </p:grpSpPr>
      <p:sp>
        <p:nvSpPr>
          <p:cNvPr id="2" name="Shape 0"/>
          <p:cNvSpPr/>
          <p:nvPr/>
        </p:nvSpPr>
        <p:spPr>
          <a:xfrm>
            <a:off x="7955280" y="914400"/>
            <a:ext cx="3291840" cy="2011680"/>
          </a:xfrm>
          <a:prstGeom prst="roundRect">
            <a:avLst>
              <a:gd name="adj" fmla="val 5455"/>
            </a:avLst>
          </a:prstGeom>
          <a:solidFill>
            <a:srgbClr val="3B2667">
              <a:alpha val="60000"/>
            </a:srgbClr>
          </a:solidFill>
          <a:ln/>
        </p:spPr>
      </p:sp>
      <p:sp>
        <p:nvSpPr>
          <p:cNvPr id="3" name="Shape 1"/>
          <p:cNvSpPr/>
          <p:nvPr/>
        </p:nvSpPr>
        <p:spPr>
          <a:xfrm>
            <a:off x="8412480" y="1463040"/>
            <a:ext cx="3291840" cy="2011680"/>
          </a:xfrm>
          <a:prstGeom prst="roundRect">
            <a:avLst>
              <a:gd name="adj" fmla="val 5455"/>
            </a:avLst>
          </a:prstGeom>
          <a:solidFill>
            <a:srgbClr val="7C4DFF">
              <a:alpha val="45000"/>
            </a:srgbClr>
          </a:solidFill>
          <a:ln/>
        </p:spPr>
      </p:sp>
      <p:sp>
        <p:nvSpPr>
          <p:cNvPr id="4" name="Shape 2"/>
          <p:cNvSpPr/>
          <p:nvPr/>
        </p:nvSpPr>
        <p:spPr>
          <a:xfrm>
            <a:off x="8869680" y="2011680"/>
            <a:ext cx="3291840" cy="2011680"/>
          </a:xfrm>
          <a:prstGeom prst="roundRect">
            <a:avLst>
              <a:gd name="adj" fmla="val 5455"/>
            </a:avLst>
          </a:prstGeom>
          <a:solidFill>
            <a:srgbClr val="00BFA5">
              <a:alpha val="40000"/>
            </a:srgbClr>
          </a:solidFill>
          <a:ln/>
        </p:spPr>
      </p:sp>
      <p:sp>
        <p:nvSpPr>
          <p:cNvPr id="5" name="Text 3"/>
          <p:cNvSpPr/>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00BFA5"/>
                </a:solidFill>
                <a:latin typeface="Calibri" pitchFamily="34" charset="0"/>
                <a:ea typeface="Calibri" pitchFamily="34" charset="-122"/>
                <a:cs typeface="Calibri" pitchFamily="34" charset="-120"/>
              </a:rPr>
              <a:t>CHAPTER 4</a:t>
            </a:r>
            <a:endParaRPr lang="en-US" sz="1400" dirty="0"/>
          </a:p>
        </p:txBody>
      </p:sp>
      <p:sp>
        <p:nvSpPr>
          <p:cNvPr id="6" name="Text 4"/>
          <p:cNvSpPr/>
          <p:nvPr/>
        </p:nvSpPr>
        <p:spPr>
          <a:xfrm>
            <a:off x="731520" y="2377440"/>
            <a:ext cx="7772400" cy="182880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Terraform State</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Management</a:t>
            </a:r>
            <a:endParaRPr lang="en-US" sz="4400" dirty="0"/>
          </a:p>
        </p:txBody>
      </p:sp>
      <p:sp>
        <p:nvSpPr>
          <p:cNvPr id="7" name="Text 5"/>
          <p:cNvSpPr/>
          <p:nvPr/>
        </p:nvSpPr>
        <p:spPr>
          <a:xfrm>
            <a:off x="731520" y="4343400"/>
            <a:ext cx="6949440" cy="822960"/>
          </a:xfrm>
          <a:prstGeom prst="rect">
            <a:avLst/>
          </a:prstGeom>
          <a:noFill/>
          <a:ln/>
        </p:spPr>
        <p:txBody>
          <a:bodyPr wrap="square" lIns="0" tIns="0" rIns="0" bIns="0" rtlCol="0" anchor="ctr"/>
          <a:lstStyle/>
          <a:p>
            <a:pPr indent="0" marL="0">
              <a:buNone/>
            </a:pPr>
            <a:r>
              <a:rPr lang="en-US" sz="1600" dirty="0">
                <a:solidFill>
                  <a:srgbClr val="CFC9E8"/>
                </a:solidFill>
                <a:latin typeface="Calibri" pitchFamily="34" charset="0"/>
                <a:ea typeface="Calibri" pitchFamily="34" charset="-122"/>
                <a:cs typeface="Calibri" pitchFamily="34" charset="-120"/>
              </a:rPr>
              <a:t>How Terraform tracks infrastructure, why remote state matters, and how to secure and lock it with S3 + DynamoDB.</a:t>
            </a:r>
            <a:endParaRPr lang="en-US" sz="1600" dirty="0"/>
          </a:p>
        </p:txBody>
      </p:sp>
      <p:pic>
        <p:nvPicPr>
          <p:cNvPr id="8" name="Image 0" descr="database_white.png">    </p:cNvPr>
          <p:cNvPicPr>
            <a:picLocks noChangeAspect="1"/>
          </p:cNvPicPr>
          <p:nvPr/>
        </p:nvPicPr>
        <p:blipFill>
          <a:blip r:embed="rId1"/>
          <a:stretch>
            <a:fillRect/>
          </a:stretch>
        </p:blipFill>
        <p:spPr>
          <a:xfrm>
            <a:off x="731520" y="5623560"/>
            <a:ext cx="365760" cy="365760"/>
          </a:xfrm>
          <a:prstGeom prst="rect">
            <a:avLst/>
          </a:prstGeom>
        </p:spPr>
      </p:pic>
      <p:sp>
        <p:nvSpPr>
          <p:cNvPr id="9" name="Text 6"/>
          <p:cNvSpPr/>
          <p:nvPr/>
        </p:nvSpPr>
        <p:spPr>
          <a:xfrm>
            <a:off x="1188720" y="5650992"/>
            <a:ext cx="5486400" cy="320040"/>
          </a:xfrm>
          <a:prstGeom prst="rect">
            <a:avLst/>
          </a:prstGeom>
          <a:noFill/>
          <a:ln/>
        </p:spPr>
        <p:txBody>
          <a:bodyPr wrap="square" lIns="0" tIns="0" rIns="0" bIns="0" rtlCol="0" anchor="ctr"/>
          <a:lstStyle/>
          <a:p>
            <a:pPr indent="0" marL="0">
              <a:buNone/>
            </a:pPr>
            <a:r>
              <a:rPr lang="en-US" sz="1200" dirty="0">
                <a:solidFill>
                  <a:srgbClr val="9A93B5"/>
                </a:solidFill>
                <a:latin typeface="Calibri" pitchFamily="34" charset="0"/>
                <a:ea typeface="Calibri" pitchFamily="34" charset="-122"/>
                <a:cs typeface="Calibri" pitchFamily="34" charset="-120"/>
              </a:rPr>
              <a:t>Instructor Deck  •  Infrastructure as Code Series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300" b="1" spc="200" kern="0" dirty="0">
                <a:solidFill>
                  <a:srgbClr val="7C4DFF"/>
                </a:solidFill>
                <a:latin typeface="Calibri" pitchFamily="34" charset="0"/>
                <a:ea typeface="Calibri" pitchFamily="34" charset="-122"/>
                <a:cs typeface="Calibri" pitchFamily="34" charset="-120"/>
              </a:rPr>
              <a:t>4.1  WHAT IS TERRAFORM STATE?</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241748"/>
                </a:solidFill>
                <a:latin typeface="Cambria" pitchFamily="34" charset="0"/>
                <a:ea typeface="Cambria" pitchFamily="34" charset="-122"/>
                <a:cs typeface="Cambria" pitchFamily="34" charset="-120"/>
              </a:rPr>
              <a:t>Terraform's memory of your infrastructure</a:t>
            </a:r>
            <a:endParaRPr lang="en-US" sz="3200" dirty="0"/>
          </a:p>
        </p:txBody>
      </p:sp>
      <p:sp>
        <p:nvSpPr>
          <p:cNvPr id="4" name="Shape 2"/>
          <p:cNvSpPr/>
          <p:nvPr/>
        </p:nvSpPr>
        <p:spPr>
          <a:xfrm>
            <a:off x="548640" y="1600200"/>
            <a:ext cx="4892040" cy="1051560"/>
          </a:xfrm>
          <a:prstGeom prst="roundRect">
            <a:avLst>
              <a:gd name="adj" fmla="val 6957"/>
            </a:avLst>
          </a:prstGeom>
          <a:solidFill>
            <a:srgbClr val="F6F4FB"/>
          </a:solidFill>
          <a:ln/>
          <a:effectLst>
            <a:outerShdw sx="100000" sy="100000" kx="0" ky="0" algn="bl" rotWithShape="0" blurRad="101600" dist="38100" dir="5400000">
              <a:srgbClr val="000000">
                <a:alpha val="12000"/>
              </a:srgbClr>
            </a:outerShdw>
          </a:effectLst>
        </p:spPr>
      </p:sp>
      <p:sp>
        <p:nvSpPr>
          <p:cNvPr id="5" name="Shape 3"/>
          <p:cNvSpPr/>
          <p:nvPr/>
        </p:nvSpPr>
        <p:spPr>
          <a:xfrm>
            <a:off x="777240" y="1874520"/>
            <a:ext cx="502920" cy="502920"/>
          </a:xfrm>
          <a:prstGeom prst="ellipse">
            <a:avLst/>
          </a:prstGeom>
          <a:solidFill>
            <a:srgbClr val="3B2667"/>
          </a:solidFill>
          <a:ln/>
        </p:spPr>
      </p:sp>
      <p:pic>
        <p:nvPicPr>
          <p:cNvPr id="6" name="Image 0" descr="link_violet.png">    </p:cNvPr>
          <p:cNvPicPr>
            <a:picLocks noChangeAspect="1"/>
          </p:cNvPicPr>
          <p:nvPr/>
        </p:nvPicPr>
        <p:blipFill>
          <a:blip r:embed="rId1"/>
          <a:stretch>
            <a:fillRect/>
          </a:stretch>
        </p:blipFill>
        <p:spPr>
          <a:xfrm>
            <a:off x="891540" y="1988820"/>
            <a:ext cx="274320" cy="274320"/>
          </a:xfrm>
          <a:prstGeom prst="rect">
            <a:avLst/>
          </a:prstGeom>
        </p:spPr>
      </p:pic>
      <p:sp>
        <p:nvSpPr>
          <p:cNvPr id="7" name="Text 4"/>
          <p:cNvSpPr/>
          <p:nvPr/>
        </p:nvSpPr>
        <p:spPr>
          <a:xfrm>
            <a:off x="1463040" y="1728216"/>
            <a:ext cx="3794760" cy="365760"/>
          </a:xfrm>
          <a:prstGeom prst="rect">
            <a:avLst/>
          </a:prstGeom>
          <a:noFill/>
          <a:ln/>
        </p:spPr>
        <p:txBody>
          <a:bodyPr wrap="square" lIns="0" tIns="0" rIns="0" bIns="0" rtlCol="0" anchor="ctr"/>
          <a:lstStyle/>
          <a:p>
            <a:pPr indent="0" marL="0">
              <a:buNone/>
            </a:pPr>
            <a:r>
              <a:rPr lang="en-US" sz="1500" b="1" dirty="0">
                <a:solidFill>
                  <a:srgbClr val="241748"/>
                </a:solidFill>
                <a:latin typeface="Calibri" pitchFamily="34" charset="0"/>
                <a:ea typeface="Calibri" pitchFamily="34" charset="-122"/>
                <a:cs typeface="Calibri" pitchFamily="34" charset="-120"/>
              </a:rPr>
              <a:t>Tracks resource dependencies</a:t>
            </a:r>
            <a:endParaRPr lang="en-US" sz="1500" dirty="0"/>
          </a:p>
        </p:txBody>
      </p:sp>
      <p:sp>
        <p:nvSpPr>
          <p:cNvPr id="8" name="Text 5"/>
          <p:cNvSpPr/>
          <p:nvPr/>
        </p:nvSpPr>
        <p:spPr>
          <a:xfrm>
            <a:off x="1463040" y="2075688"/>
            <a:ext cx="3794760" cy="502920"/>
          </a:xfrm>
          <a:prstGeom prst="rect">
            <a:avLst/>
          </a:prstGeom>
          <a:noFill/>
          <a:ln/>
        </p:spPr>
        <p:txBody>
          <a:bodyPr wrap="square" lIns="0" tIns="0" rIns="0" bIns="0" rtlCol="0" anchor="ctr"/>
          <a:lstStyle/>
          <a:p>
            <a:pPr indent="0" marL="0">
              <a:buNone/>
            </a:pPr>
            <a:r>
              <a:rPr lang="en-US" sz="1150" dirty="0">
                <a:solidFill>
                  <a:srgbClr val="44454D"/>
                </a:solidFill>
                <a:latin typeface="Calibri" pitchFamily="34" charset="0"/>
                <a:ea typeface="Calibri" pitchFamily="34" charset="-122"/>
                <a:cs typeface="Calibri" pitchFamily="34" charset="-120"/>
              </a:rPr>
              <a:t>Knows what must be created, updated, or destroyed in what order.</a:t>
            </a:r>
            <a:endParaRPr lang="en-US" sz="1150" dirty="0"/>
          </a:p>
        </p:txBody>
      </p:sp>
      <p:sp>
        <p:nvSpPr>
          <p:cNvPr id="9" name="Shape 6"/>
          <p:cNvSpPr/>
          <p:nvPr/>
        </p:nvSpPr>
        <p:spPr>
          <a:xfrm>
            <a:off x="5897880" y="1600200"/>
            <a:ext cx="4892040" cy="1051560"/>
          </a:xfrm>
          <a:prstGeom prst="roundRect">
            <a:avLst>
              <a:gd name="adj" fmla="val 6957"/>
            </a:avLst>
          </a:prstGeom>
          <a:solidFill>
            <a:srgbClr val="F6F4FB"/>
          </a:solidFill>
          <a:ln/>
          <a:effectLst>
            <a:outerShdw sx="100000" sy="100000" kx="0" ky="0" algn="bl" rotWithShape="0" blurRad="101600" dist="38100" dir="5400000">
              <a:srgbClr val="000000">
                <a:alpha val="12000"/>
              </a:srgbClr>
            </a:outerShdw>
          </a:effectLst>
        </p:spPr>
      </p:sp>
      <p:sp>
        <p:nvSpPr>
          <p:cNvPr id="10" name="Shape 7"/>
          <p:cNvSpPr/>
          <p:nvPr/>
        </p:nvSpPr>
        <p:spPr>
          <a:xfrm>
            <a:off x="6126480" y="1874520"/>
            <a:ext cx="502920" cy="502920"/>
          </a:xfrm>
          <a:prstGeom prst="ellipse">
            <a:avLst/>
          </a:prstGeom>
          <a:solidFill>
            <a:srgbClr val="3B2667"/>
          </a:solidFill>
          <a:ln/>
        </p:spPr>
      </p:sp>
      <p:pic>
        <p:nvPicPr>
          <p:cNvPr id="11" name="Image 1" descr="cubes_violet.png">    </p:cNvPr>
          <p:cNvPicPr>
            <a:picLocks noChangeAspect="1"/>
          </p:cNvPicPr>
          <p:nvPr/>
        </p:nvPicPr>
        <p:blipFill>
          <a:blip r:embed="rId2"/>
          <a:stretch>
            <a:fillRect/>
          </a:stretch>
        </p:blipFill>
        <p:spPr>
          <a:xfrm>
            <a:off x="6240780" y="1988820"/>
            <a:ext cx="274320" cy="274320"/>
          </a:xfrm>
          <a:prstGeom prst="rect">
            <a:avLst/>
          </a:prstGeom>
        </p:spPr>
      </p:pic>
      <p:sp>
        <p:nvSpPr>
          <p:cNvPr id="12" name="Text 8"/>
          <p:cNvSpPr/>
          <p:nvPr/>
        </p:nvSpPr>
        <p:spPr>
          <a:xfrm>
            <a:off x="6812280" y="1728216"/>
            <a:ext cx="3794760" cy="365760"/>
          </a:xfrm>
          <a:prstGeom prst="rect">
            <a:avLst/>
          </a:prstGeom>
          <a:noFill/>
          <a:ln/>
        </p:spPr>
        <p:txBody>
          <a:bodyPr wrap="square" lIns="0" tIns="0" rIns="0" bIns="0" rtlCol="0" anchor="ctr"/>
          <a:lstStyle/>
          <a:p>
            <a:pPr indent="0" marL="0">
              <a:buNone/>
            </a:pPr>
            <a:r>
              <a:rPr lang="en-US" sz="1500" b="1" dirty="0">
                <a:solidFill>
                  <a:srgbClr val="241748"/>
                </a:solidFill>
                <a:latin typeface="Calibri" pitchFamily="34" charset="0"/>
                <a:ea typeface="Calibri" pitchFamily="34" charset="-122"/>
                <a:cs typeface="Calibri" pitchFamily="34" charset="-120"/>
              </a:rPr>
              <a:t>Maps config to real infrastructure</a:t>
            </a:r>
            <a:endParaRPr lang="en-US" sz="1500" dirty="0"/>
          </a:p>
        </p:txBody>
      </p:sp>
      <p:sp>
        <p:nvSpPr>
          <p:cNvPr id="13" name="Text 9"/>
          <p:cNvSpPr/>
          <p:nvPr/>
        </p:nvSpPr>
        <p:spPr>
          <a:xfrm>
            <a:off x="6812280" y="2075688"/>
            <a:ext cx="3794760" cy="502920"/>
          </a:xfrm>
          <a:prstGeom prst="rect">
            <a:avLst/>
          </a:prstGeom>
          <a:noFill/>
          <a:ln/>
        </p:spPr>
        <p:txBody>
          <a:bodyPr wrap="square" lIns="0" tIns="0" rIns="0" bIns="0" rtlCol="0" anchor="ctr"/>
          <a:lstStyle/>
          <a:p>
            <a:pPr indent="0" marL="0">
              <a:buNone/>
            </a:pPr>
            <a:r>
              <a:rPr lang="en-US" sz="1150" dirty="0">
                <a:solidFill>
                  <a:srgbClr val="44454D"/>
                </a:solidFill>
                <a:latin typeface="Calibri" pitchFamily="34" charset="0"/>
                <a:ea typeface="Calibri" pitchFamily="34" charset="-122"/>
                <a:cs typeface="Calibri" pitchFamily="34" charset="-120"/>
              </a:rPr>
              <a:t>Connects each resource block to the actual object in the cloud.</a:t>
            </a:r>
            <a:endParaRPr lang="en-US" sz="1150" dirty="0"/>
          </a:p>
        </p:txBody>
      </p:sp>
      <p:sp>
        <p:nvSpPr>
          <p:cNvPr id="14" name="Shape 10"/>
          <p:cNvSpPr/>
          <p:nvPr/>
        </p:nvSpPr>
        <p:spPr>
          <a:xfrm>
            <a:off x="548640" y="2971800"/>
            <a:ext cx="4892040" cy="1051560"/>
          </a:xfrm>
          <a:prstGeom prst="roundRect">
            <a:avLst>
              <a:gd name="adj" fmla="val 6957"/>
            </a:avLst>
          </a:prstGeom>
          <a:solidFill>
            <a:srgbClr val="F6F4FB"/>
          </a:solidFill>
          <a:ln/>
          <a:effectLst>
            <a:outerShdw sx="100000" sy="100000" kx="0" ky="0" algn="bl" rotWithShape="0" blurRad="101600" dist="38100" dir="5400000">
              <a:srgbClr val="000000">
                <a:alpha val="12000"/>
              </a:srgbClr>
            </a:outerShdw>
          </a:effectLst>
        </p:spPr>
      </p:sp>
      <p:sp>
        <p:nvSpPr>
          <p:cNvPr id="15" name="Shape 11"/>
          <p:cNvSpPr/>
          <p:nvPr/>
        </p:nvSpPr>
        <p:spPr>
          <a:xfrm>
            <a:off x="777240" y="3246120"/>
            <a:ext cx="502920" cy="502920"/>
          </a:xfrm>
          <a:prstGeom prst="ellipse">
            <a:avLst/>
          </a:prstGeom>
          <a:solidFill>
            <a:srgbClr val="3B2667"/>
          </a:solidFill>
          <a:ln/>
        </p:spPr>
      </p:sp>
      <p:pic>
        <p:nvPicPr>
          <p:cNvPr id="16" name="Image 2" descr="sync_violet.png">    </p:cNvPr>
          <p:cNvPicPr>
            <a:picLocks noChangeAspect="1"/>
          </p:cNvPicPr>
          <p:nvPr/>
        </p:nvPicPr>
        <p:blipFill>
          <a:blip r:embed="rId3"/>
          <a:stretch>
            <a:fillRect/>
          </a:stretch>
        </p:blipFill>
        <p:spPr>
          <a:xfrm>
            <a:off x="891540" y="3360420"/>
            <a:ext cx="274320" cy="274320"/>
          </a:xfrm>
          <a:prstGeom prst="rect">
            <a:avLst/>
          </a:prstGeom>
        </p:spPr>
      </p:pic>
      <p:sp>
        <p:nvSpPr>
          <p:cNvPr id="17" name="Text 12"/>
          <p:cNvSpPr/>
          <p:nvPr/>
        </p:nvSpPr>
        <p:spPr>
          <a:xfrm>
            <a:off x="1463040" y="3099816"/>
            <a:ext cx="3794760" cy="365760"/>
          </a:xfrm>
          <a:prstGeom prst="rect">
            <a:avLst/>
          </a:prstGeom>
          <a:noFill/>
          <a:ln/>
        </p:spPr>
        <p:txBody>
          <a:bodyPr wrap="square" lIns="0" tIns="0" rIns="0" bIns="0" rtlCol="0" anchor="ctr"/>
          <a:lstStyle/>
          <a:p>
            <a:pPr indent="0" marL="0">
              <a:buNone/>
            </a:pPr>
            <a:r>
              <a:rPr lang="en-US" sz="1500" b="1" dirty="0">
                <a:solidFill>
                  <a:srgbClr val="241748"/>
                </a:solidFill>
                <a:latin typeface="Calibri" pitchFamily="34" charset="0"/>
                <a:ea typeface="Calibri" pitchFamily="34" charset="-122"/>
                <a:cs typeface="Calibri" pitchFamily="34" charset="-120"/>
              </a:rPr>
              <a:t>Improves performance</a:t>
            </a:r>
            <a:endParaRPr lang="en-US" sz="1500" dirty="0"/>
          </a:p>
        </p:txBody>
      </p:sp>
      <p:sp>
        <p:nvSpPr>
          <p:cNvPr id="18" name="Text 13"/>
          <p:cNvSpPr/>
          <p:nvPr/>
        </p:nvSpPr>
        <p:spPr>
          <a:xfrm>
            <a:off x="1463040" y="3447288"/>
            <a:ext cx="3794760" cy="502920"/>
          </a:xfrm>
          <a:prstGeom prst="rect">
            <a:avLst/>
          </a:prstGeom>
          <a:noFill/>
          <a:ln/>
        </p:spPr>
        <p:txBody>
          <a:bodyPr wrap="square" lIns="0" tIns="0" rIns="0" bIns="0" rtlCol="0" anchor="ctr"/>
          <a:lstStyle/>
          <a:p>
            <a:pPr indent="0" marL="0">
              <a:buNone/>
            </a:pPr>
            <a:r>
              <a:rPr lang="en-US" sz="1150" dirty="0">
                <a:solidFill>
                  <a:srgbClr val="44454D"/>
                </a:solidFill>
                <a:latin typeface="Calibri" pitchFamily="34" charset="0"/>
                <a:ea typeface="Calibri" pitchFamily="34" charset="-122"/>
                <a:cs typeface="Calibri" pitchFamily="34" charset="-120"/>
              </a:rPr>
              <a:t>Caches attributes so Terraform doesn't re-query every resource on every run.</a:t>
            </a:r>
            <a:endParaRPr lang="en-US" sz="1150" dirty="0"/>
          </a:p>
        </p:txBody>
      </p:sp>
      <p:sp>
        <p:nvSpPr>
          <p:cNvPr id="19" name="Shape 14"/>
          <p:cNvSpPr/>
          <p:nvPr/>
        </p:nvSpPr>
        <p:spPr>
          <a:xfrm>
            <a:off x="5897880" y="2971800"/>
            <a:ext cx="4892040" cy="1051560"/>
          </a:xfrm>
          <a:prstGeom prst="roundRect">
            <a:avLst>
              <a:gd name="adj" fmla="val 6957"/>
            </a:avLst>
          </a:prstGeom>
          <a:solidFill>
            <a:srgbClr val="F6F4FB"/>
          </a:solidFill>
          <a:ln/>
          <a:effectLst>
            <a:outerShdw sx="100000" sy="100000" kx="0" ky="0" algn="bl" rotWithShape="0" blurRad="101600" dist="38100" dir="5400000">
              <a:srgbClr val="000000">
                <a:alpha val="12000"/>
              </a:srgbClr>
            </a:outerShdw>
          </a:effectLst>
        </p:spPr>
      </p:sp>
      <p:sp>
        <p:nvSpPr>
          <p:cNvPr id="20" name="Shape 15"/>
          <p:cNvSpPr/>
          <p:nvPr/>
        </p:nvSpPr>
        <p:spPr>
          <a:xfrm>
            <a:off x="6126480" y="3246120"/>
            <a:ext cx="502920" cy="502920"/>
          </a:xfrm>
          <a:prstGeom prst="ellipse">
            <a:avLst/>
          </a:prstGeom>
          <a:solidFill>
            <a:srgbClr val="3B2667"/>
          </a:solidFill>
          <a:ln/>
        </p:spPr>
      </p:sp>
      <p:pic>
        <p:nvPicPr>
          <p:cNvPr id="21" name="Image 3" descr="users_violet.png">    </p:cNvPr>
          <p:cNvPicPr>
            <a:picLocks noChangeAspect="1"/>
          </p:cNvPicPr>
          <p:nvPr/>
        </p:nvPicPr>
        <p:blipFill>
          <a:blip r:embed="rId4"/>
          <a:stretch>
            <a:fillRect/>
          </a:stretch>
        </p:blipFill>
        <p:spPr>
          <a:xfrm>
            <a:off x="6240780" y="3360420"/>
            <a:ext cx="274320" cy="274320"/>
          </a:xfrm>
          <a:prstGeom prst="rect">
            <a:avLst/>
          </a:prstGeom>
        </p:spPr>
      </p:pic>
      <p:sp>
        <p:nvSpPr>
          <p:cNvPr id="22" name="Text 16"/>
          <p:cNvSpPr/>
          <p:nvPr/>
        </p:nvSpPr>
        <p:spPr>
          <a:xfrm>
            <a:off x="6812280" y="3099816"/>
            <a:ext cx="3794760" cy="365760"/>
          </a:xfrm>
          <a:prstGeom prst="rect">
            <a:avLst/>
          </a:prstGeom>
          <a:noFill/>
          <a:ln/>
        </p:spPr>
        <p:txBody>
          <a:bodyPr wrap="square" lIns="0" tIns="0" rIns="0" bIns="0" rtlCol="0" anchor="ctr"/>
          <a:lstStyle/>
          <a:p>
            <a:pPr indent="0" marL="0">
              <a:buNone/>
            </a:pPr>
            <a:r>
              <a:rPr lang="en-US" sz="1500" b="1" dirty="0">
                <a:solidFill>
                  <a:srgbClr val="241748"/>
                </a:solidFill>
                <a:latin typeface="Calibri" pitchFamily="34" charset="0"/>
                <a:ea typeface="Calibri" pitchFamily="34" charset="-122"/>
                <a:cs typeface="Calibri" pitchFamily="34" charset="-120"/>
              </a:rPr>
              <a:t>Enables collaboration</a:t>
            </a:r>
            <a:endParaRPr lang="en-US" sz="1500" dirty="0"/>
          </a:p>
        </p:txBody>
      </p:sp>
      <p:sp>
        <p:nvSpPr>
          <p:cNvPr id="23" name="Text 17"/>
          <p:cNvSpPr/>
          <p:nvPr/>
        </p:nvSpPr>
        <p:spPr>
          <a:xfrm>
            <a:off x="6812280" y="3447288"/>
            <a:ext cx="3794760" cy="502920"/>
          </a:xfrm>
          <a:prstGeom prst="rect">
            <a:avLst/>
          </a:prstGeom>
          <a:noFill/>
          <a:ln/>
        </p:spPr>
        <p:txBody>
          <a:bodyPr wrap="square" lIns="0" tIns="0" rIns="0" bIns="0" rtlCol="0" anchor="ctr"/>
          <a:lstStyle/>
          <a:p>
            <a:pPr indent="0" marL="0">
              <a:buNone/>
            </a:pPr>
            <a:r>
              <a:rPr lang="en-US" sz="1150" dirty="0">
                <a:solidFill>
                  <a:srgbClr val="44454D"/>
                </a:solidFill>
                <a:latin typeface="Calibri" pitchFamily="34" charset="0"/>
                <a:ea typeface="Calibri" pitchFamily="34" charset="-122"/>
                <a:cs typeface="Calibri" pitchFamily="34" charset="-120"/>
              </a:rPr>
              <a:t>A shared remote state lets a whole team work against the same source of truth.</a:t>
            </a:r>
            <a:endParaRPr lang="en-US" sz="1150" dirty="0"/>
          </a:p>
        </p:txBody>
      </p:sp>
      <p:sp>
        <p:nvSpPr>
          <p:cNvPr id="24" name="Text 18"/>
          <p:cNvSpPr/>
          <p:nvPr/>
        </p:nvSpPr>
        <p:spPr>
          <a:xfrm>
            <a:off x="457200" y="6446520"/>
            <a:ext cx="5486400" cy="274320"/>
          </a:xfrm>
          <a:prstGeom prst="rect">
            <a:avLst/>
          </a:prstGeom>
          <a:noFill/>
          <a:ln/>
        </p:spPr>
        <p:txBody>
          <a:bodyPr wrap="square" lIns="0" tIns="0" rIns="0" bIns="0" rtlCol="0" anchor="ctr"/>
          <a:lstStyle/>
          <a:p>
            <a:pPr algn="l" indent="0" marL="0">
              <a:buNone/>
            </a:pPr>
            <a:r>
              <a:rPr lang="en-US" sz="1000" dirty="0">
                <a:solidFill>
                  <a:srgbClr val="9A93B5"/>
                </a:solidFill>
                <a:latin typeface="Calibri" pitchFamily="34" charset="0"/>
                <a:ea typeface="Calibri" pitchFamily="34" charset="-122"/>
                <a:cs typeface="Calibri" pitchFamily="34" charset="-120"/>
              </a:rPr>
              <a:t>Terraform State Management</a:t>
            </a:r>
            <a:endParaRPr lang="en-US" sz="1000" dirty="0"/>
          </a:p>
        </p:txBody>
      </p:sp>
      <p:sp>
        <p:nvSpPr>
          <p:cNvPr id="25" name="Text 1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A93B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300" b="1" spc="200" kern="0" dirty="0">
                <a:solidFill>
                  <a:srgbClr val="7C4DFF"/>
                </a:solidFill>
                <a:latin typeface="Calibri" pitchFamily="34" charset="0"/>
                <a:ea typeface="Calibri" pitchFamily="34" charset="-122"/>
                <a:cs typeface="Calibri" pitchFamily="34" charset="-120"/>
              </a:rPr>
              <a:t>4.1  WHAT IS TERRAFORM STATE?</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241748"/>
                </a:solidFill>
                <a:latin typeface="Cambria" pitchFamily="34" charset="0"/>
                <a:ea typeface="Cambria" pitchFamily="34" charset="-122"/>
                <a:cs typeface="Cambria" pitchFamily="34" charset="-120"/>
              </a:rPr>
              <a:t>Inside terraform.tfstate</a:t>
            </a:r>
            <a:endParaRPr lang="en-US" sz="3200" dirty="0"/>
          </a:p>
        </p:txBody>
      </p:sp>
      <p:sp>
        <p:nvSpPr>
          <p:cNvPr id="4" name="Shape 2"/>
          <p:cNvSpPr/>
          <p:nvPr/>
        </p:nvSpPr>
        <p:spPr>
          <a:xfrm>
            <a:off x="548640" y="1600200"/>
            <a:ext cx="6675120" cy="4206240"/>
          </a:xfrm>
          <a:prstGeom prst="roundRect">
            <a:avLst>
              <a:gd name="adj" fmla="val 1739"/>
            </a:avLst>
          </a:prstGeom>
          <a:solidFill>
            <a:srgbClr val="241748"/>
          </a:solidFill>
          <a:ln/>
          <a:effectLst>
            <a:outerShdw sx="100000" sy="100000" kx="0" ky="0" algn="bl" rotWithShape="0" blurRad="101600" dist="38100" dir="5400000">
              <a:srgbClr val="000000">
                <a:alpha val="12000"/>
              </a:srgbClr>
            </a:outerShdw>
          </a:effectLst>
        </p:spPr>
      </p:sp>
      <p:sp>
        <p:nvSpPr>
          <p:cNvPr id="5" name="Shape 3"/>
          <p:cNvSpPr/>
          <p:nvPr/>
        </p:nvSpPr>
        <p:spPr>
          <a:xfrm>
            <a:off x="822960" y="1828800"/>
            <a:ext cx="146304" cy="146304"/>
          </a:xfrm>
          <a:prstGeom prst="ellipse">
            <a:avLst/>
          </a:prstGeom>
          <a:solidFill>
            <a:srgbClr val="E85D5D"/>
          </a:solidFill>
          <a:ln/>
        </p:spPr>
      </p:sp>
      <p:sp>
        <p:nvSpPr>
          <p:cNvPr id="6" name="Shape 4"/>
          <p:cNvSpPr/>
          <p:nvPr/>
        </p:nvSpPr>
        <p:spPr>
          <a:xfrm>
            <a:off x="1097280" y="1828800"/>
            <a:ext cx="146304" cy="146304"/>
          </a:xfrm>
          <a:prstGeom prst="ellipse">
            <a:avLst/>
          </a:prstGeom>
          <a:solidFill>
            <a:srgbClr val="E8A33D"/>
          </a:solidFill>
          <a:ln/>
        </p:spPr>
      </p:sp>
      <p:sp>
        <p:nvSpPr>
          <p:cNvPr id="7" name="Shape 5"/>
          <p:cNvSpPr/>
          <p:nvPr/>
        </p:nvSpPr>
        <p:spPr>
          <a:xfrm>
            <a:off x="1371600" y="1828800"/>
            <a:ext cx="146304" cy="146304"/>
          </a:xfrm>
          <a:prstGeom prst="ellipse">
            <a:avLst/>
          </a:prstGeom>
          <a:solidFill>
            <a:srgbClr val="00BFA5"/>
          </a:solidFill>
          <a:ln/>
        </p:spPr>
      </p:sp>
      <p:sp>
        <p:nvSpPr>
          <p:cNvPr id="8" name="Text 6"/>
          <p:cNvSpPr/>
          <p:nvPr/>
        </p:nvSpPr>
        <p:spPr>
          <a:xfrm>
            <a:off x="1645920" y="1764792"/>
            <a:ext cx="3657600" cy="274320"/>
          </a:xfrm>
          <a:prstGeom prst="rect">
            <a:avLst/>
          </a:prstGeom>
          <a:noFill/>
          <a:ln/>
        </p:spPr>
        <p:txBody>
          <a:bodyPr wrap="square" lIns="0" tIns="0" rIns="0" bIns="0" rtlCol="0" anchor="ctr"/>
          <a:lstStyle/>
          <a:p>
            <a:pPr indent="0" marL="0">
              <a:buNone/>
            </a:pPr>
            <a:r>
              <a:rPr lang="en-US" sz="1100" dirty="0">
                <a:solidFill>
                  <a:srgbClr val="9A93B5"/>
                </a:solidFill>
                <a:latin typeface="Consolas" pitchFamily="34" charset="0"/>
                <a:ea typeface="Consolas" pitchFamily="34" charset="-122"/>
                <a:cs typeface="Consolas" pitchFamily="34" charset="-120"/>
              </a:rPr>
              <a:t>terraform.tfstate</a:t>
            </a:r>
            <a:endParaRPr lang="en-US" sz="1100" dirty="0"/>
          </a:p>
        </p:txBody>
      </p:sp>
      <p:sp>
        <p:nvSpPr>
          <p:cNvPr id="9" name="Text 7"/>
          <p:cNvSpPr/>
          <p:nvPr/>
        </p:nvSpPr>
        <p:spPr>
          <a:xfrm>
            <a:off x="868680" y="2194560"/>
            <a:ext cx="6035040" cy="3383280"/>
          </a:xfrm>
          <a:prstGeom prst="rect">
            <a:avLst/>
          </a:prstGeom>
          <a:noFill/>
          <a:ln/>
        </p:spPr>
        <p:txBody>
          <a:bodyPr wrap="square" lIns="0" tIns="0" rIns="0" bIns="0" rtlCol="0" anchor="ctr"/>
          <a:lstStyle/>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a:t>
            </a:r>
            <a:endParaRPr lang="en-US" sz="1250" dirty="0"/>
          </a:p>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  "resources": [</a:t>
            </a:r>
            <a:endParaRPr lang="en-US" sz="1250" dirty="0"/>
          </a:p>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    {</a:t>
            </a:r>
            <a:endParaRPr lang="en-US" sz="1250" dirty="0"/>
          </a:p>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      "type": "aws_s3_bucket",</a:t>
            </a:r>
            <a:endParaRPr lang="en-US" sz="1250" dirty="0"/>
          </a:p>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      "name": "my_bucket",</a:t>
            </a:r>
            <a:endParaRPr lang="en-US" sz="1250" dirty="0"/>
          </a:p>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      "instances": [</a:t>
            </a:r>
            <a:endParaRPr lang="en-US" sz="1250" dirty="0"/>
          </a:p>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        {</a:t>
            </a:r>
            <a:endParaRPr lang="en-US" sz="1250" dirty="0"/>
          </a:p>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          "attributes": {</a:t>
            </a:r>
            <a:endParaRPr lang="en-US" sz="1250" dirty="0"/>
          </a:p>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            "bucket": "my-terraform-bucket-123",</a:t>
            </a:r>
            <a:endParaRPr lang="en-US" sz="1250" dirty="0"/>
          </a:p>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            "arn": "arn:aws:s3:::my-terraform-bucket-123"</a:t>
            </a:r>
            <a:endParaRPr lang="en-US" sz="1250" dirty="0"/>
          </a:p>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          }</a:t>
            </a:r>
            <a:endParaRPr lang="en-US" sz="1250" dirty="0"/>
          </a:p>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        }</a:t>
            </a:r>
            <a:endParaRPr lang="en-US" sz="1250" dirty="0"/>
          </a:p>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      ]</a:t>
            </a:r>
            <a:endParaRPr lang="en-US" sz="1250" dirty="0"/>
          </a:p>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    }</a:t>
            </a:r>
            <a:endParaRPr lang="en-US" sz="1250" dirty="0"/>
          </a:p>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  ]</a:t>
            </a:r>
            <a:endParaRPr lang="en-US" sz="1250" dirty="0"/>
          </a:p>
          <a:p>
            <a:pPr indent="0" marL="0">
              <a:lnSpc>
                <a:spcPct val="115000"/>
              </a:lnSpc>
              <a:buNone/>
            </a:pPr>
            <a:r>
              <a:rPr lang="en-US" sz="1250" dirty="0">
                <a:solidFill>
                  <a:srgbClr val="E6E1F7"/>
                </a:solidFill>
                <a:latin typeface="Consolas" pitchFamily="34" charset="0"/>
                <a:ea typeface="Consolas" pitchFamily="34" charset="-122"/>
                <a:cs typeface="Consolas" pitchFamily="34" charset="-120"/>
              </a:rPr>
              <a:t>}</a:t>
            </a:r>
            <a:endParaRPr lang="en-US" sz="1250" dirty="0"/>
          </a:p>
        </p:txBody>
      </p:sp>
      <p:sp>
        <p:nvSpPr>
          <p:cNvPr id="10" name="Shape 8"/>
          <p:cNvSpPr/>
          <p:nvPr/>
        </p:nvSpPr>
        <p:spPr>
          <a:xfrm>
            <a:off x="7543800" y="1600200"/>
            <a:ext cx="4114800" cy="4206240"/>
          </a:xfrm>
          <a:prstGeom prst="roundRect">
            <a:avLst>
              <a:gd name="adj" fmla="val 1778"/>
            </a:avLst>
          </a:prstGeom>
          <a:solidFill>
            <a:srgbClr val="F6F4FB"/>
          </a:solidFill>
          <a:ln/>
          <a:effectLst>
            <a:outerShdw sx="100000" sy="100000" kx="0" ky="0" algn="bl" rotWithShape="0" blurRad="101600" dist="38100" dir="5400000">
              <a:srgbClr val="000000">
                <a:alpha val="12000"/>
              </a:srgbClr>
            </a:outerShdw>
          </a:effectLst>
        </p:spPr>
      </p:sp>
      <p:pic>
        <p:nvPicPr>
          <p:cNvPr id="11" name="Image 0" descr="file_violet.png">    </p:cNvPr>
          <p:cNvPicPr>
            <a:picLocks noChangeAspect="1"/>
          </p:cNvPicPr>
          <p:nvPr/>
        </p:nvPicPr>
        <p:blipFill>
          <a:blip r:embed="rId1"/>
          <a:stretch>
            <a:fillRect/>
          </a:stretch>
        </p:blipFill>
        <p:spPr>
          <a:xfrm>
            <a:off x="7863840" y="1874520"/>
            <a:ext cx="365760" cy="365760"/>
          </a:xfrm>
          <a:prstGeom prst="rect">
            <a:avLst/>
          </a:prstGeom>
        </p:spPr>
      </p:pic>
      <p:sp>
        <p:nvSpPr>
          <p:cNvPr id="12" name="Text 9"/>
          <p:cNvSpPr/>
          <p:nvPr/>
        </p:nvSpPr>
        <p:spPr>
          <a:xfrm>
            <a:off x="7863840" y="2331720"/>
            <a:ext cx="3474720" cy="365760"/>
          </a:xfrm>
          <a:prstGeom prst="rect">
            <a:avLst/>
          </a:prstGeom>
          <a:noFill/>
          <a:ln/>
        </p:spPr>
        <p:txBody>
          <a:bodyPr wrap="square" lIns="0" tIns="0" rIns="0" bIns="0" rtlCol="0" anchor="ctr"/>
          <a:lstStyle/>
          <a:p>
            <a:pPr indent="0" marL="0">
              <a:buNone/>
            </a:pPr>
            <a:r>
              <a:rPr lang="en-US" sz="1600" b="1" dirty="0">
                <a:solidFill>
                  <a:srgbClr val="241748"/>
                </a:solidFill>
                <a:latin typeface="Calibri" pitchFamily="34" charset="0"/>
                <a:ea typeface="Calibri" pitchFamily="34" charset="-122"/>
                <a:cs typeface="Calibri" pitchFamily="34" charset="-120"/>
              </a:rPr>
              <a:t>What this maps to</a:t>
            </a:r>
            <a:endParaRPr lang="en-US" sz="1600" dirty="0"/>
          </a:p>
        </p:txBody>
      </p:sp>
      <p:sp>
        <p:nvSpPr>
          <p:cNvPr id="13" name="Text 10"/>
          <p:cNvSpPr/>
          <p:nvPr/>
        </p:nvSpPr>
        <p:spPr>
          <a:xfrm>
            <a:off x="7863840" y="2788920"/>
            <a:ext cx="3474720" cy="2880360"/>
          </a:xfrm>
          <a:prstGeom prst="rect">
            <a:avLst/>
          </a:prstGeom>
          <a:noFill/>
          <a:ln/>
        </p:spPr>
        <p:txBody>
          <a:bodyPr wrap="square" lIns="0" tIns="0" rIns="0" bIns="0" rtlCol="0" anchor="ctr"/>
          <a:lstStyle/>
          <a:p>
            <a:pPr indent="0" marL="0">
              <a:lnSpc>
                <a:spcPct val="110000"/>
              </a:lnSpc>
              <a:buNone/>
            </a:pPr>
            <a:r>
              <a:rPr lang="en-US" sz="1250" b="1" dirty="0">
                <a:solidFill>
                  <a:srgbClr val="000000"/>
                </a:solidFill>
                <a:latin typeface="Calibri" pitchFamily="34" charset="0"/>
                <a:ea typeface="Calibri" pitchFamily="34" charset="-122"/>
                <a:cs typeface="Calibri" pitchFamily="34" charset="-120"/>
              </a:rPr>
              <a:t>type / name</a:t>
            </a:r>
            <a:endParaRPr lang="en-US" sz="1250" dirty="0"/>
          </a:p>
          <a:p>
            <a:pPr indent="0" marL="0">
              <a:lnSpc>
                <a:spcPct val="110000"/>
              </a:lnSpc>
              <a:buNone/>
            </a:pPr>
            <a:r>
              <a:rPr lang="en-US" sz="1250" dirty="0">
                <a:solidFill>
                  <a:srgbClr val="44454D"/>
                </a:solidFill>
                <a:latin typeface="Calibri" pitchFamily="34" charset="0"/>
                <a:ea typeface="Calibri" pitchFamily="34" charset="-122"/>
                <a:cs typeface="Calibri" pitchFamily="34" charset="-120"/>
              </a:rPr>
              <a:t>Which resource block in your .tf config this entry belongs to.</a:t>
            </a:r>
            <a:endParaRPr lang="en-US" sz="1250" dirty="0"/>
          </a:p>
          <a:p>
            <a:pPr indent="0" marL="0">
              <a:lnSpc>
                <a:spcPct val="110000"/>
              </a:lnSpc>
              <a:buNone/>
            </a:pPr>
            <a:r>
              <a:rPr lang="en-US" sz="600" dirty="0">
                <a:solidFill>
                  <a:srgbClr val="000000"/>
                </a:solidFill>
                <a:latin typeface="Calibri" pitchFamily="34" charset="0"/>
                <a:ea typeface="Calibri" pitchFamily="34" charset="-122"/>
                <a:cs typeface="Calibri" pitchFamily="34" charset="-120"/>
              </a:rPr>
              <a:t> </a:t>
            </a:r>
            <a:endParaRPr lang="en-US" sz="1250" dirty="0"/>
          </a:p>
          <a:p>
            <a:pPr indent="0" marL="0">
              <a:lnSpc>
                <a:spcPct val="110000"/>
              </a:lnSpc>
              <a:buNone/>
            </a:pPr>
            <a:r>
              <a:rPr lang="en-US" sz="1250" b="1" dirty="0">
                <a:solidFill>
                  <a:srgbClr val="000000"/>
                </a:solidFill>
                <a:latin typeface="Calibri" pitchFamily="34" charset="0"/>
                <a:ea typeface="Calibri" pitchFamily="34" charset="-122"/>
                <a:cs typeface="Calibri" pitchFamily="34" charset="-120"/>
              </a:rPr>
              <a:t>attributes</a:t>
            </a:r>
            <a:endParaRPr lang="en-US" sz="1250" dirty="0"/>
          </a:p>
          <a:p>
            <a:pPr indent="0" marL="0">
              <a:lnSpc>
                <a:spcPct val="110000"/>
              </a:lnSpc>
              <a:buNone/>
            </a:pPr>
            <a:r>
              <a:rPr lang="en-US" sz="1250" dirty="0">
                <a:solidFill>
                  <a:srgbClr val="44454D"/>
                </a:solidFill>
                <a:latin typeface="Calibri" pitchFamily="34" charset="0"/>
                <a:ea typeface="Calibri" pitchFamily="34" charset="-122"/>
                <a:cs typeface="Calibri" pitchFamily="34" charset="-120"/>
              </a:rPr>
              <a:t>The real-world values Terraform read back from AWS after creation.</a:t>
            </a:r>
            <a:endParaRPr lang="en-US" sz="1250" dirty="0"/>
          </a:p>
          <a:p>
            <a:pPr indent="0" marL="0">
              <a:lnSpc>
                <a:spcPct val="110000"/>
              </a:lnSpc>
              <a:buNone/>
            </a:pPr>
            <a:r>
              <a:rPr lang="en-US" sz="600" dirty="0">
                <a:solidFill>
                  <a:srgbClr val="000000"/>
                </a:solidFill>
                <a:latin typeface="Calibri" pitchFamily="34" charset="0"/>
                <a:ea typeface="Calibri" pitchFamily="34" charset="-122"/>
                <a:cs typeface="Calibri" pitchFamily="34" charset="-120"/>
              </a:rPr>
              <a:t> </a:t>
            </a:r>
            <a:endParaRPr lang="en-US" sz="1250" dirty="0"/>
          </a:p>
          <a:p>
            <a:pPr indent="0" marL="0">
              <a:lnSpc>
                <a:spcPct val="110000"/>
              </a:lnSpc>
              <a:buNone/>
            </a:pPr>
            <a:r>
              <a:rPr lang="en-US" sz="1250" b="1" dirty="0">
                <a:solidFill>
                  <a:srgbClr val="000000"/>
                </a:solidFill>
                <a:latin typeface="Calibri" pitchFamily="34" charset="0"/>
                <a:ea typeface="Calibri" pitchFamily="34" charset="-122"/>
                <a:cs typeface="Calibri" pitchFamily="34" charset="-120"/>
              </a:rPr>
              <a:t>arn</a:t>
            </a:r>
            <a:endParaRPr lang="en-US" sz="1250" dirty="0"/>
          </a:p>
          <a:p>
            <a:pPr indent="0" marL="0">
              <a:lnSpc>
                <a:spcPct val="110000"/>
              </a:lnSpc>
              <a:buNone/>
            </a:pPr>
            <a:r>
              <a:rPr lang="en-US" sz="1250" dirty="0">
                <a:solidFill>
                  <a:srgbClr val="44454D"/>
                </a:solidFill>
                <a:latin typeface="Calibri" pitchFamily="34" charset="0"/>
                <a:ea typeface="Calibri" pitchFamily="34" charset="-122"/>
                <a:cs typeface="Calibri" pitchFamily="34" charset="-120"/>
              </a:rPr>
              <a:t>The unique AWS identifier — proof this state entry is bound to one specific bucket.</a:t>
            </a:r>
            <a:endParaRPr lang="en-US" sz="1250" dirty="0"/>
          </a:p>
        </p:txBody>
      </p:sp>
      <p:sp>
        <p:nvSpPr>
          <p:cNvPr id="14" name="Text 11"/>
          <p:cNvSpPr/>
          <p:nvPr/>
        </p:nvSpPr>
        <p:spPr>
          <a:xfrm>
            <a:off x="457200" y="6446520"/>
            <a:ext cx="5486400" cy="274320"/>
          </a:xfrm>
          <a:prstGeom prst="rect">
            <a:avLst/>
          </a:prstGeom>
          <a:noFill/>
          <a:ln/>
        </p:spPr>
        <p:txBody>
          <a:bodyPr wrap="square" lIns="0" tIns="0" rIns="0" bIns="0" rtlCol="0" anchor="ctr"/>
          <a:lstStyle/>
          <a:p>
            <a:pPr algn="l" indent="0" marL="0">
              <a:buNone/>
            </a:pPr>
            <a:r>
              <a:rPr lang="en-US" sz="1000" dirty="0">
                <a:solidFill>
                  <a:srgbClr val="9A93B5"/>
                </a:solidFill>
                <a:latin typeface="Calibri" pitchFamily="34" charset="0"/>
                <a:ea typeface="Calibri" pitchFamily="34" charset="-122"/>
                <a:cs typeface="Calibri" pitchFamily="34" charset="-120"/>
              </a:rPr>
              <a:t>Terraform State Management</a:t>
            </a:r>
            <a:endParaRPr lang="en-US" sz="1000" dirty="0"/>
          </a:p>
        </p:txBody>
      </p:sp>
      <p:sp>
        <p:nvSpPr>
          <p:cNvPr id="15" name="Text 12"/>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A93B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300" b="1" spc="200" kern="0" dirty="0">
                <a:solidFill>
                  <a:srgbClr val="7C4DFF"/>
                </a:solidFill>
                <a:latin typeface="Calibri" pitchFamily="34" charset="0"/>
                <a:ea typeface="Calibri" pitchFamily="34" charset="-122"/>
                <a:cs typeface="Calibri" pitchFamily="34" charset="-120"/>
              </a:rPr>
              <a:t>4.2  LOCAL VS. REMOTE STATE</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241748"/>
                </a:solidFill>
                <a:latin typeface="Cambria" pitchFamily="34" charset="0"/>
                <a:ea typeface="Cambria" pitchFamily="34" charset="-122"/>
                <a:cs typeface="Cambria" pitchFamily="34" charset="-120"/>
              </a:rPr>
              <a:t>Where should your state file live?</a:t>
            </a:r>
            <a:endParaRPr lang="en-US" sz="3200" dirty="0"/>
          </a:p>
        </p:txBody>
      </p:sp>
      <p:sp>
        <p:nvSpPr>
          <p:cNvPr id="4" name="Shape 2"/>
          <p:cNvSpPr/>
          <p:nvPr/>
        </p:nvSpPr>
        <p:spPr>
          <a:xfrm>
            <a:off x="548640" y="1691640"/>
            <a:ext cx="5257800" cy="4206240"/>
          </a:xfrm>
          <a:prstGeom prst="roundRect">
            <a:avLst>
              <a:gd name="adj" fmla="val 2174"/>
            </a:avLst>
          </a:prstGeom>
          <a:solidFill>
            <a:srgbClr val="F6F4FB"/>
          </a:solidFill>
          <a:ln/>
          <a:effectLst>
            <a:outerShdw sx="100000" sy="100000" kx="0" ky="0" algn="bl" rotWithShape="0" blurRad="101600" dist="38100" dir="5400000">
              <a:srgbClr val="000000">
                <a:alpha val="12000"/>
              </a:srgbClr>
            </a:outerShdw>
          </a:effectLst>
        </p:spPr>
      </p:sp>
      <p:pic>
        <p:nvPicPr>
          <p:cNvPr id="5" name="Image 0" descr="box_violet.png">    </p:cNvPr>
          <p:cNvPicPr>
            <a:picLocks noChangeAspect="1"/>
          </p:cNvPicPr>
          <p:nvPr/>
        </p:nvPicPr>
        <p:blipFill>
          <a:blip r:embed="rId1"/>
          <a:stretch>
            <a:fillRect/>
          </a:stretch>
        </p:blipFill>
        <p:spPr>
          <a:xfrm>
            <a:off x="914400" y="2011680"/>
            <a:ext cx="411480" cy="411480"/>
          </a:xfrm>
          <a:prstGeom prst="rect">
            <a:avLst/>
          </a:prstGeom>
        </p:spPr>
      </p:pic>
      <p:sp>
        <p:nvSpPr>
          <p:cNvPr id="6" name="Text 3"/>
          <p:cNvSpPr/>
          <p:nvPr/>
        </p:nvSpPr>
        <p:spPr>
          <a:xfrm>
            <a:off x="1463040" y="2039112"/>
            <a:ext cx="4069080" cy="457200"/>
          </a:xfrm>
          <a:prstGeom prst="rect">
            <a:avLst/>
          </a:prstGeom>
          <a:noFill/>
          <a:ln/>
        </p:spPr>
        <p:txBody>
          <a:bodyPr wrap="square" lIns="0" tIns="0" rIns="0" bIns="0" rtlCol="0" anchor="ctr"/>
          <a:lstStyle/>
          <a:p>
            <a:pPr indent="0" marL="0">
              <a:buNone/>
            </a:pPr>
            <a:r>
              <a:rPr lang="en-US" sz="1800" b="1" dirty="0">
                <a:solidFill>
                  <a:srgbClr val="241748"/>
                </a:solidFill>
                <a:latin typeface="Calibri" pitchFamily="34" charset="0"/>
                <a:ea typeface="Calibri" pitchFamily="34" charset="-122"/>
                <a:cs typeface="Calibri" pitchFamily="34" charset="-120"/>
              </a:rPr>
              <a:t>Local State (default)</a:t>
            </a:r>
            <a:endParaRPr lang="en-US" sz="1800" dirty="0"/>
          </a:p>
        </p:txBody>
      </p:sp>
      <p:sp>
        <p:nvSpPr>
          <p:cNvPr id="7" name="Text 4"/>
          <p:cNvSpPr/>
          <p:nvPr/>
        </p:nvSpPr>
        <p:spPr>
          <a:xfrm>
            <a:off x="914400" y="2606040"/>
            <a:ext cx="4526280" cy="320040"/>
          </a:xfrm>
          <a:prstGeom prst="rect">
            <a:avLst/>
          </a:prstGeom>
          <a:noFill/>
          <a:ln/>
        </p:spPr>
        <p:txBody>
          <a:bodyPr wrap="square" lIns="0" tIns="0" rIns="0" bIns="0" rtlCol="0" anchor="ctr"/>
          <a:lstStyle/>
          <a:p>
            <a:pPr indent="0" marL="0">
              <a:buNone/>
            </a:pPr>
            <a:r>
              <a:rPr lang="en-US" sz="1150" dirty="0">
                <a:solidFill>
                  <a:srgbClr val="3B2667"/>
                </a:solidFill>
                <a:latin typeface="Consolas" pitchFamily="34" charset="0"/>
                <a:ea typeface="Consolas" pitchFamily="34" charset="-122"/>
                <a:cs typeface="Consolas" pitchFamily="34" charset="-120"/>
              </a:rPr>
              <a:t>terraform apply  →  terraform.tfstate</a:t>
            </a:r>
            <a:endParaRPr lang="en-US" sz="1150" dirty="0"/>
          </a:p>
        </p:txBody>
      </p:sp>
      <p:pic>
        <p:nvPicPr>
          <p:cNvPr id="8" name="Image 1" descr="check_teal.png">    </p:cNvPr>
          <p:cNvPicPr>
            <a:picLocks noChangeAspect="1"/>
          </p:cNvPicPr>
          <p:nvPr/>
        </p:nvPicPr>
        <p:blipFill>
          <a:blip r:embed="rId2"/>
          <a:stretch>
            <a:fillRect/>
          </a:stretch>
        </p:blipFill>
        <p:spPr>
          <a:xfrm>
            <a:off x="914400" y="3108960"/>
            <a:ext cx="256032" cy="256032"/>
          </a:xfrm>
          <a:prstGeom prst="rect">
            <a:avLst/>
          </a:prstGeom>
        </p:spPr>
      </p:pic>
      <p:sp>
        <p:nvSpPr>
          <p:cNvPr id="9" name="Text 5"/>
          <p:cNvSpPr/>
          <p:nvPr/>
        </p:nvSpPr>
        <p:spPr>
          <a:xfrm>
            <a:off x="1325880" y="3054096"/>
            <a:ext cx="4160520" cy="365760"/>
          </a:xfrm>
          <a:prstGeom prst="rect">
            <a:avLst/>
          </a:prstGeom>
          <a:noFill/>
          <a:ln/>
        </p:spPr>
        <p:txBody>
          <a:bodyPr wrap="square" lIns="0" tIns="0" rIns="0" bIns="0" rtlCol="0" anchor="ctr"/>
          <a:lstStyle/>
          <a:p>
            <a:pPr indent="0" marL="0">
              <a:buNone/>
            </a:pPr>
            <a:r>
              <a:rPr lang="en-US" sz="1300" dirty="0">
                <a:solidFill>
                  <a:srgbClr val="44454D"/>
                </a:solidFill>
                <a:latin typeface="Calibri" pitchFamily="34" charset="0"/>
                <a:ea typeface="Calibri" pitchFamily="34" charset="-122"/>
                <a:cs typeface="Calibri" pitchFamily="34" charset="-120"/>
              </a:rPr>
              <a:t>Easy to use — zero setup required</a:t>
            </a:r>
            <a:endParaRPr lang="en-US" sz="1300" dirty="0"/>
          </a:p>
        </p:txBody>
      </p:sp>
      <p:pic>
        <p:nvPicPr>
          <p:cNvPr id="10" name="Image 2" descr="times_red.png">    </p:cNvPr>
          <p:cNvPicPr>
            <a:picLocks noChangeAspect="1"/>
          </p:cNvPicPr>
          <p:nvPr/>
        </p:nvPicPr>
        <p:blipFill>
          <a:blip r:embed="rId3"/>
          <a:stretch>
            <a:fillRect/>
          </a:stretch>
        </p:blipFill>
        <p:spPr>
          <a:xfrm>
            <a:off x="914400" y="3657600"/>
            <a:ext cx="256032" cy="256032"/>
          </a:xfrm>
          <a:prstGeom prst="rect">
            <a:avLst/>
          </a:prstGeom>
        </p:spPr>
      </p:pic>
      <p:sp>
        <p:nvSpPr>
          <p:cNvPr id="11" name="Text 6"/>
          <p:cNvSpPr/>
          <p:nvPr/>
        </p:nvSpPr>
        <p:spPr>
          <a:xfrm>
            <a:off x="1325880" y="3602736"/>
            <a:ext cx="4160520" cy="365760"/>
          </a:xfrm>
          <a:prstGeom prst="rect">
            <a:avLst/>
          </a:prstGeom>
          <a:noFill/>
          <a:ln/>
        </p:spPr>
        <p:txBody>
          <a:bodyPr wrap="square" lIns="0" tIns="0" rIns="0" bIns="0" rtlCol="0" anchor="ctr"/>
          <a:lstStyle/>
          <a:p>
            <a:pPr indent="0" marL="0">
              <a:buNone/>
            </a:pPr>
            <a:r>
              <a:rPr lang="en-US" sz="1300" dirty="0">
                <a:solidFill>
                  <a:srgbClr val="44454D"/>
                </a:solidFill>
                <a:latin typeface="Calibri" pitchFamily="34" charset="0"/>
                <a:ea typeface="Calibri" pitchFamily="34" charset="-122"/>
                <a:cs typeface="Calibri" pitchFamily="34" charset="-120"/>
              </a:rPr>
              <a:t>Hard to share across a team</a:t>
            </a:r>
            <a:endParaRPr lang="en-US" sz="1300" dirty="0"/>
          </a:p>
        </p:txBody>
      </p:sp>
      <p:pic>
        <p:nvPicPr>
          <p:cNvPr id="12" name="Image 3" descr="times_red.png">    </p:cNvPr>
          <p:cNvPicPr>
            <a:picLocks noChangeAspect="1"/>
          </p:cNvPicPr>
          <p:nvPr/>
        </p:nvPicPr>
        <p:blipFill>
          <a:blip r:embed="rId4"/>
          <a:stretch>
            <a:fillRect/>
          </a:stretch>
        </p:blipFill>
        <p:spPr>
          <a:xfrm>
            <a:off x="914400" y="4206240"/>
            <a:ext cx="256032" cy="256032"/>
          </a:xfrm>
          <a:prstGeom prst="rect">
            <a:avLst/>
          </a:prstGeom>
        </p:spPr>
      </p:pic>
      <p:sp>
        <p:nvSpPr>
          <p:cNvPr id="13" name="Text 7"/>
          <p:cNvSpPr/>
          <p:nvPr/>
        </p:nvSpPr>
        <p:spPr>
          <a:xfrm>
            <a:off x="1325880" y="4151376"/>
            <a:ext cx="4160520" cy="365760"/>
          </a:xfrm>
          <a:prstGeom prst="rect">
            <a:avLst/>
          </a:prstGeom>
          <a:noFill/>
          <a:ln/>
        </p:spPr>
        <p:txBody>
          <a:bodyPr wrap="square" lIns="0" tIns="0" rIns="0" bIns="0" rtlCol="0" anchor="ctr"/>
          <a:lstStyle/>
          <a:p>
            <a:pPr indent="0" marL="0">
              <a:buNone/>
            </a:pPr>
            <a:r>
              <a:rPr lang="en-US" sz="1300" dirty="0">
                <a:solidFill>
                  <a:srgbClr val="44454D"/>
                </a:solidFill>
                <a:latin typeface="Calibri" pitchFamily="34" charset="0"/>
                <a:ea typeface="Calibri" pitchFamily="34" charset="-122"/>
                <a:cs typeface="Calibri" pitchFamily="34" charset="-120"/>
              </a:rPr>
              <a:t>Risk of accidental deletion</a:t>
            </a:r>
            <a:endParaRPr lang="en-US" sz="1300" dirty="0"/>
          </a:p>
        </p:txBody>
      </p:sp>
      <p:sp>
        <p:nvSpPr>
          <p:cNvPr id="14" name="Shape 8"/>
          <p:cNvSpPr/>
          <p:nvPr/>
        </p:nvSpPr>
        <p:spPr>
          <a:xfrm>
            <a:off x="6355080" y="1691640"/>
            <a:ext cx="5257800" cy="4206240"/>
          </a:xfrm>
          <a:prstGeom prst="roundRect">
            <a:avLst>
              <a:gd name="adj" fmla="val 2174"/>
            </a:avLst>
          </a:prstGeom>
          <a:solidFill>
            <a:srgbClr val="3B2667"/>
          </a:solidFill>
          <a:ln/>
          <a:effectLst>
            <a:outerShdw sx="100000" sy="100000" kx="0" ky="0" algn="bl" rotWithShape="0" blurRad="101600" dist="38100" dir="5400000">
              <a:srgbClr val="000000">
                <a:alpha val="12000"/>
              </a:srgbClr>
            </a:outerShdw>
          </a:effectLst>
        </p:spPr>
      </p:sp>
      <p:pic>
        <p:nvPicPr>
          <p:cNvPr id="15" name="Image 4" descr="cloud_white.png">    </p:cNvPr>
          <p:cNvPicPr>
            <a:picLocks noChangeAspect="1"/>
          </p:cNvPicPr>
          <p:nvPr/>
        </p:nvPicPr>
        <p:blipFill>
          <a:blip r:embed="rId5"/>
          <a:stretch>
            <a:fillRect/>
          </a:stretch>
        </p:blipFill>
        <p:spPr>
          <a:xfrm>
            <a:off x="6720840" y="2011680"/>
            <a:ext cx="411480" cy="411480"/>
          </a:xfrm>
          <a:prstGeom prst="rect">
            <a:avLst/>
          </a:prstGeom>
        </p:spPr>
      </p:pic>
      <p:sp>
        <p:nvSpPr>
          <p:cNvPr id="16" name="Text 9"/>
          <p:cNvSpPr/>
          <p:nvPr/>
        </p:nvSpPr>
        <p:spPr>
          <a:xfrm>
            <a:off x="7269480" y="2039112"/>
            <a:ext cx="406908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Remote State (teams)</a:t>
            </a:r>
            <a:endParaRPr lang="en-US" sz="1800" dirty="0"/>
          </a:p>
        </p:txBody>
      </p:sp>
      <p:sp>
        <p:nvSpPr>
          <p:cNvPr id="17" name="Text 10"/>
          <p:cNvSpPr/>
          <p:nvPr/>
        </p:nvSpPr>
        <p:spPr>
          <a:xfrm>
            <a:off x="6720840" y="2606040"/>
            <a:ext cx="4526280" cy="320040"/>
          </a:xfrm>
          <a:prstGeom prst="rect">
            <a:avLst/>
          </a:prstGeom>
          <a:noFill/>
          <a:ln/>
        </p:spPr>
        <p:txBody>
          <a:bodyPr wrap="square" lIns="0" tIns="0" rIns="0" bIns="0" rtlCol="0" anchor="ctr"/>
          <a:lstStyle/>
          <a:p>
            <a:pPr indent="0" marL="0">
              <a:buNone/>
            </a:pPr>
            <a:r>
              <a:rPr lang="en-US" sz="1150" dirty="0">
                <a:solidFill>
                  <a:srgbClr val="CFC9E8"/>
                </a:solidFill>
                <a:latin typeface="Consolas" pitchFamily="34" charset="0"/>
                <a:ea typeface="Consolas" pitchFamily="34" charset="-122"/>
                <a:cs typeface="Consolas" pitchFamily="34" charset="-120"/>
              </a:rPr>
              <a:t>S3  •  Azure Blob  •  GCS  •  Terraform Cloud</a:t>
            </a:r>
            <a:endParaRPr lang="en-US" sz="1150" dirty="0"/>
          </a:p>
        </p:txBody>
      </p:sp>
      <p:pic>
        <p:nvPicPr>
          <p:cNvPr id="18" name="Image 5" descr="check_white.png">    </p:cNvPr>
          <p:cNvPicPr>
            <a:picLocks noChangeAspect="1"/>
          </p:cNvPicPr>
          <p:nvPr/>
        </p:nvPicPr>
        <p:blipFill>
          <a:blip r:embed="rId6"/>
          <a:stretch>
            <a:fillRect/>
          </a:stretch>
        </p:blipFill>
        <p:spPr>
          <a:xfrm>
            <a:off x="6720840" y="3108960"/>
            <a:ext cx="256032" cy="256032"/>
          </a:xfrm>
          <a:prstGeom prst="rect">
            <a:avLst/>
          </a:prstGeom>
        </p:spPr>
      </p:pic>
      <p:sp>
        <p:nvSpPr>
          <p:cNvPr id="19" name="Text 11"/>
          <p:cNvSpPr/>
          <p:nvPr/>
        </p:nvSpPr>
        <p:spPr>
          <a:xfrm>
            <a:off x="7132320" y="3054096"/>
            <a:ext cx="41605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Shared access for the whole team</a:t>
            </a:r>
            <a:endParaRPr lang="en-US" sz="1300" dirty="0"/>
          </a:p>
        </p:txBody>
      </p:sp>
      <p:pic>
        <p:nvPicPr>
          <p:cNvPr id="20" name="Image 6" descr="check_white.png">    </p:cNvPr>
          <p:cNvPicPr>
            <a:picLocks noChangeAspect="1"/>
          </p:cNvPicPr>
          <p:nvPr/>
        </p:nvPicPr>
        <p:blipFill>
          <a:blip r:embed="rId7"/>
          <a:stretch>
            <a:fillRect/>
          </a:stretch>
        </p:blipFill>
        <p:spPr>
          <a:xfrm>
            <a:off x="6720840" y="3657600"/>
            <a:ext cx="256032" cy="256032"/>
          </a:xfrm>
          <a:prstGeom prst="rect">
            <a:avLst/>
          </a:prstGeom>
        </p:spPr>
      </p:pic>
      <p:sp>
        <p:nvSpPr>
          <p:cNvPr id="21" name="Text 12"/>
          <p:cNvSpPr/>
          <p:nvPr/>
        </p:nvSpPr>
        <p:spPr>
          <a:xfrm>
            <a:off x="7132320" y="3602736"/>
            <a:ext cx="41605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Prevents conflicting updates</a:t>
            </a:r>
            <a:endParaRPr lang="en-US" sz="1300" dirty="0"/>
          </a:p>
        </p:txBody>
      </p:sp>
      <p:pic>
        <p:nvPicPr>
          <p:cNvPr id="22" name="Image 7" descr="check_white.png">    </p:cNvPr>
          <p:cNvPicPr>
            <a:picLocks noChangeAspect="1"/>
          </p:cNvPicPr>
          <p:nvPr/>
        </p:nvPicPr>
        <p:blipFill>
          <a:blip r:embed="rId8"/>
          <a:stretch>
            <a:fillRect/>
          </a:stretch>
        </p:blipFill>
        <p:spPr>
          <a:xfrm>
            <a:off x="6720840" y="4206240"/>
            <a:ext cx="256032" cy="256032"/>
          </a:xfrm>
          <a:prstGeom prst="rect">
            <a:avLst/>
          </a:prstGeom>
        </p:spPr>
      </p:pic>
      <p:sp>
        <p:nvSpPr>
          <p:cNvPr id="23" name="Text 13"/>
          <p:cNvSpPr/>
          <p:nvPr/>
        </p:nvSpPr>
        <p:spPr>
          <a:xfrm>
            <a:off x="7132320" y="4151376"/>
            <a:ext cx="41605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Secure, durable storage</a:t>
            </a:r>
            <a:endParaRPr lang="en-US" sz="1300" dirty="0"/>
          </a:p>
        </p:txBody>
      </p:sp>
      <p:pic>
        <p:nvPicPr>
          <p:cNvPr id="24" name="Image 8" descr="warning_amber.png">    </p:cNvPr>
          <p:cNvPicPr>
            <a:picLocks noChangeAspect="1"/>
          </p:cNvPicPr>
          <p:nvPr/>
        </p:nvPicPr>
        <p:blipFill>
          <a:blip r:embed="rId9"/>
          <a:stretch>
            <a:fillRect/>
          </a:stretch>
        </p:blipFill>
        <p:spPr>
          <a:xfrm>
            <a:off x="6720840" y="4754880"/>
            <a:ext cx="256032" cy="256032"/>
          </a:xfrm>
          <a:prstGeom prst="rect">
            <a:avLst/>
          </a:prstGeom>
        </p:spPr>
      </p:pic>
      <p:sp>
        <p:nvSpPr>
          <p:cNvPr id="25" name="Text 14"/>
          <p:cNvSpPr/>
          <p:nvPr/>
        </p:nvSpPr>
        <p:spPr>
          <a:xfrm>
            <a:off x="7132320" y="4700016"/>
            <a:ext cx="41605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Requires extra setup</a:t>
            </a:r>
            <a:endParaRPr lang="en-US" sz="1300" dirty="0"/>
          </a:p>
        </p:txBody>
      </p:sp>
      <p:sp>
        <p:nvSpPr>
          <p:cNvPr id="26" name="Text 15"/>
          <p:cNvSpPr/>
          <p:nvPr/>
        </p:nvSpPr>
        <p:spPr>
          <a:xfrm>
            <a:off x="457200" y="6446520"/>
            <a:ext cx="5486400" cy="274320"/>
          </a:xfrm>
          <a:prstGeom prst="rect">
            <a:avLst/>
          </a:prstGeom>
          <a:noFill/>
          <a:ln/>
        </p:spPr>
        <p:txBody>
          <a:bodyPr wrap="square" lIns="0" tIns="0" rIns="0" bIns="0" rtlCol="0" anchor="ctr"/>
          <a:lstStyle/>
          <a:p>
            <a:pPr algn="l" indent="0" marL="0">
              <a:buNone/>
            </a:pPr>
            <a:r>
              <a:rPr lang="en-US" sz="1000" dirty="0">
                <a:solidFill>
                  <a:srgbClr val="9A93B5"/>
                </a:solidFill>
                <a:latin typeface="Calibri" pitchFamily="34" charset="0"/>
                <a:ea typeface="Calibri" pitchFamily="34" charset="-122"/>
                <a:cs typeface="Calibri" pitchFamily="34" charset="-120"/>
              </a:rPr>
              <a:t>Terraform State Management</a:t>
            </a:r>
            <a:endParaRPr lang="en-US" sz="1000" dirty="0"/>
          </a:p>
        </p:txBody>
      </p:sp>
      <p:sp>
        <p:nvSpPr>
          <p:cNvPr id="27" name="Text 16"/>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A93B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300" b="1" spc="200" kern="0" dirty="0">
                <a:solidFill>
                  <a:srgbClr val="7C4DFF"/>
                </a:solidFill>
                <a:latin typeface="Calibri" pitchFamily="34" charset="0"/>
                <a:ea typeface="Calibri" pitchFamily="34" charset="-122"/>
                <a:cs typeface="Calibri" pitchFamily="34" charset="-120"/>
              </a:rPr>
              <a:t>4.3  STATE LOCKING &amp; SECURITY</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241748"/>
                </a:solidFill>
                <a:latin typeface="Cambria" pitchFamily="34" charset="0"/>
                <a:ea typeface="Cambria" pitchFamily="34" charset="-122"/>
                <a:cs typeface="Cambria" pitchFamily="34" charset="-120"/>
              </a:rPr>
              <a:t>Why concurrent applies are dangerous</a:t>
            </a:r>
            <a:endParaRPr lang="en-US" sz="3200" dirty="0"/>
          </a:p>
        </p:txBody>
      </p:sp>
      <p:sp>
        <p:nvSpPr>
          <p:cNvPr id="4" name="Text 2"/>
          <p:cNvSpPr/>
          <p:nvPr/>
        </p:nvSpPr>
        <p:spPr>
          <a:xfrm>
            <a:off x="640080" y="1737360"/>
            <a:ext cx="3657600" cy="365760"/>
          </a:xfrm>
          <a:prstGeom prst="rect">
            <a:avLst/>
          </a:prstGeom>
          <a:noFill/>
          <a:ln/>
        </p:spPr>
        <p:txBody>
          <a:bodyPr wrap="square" lIns="0" tIns="0" rIns="0" bIns="0" rtlCol="0" anchor="ctr"/>
          <a:lstStyle/>
          <a:p>
            <a:pPr indent="0" marL="0">
              <a:buNone/>
            </a:pPr>
            <a:r>
              <a:rPr lang="en-US" sz="1400" b="1" dirty="0">
                <a:solidFill>
                  <a:srgbClr val="E85D5D"/>
                </a:solidFill>
                <a:latin typeface="Calibri" pitchFamily="34" charset="0"/>
                <a:ea typeface="Calibri" pitchFamily="34" charset="-122"/>
                <a:cs typeface="Calibri" pitchFamily="34" charset="-120"/>
              </a:rPr>
              <a:t>Without locking</a:t>
            </a:r>
            <a:endParaRPr lang="en-US" sz="1400" dirty="0"/>
          </a:p>
        </p:txBody>
      </p:sp>
      <p:sp>
        <p:nvSpPr>
          <p:cNvPr id="5" name="Shape 3"/>
          <p:cNvSpPr/>
          <p:nvPr/>
        </p:nvSpPr>
        <p:spPr>
          <a:xfrm>
            <a:off x="640080" y="2194560"/>
            <a:ext cx="1920240" cy="777240"/>
          </a:xfrm>
          <a:prstGeom prst="roundRect">
            <a:avLst>
              <a:gd name="adj" fmla="val 9412"/>
            </a:avLst>
          </a:prstGeom>
          <a:solidFill>
            <a:srgbClr val="F6F4FB"/>
          </a:solidFill>
          <a:ln/>
        </p:spPr>
      </p:sp>
      <p:pic>
        <p:nvPicPr>
          <p:cNvPr id="6" name="Image 0" descr="users_violet.png">    </p:cNvPr>
          <p:cNvPicPr>
            <a:picLocks noChangeAspect="1"/>
          </p:cNvPicPr>
          <p:nvPr/>
        </p:nvPicPr>
        <p:blipFill>
          <a:blip r:embed="rId1"/>
          <a:stretch>
            <a:fillRect/>
          </a:stretch>
        </p:blipFill>
        <p:spPr>
          <a:xfrm>
            <a:off x="822960" y="2377440"/>
            <a:ext cx="384048" cy="384048"/>
          </a:xfrm>
          <a:prstGeom prst="rect">
            <a:avLst/>
          </a:prstGeom>
        </p:spPr>
      </p:pic>
      <p:sp>
        <p:nvSpPr>
          <p:cNvPr id="7" name="Text 4"/>
          <p:cNvSpPr/>
          <p:nvPr/>
        </p:nvSpPr>
        <p:spPr>
          <a:xfrm>
            <a:off x="1325880" y="2395728"/>
            <a:ext cx="1188720" cy="365760"/>
          </a:xfrm>
          <a:prstGeom prst="rect">
            <a:avLst/>
          </a:prstGeom>
          <a:noFill/>
          <a:ln/>
        </p:spPr>
        <p:txBody>
          <a:bodyPr wrap="square" lIns="0" tIns="0" rIns="0" bIns="0" rtlCol="0" anchor="ctr"/>
          <a:lstStyle/>
          <a:p>
            <a:pPr indent="0" marL="0">
              <a:buNone/>
            </a:pPr>
            <a:r>
              <a:rPr lang="en-US" sz="1100" dirty="0">
                <a:solidFill>
                  <a:srgbClr val="241748"/>
                </a:solidFill>
                <a:latin typeface="Calibri" pitchFamily="34" charset="0"/>
                <a:ea typeface="Calibri" pitchFamily="34" charset="-122"/>
                <a:cs typeface="Calibri" pitchFamily="34" charset="-120"/>
              </a:rPr>
              <a:t>User A: apply</a:t>
            </a:r>
            <a:endParaRPr lang="en-US" sz="1100" dirty="0"/>
          </a:p>
        </p:txBody>
      </p:sp>
      <p:sp>
        <p:nvSpPr>
          <p:cNvPr id="8" name="Shape 5"/>
          <p:cNvSpPr/>
          <p:nvPr/>
        </p:nvSpPr>
        <p:spPr>
          <a:xfrm>
            <a:off x="640080" y="3200400"/>
            <a:ext cx="1920240" cy="777240"/>
          </a:xfrm>
          <a:prstGeom prst="roundRect">
            <a:avLst>
              <a:gd name="adj" fmla="val 9412"/>
            </a:avLst>
          </a:prstGeom>
          <a:solidFill>
            <a:srgbClr val="F6F4FB"/>
          </a:solidFill>
          <a:ln/>
        </p:spPr>
      </p:sp>
      <p:pic>
        <p:nvPicPr>
          <p:cNvPr id="9" name="Image 1" descr="users_violet.png">    </p:cNvPr>
          <p:cNvPicPr>
            <a:picLocks noChangeAspect="1"/>
          </p:cNvPicPr>
          <p:nvPr/>
        </p:nvPicPr>
        <p:blipFill>
          <a:blip r:embed="rId2"/>
          <a:stretch>
            <a:fillRect/>
          </a:stretch>
        </p:blipFill>
        <p:spPr>
          <a:xfrm>
            <a:off x="822960" y="3383280"/>
            <a:ext cx="384048" cy="384048"/>
          </a:xfrm>
          <a:prstGeom prst="rect">
            <a:avLst/>
          </a:prstGeom>
        </p:spPr>
      </p:pic>
      <p:sp>
        <p:nvSpPr>
          <p:cNvPr id="10" name="Text 6"/>
          <p:cNvSpPr/>
          <p:nvPr/>
        </p:nvSpPr>
        <p:spPr>
          <a:xfrm>
            <a:off x="1325880" y="3401568"/>
            <a:ext cx="1188720" cy="365760"/>
          </a:xfrm>
          <a:prstGeom prst="rect">
            <a:avLst/>
          </a:prstGeom>
          <a:noFill/>
          <a:ln/>
        </p:spPr>
        <p:txBody>
          <a:bodyPr wrap="square" lIns="0" tIns="0" rIns="0" bIns="0" rtlCol="0" anchor="ctr"/>
          <a:lstStyle/>
          <a:p>
            <a:pPr indent="0" marL="0">
              <a:buNone/>
            </a:pPr>
            <a:r>
              <a:rPr lang="en-US" sz="1100" dirty="0">
                <a:solidFill>
                  <a:srgbClr val="241748"/>
                </a:solidFill>
                <a:latin typeface="Calibri" pitchFamily="34" charset="0"/>
                <a:ea typeface="Calibri" pitchFamily="34" charset="-122"/>
                <a:cs typeface="Calibri" pitchFamily="34" charset="-120"/>
              </a:rPr>
              <a:t>User B: apply</a:t>
            </a:r>
            <a:endParaRPr lang="en-US" sz="1100" dirty="0"/>
          </a:p>
        </p:txBody>
      </p:sp>
      <p:sp>
        <p:nvSpPr>
          <p:cNvPr id="11" name="Shape 7"/>
          <p:cNvSpPr/>
          <p:nvPr/>
        </p:nvSpPr>
        <p:spPr>
          <a:xfrm>
            <a:off x="2560320" y="2587752"/>
            <a:ext cx="731520" cy="548640"/>
          </a:xfrm>
          <a:prstGeom prst="line">
            <a:avLst/>
          </a:prstGeom>
          <a:noFill/>
          <a:ln w="19050">
            <a:solidFill>
              <a:srgbClr val="B7AEDD"/>
            </a:solidFill>
            <a:prstDash val="solid"/>
          </a:ln>
        </p:spPr>
      </p:sp>
      <p:sp>
        <p:nvSpPr>
          <p:cNvPr id="12" name="Shape 8"/>
          <p:cNvSpPr/>
          <p:nvPr/>
        </p:nvSpPr>
        <p:spPr>
          <a:xfrm>
            <a:off x="2560320" y="3593592"/>
            <a:ext cx="731520" cy="-548640"/>
          </a:xfrm>
          <a:prstGeom prst="line">
            <a:avLst/>
          </a:prstGeom>
          <a:noFill/>
          <a:ln w="19050">
            <a:solidFill>
              <a:srgbClr val="B7AEDD"/>
            </a:solidFill>
            <a:prstDash val="solid"/>
          </a:ln>
        </p:spPr>
      </p:sp>
      <p:sp>
        <p:nvSpPr>
          <p:cNvPr id="13" name="Shape 9"/>
          <p:cNvSpPr/>
          <p:nvPr/>
        </p:nvSpPr>
        <p:spPr>
          <a:xfrm>
            <a:off x="3337560" y="2697480"/>
            <a:ext cx="1828800" cy="777240"/>
          </a:xfrm>
          <a:prstGeom prst="roundRect">
            <a:avLst>
              <a:gd name="adj" fmla="val 9412"/>
            </a:avLst>
          </a:prstGeom>
          <a:solidFill>
            <a:srgbClr val="E85D5D"/>
          </a:solidFill>
          <a:ln/>
        </p:spPr>
      </p:sp>
      <p:pic>
        <p:nvPicPr>
          <p:cNvPr id="14" name="Image 2" descr="times_red.png">    </p:cNvPr>
          <p:cNvPicPr>
            <a:picLocks noChangeAspect="1"/>
          </p:cNvPicPr>
          <p:nvPr/>
        </p:nvPicPr>
        <p:blipFill>
          <a:blip r:embed="rId3"/>
          <a:stretch>
            <a:fillRect/>
          </a:stretch>
        </p:blipFill>
        <p:spPr>
          <a:xfrm>
            <a:off x="3520440" y="2880360"/>
            <a:ext cx="384048" cy="384048"/>
          </a:xfrm>
          <a:prstGeom prst="rect">
            <a:avLst/>
          </a:prstGeom>
        </p:spPr>
      </p:pic>
      <p:sp>
        <p:nvSpPr>
          <p:cNvPr id="15" name="Text 10"/>
          <p:cNvSpPr/>
          <p:nvPr/>
        </p:nvSpPr>
        <p:spPr>
          <a:xfrm>
            <a:off x="4023360" y="2816352"/>
            <a:ext cx="105156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Corrupted</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state file</a:t>
            </a:r>
            <a:endParaRPr lang="en-US" sz="1100" dirty="0"/>
          </a:p>
        </p:txBody>
      </p:sp>
      <p:sp>
        <p:nvSpPr>
          <p:cNvPr id="16" name="Shape 11"/>
          <p:cNvSpPr/>
          <p:nvPr/>
        </p:nvSpPr>
        <p:spPr>
          <a:xfrm>
            <a:off x="6309360" y="1600200"/>
            <a:ext cx="5303520" cy="4160520"/>
          </a:xfrm>
          <a:prstGeom prst="roundRect">
            <a:avLst>
              <a:gd name="adj" fmla="val 2198"/>
            </a:avLst>
          </a:prstGeom>
          <a:solidFill>
            <a:srgbClr val="241748"/>
          </a:solidFill>
          <a:ln/>
          <a:effectLst>
            <a:outerShdw sx="100000" sy="100000" kx="0" ky="0" algn="bl" rotWithShape="0" blurRad="101600" dist="38100" dir="5400000">
              <a:srgbClr val="000000">
                <a:alpha val="12000"/>
              </a:srgbClr>
            </a:outerShdw>
          </a:effectLst>
        </p:spPr>
      </p:sp>
      <p:pic>
        <p:nvPicPr>
          <p:cNvPr id="17" name="Image 3" descr="lock_teal.png">    </p:cNvPr>
          <p:cNvPicPr>
            <a:picLocks noChangeAspect="1"/>
          </p:cNvPicPr>
          <p:nvPr/>
        </p:nvPicPr>
        <p:blipFill>
          <a:blip r:embed="rId4"/>
          <a:stretch>
            <a:fillRect/>
          </a:stretch>
        </p:blipFill>
        <p:spPr>
          <a:xfrm>
            <a:off x="6675120" y="1965960"/>
            <a:ext cx="457200" cy="457200"/>
          </a:xfrm>
          <a:prstGeom prst="rect">
            <a:avLst/>
          </a:prstGeom>
        </p:spPr>
      </p:pic>
      <p:sp>
        <p:nvSpPr>
          <p:cNvPr id="18" name="Text 12"/>
          <p:cNvSpPr/>
          <p:nvPr/>
        </p:nvSpPr>
        <p:spPr>
          <a:xfrm>
            <a:off x="7269480" y="1984248"/>
            <a:ext cx="402336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State Locking</a:t>
            </a:r>
            <a:endParaRPr lang="en-US" sz="1900" dirty="0"/>
          </a:p>
        </p:txBody>
      </p:sp>
      <p:sp>
        <p:nvSpPr>
          <p:cNvPr id="19" name="Text 13"/>
          <p:cNvSpPr/>
          <p:nvPr/>
        </p:nvSpPr>
        <p:spPr>
          <a:xfrm>
            <a:off x="6675120" y="2560320"/>
            <a:ext cx="4572000" cy="777240"/>
          </a:xfrm>
          <a:prstGeom prst="rect">
            <a:avLst/>
          </a:prstGeom>
          <a:noFill/>
          <a:ln/>
        </p:spPr>
        <p:txBody>
          <a:bodyPr wrap="square" lIns="0" tIns="0" rIns="0" bIns="0" rtlCol="0" anchor="ctr"/>
          <a:lstStyle/>
          <a:p>
            <a:pPr indent="0" marL="0">
              <a:buNone/>
            </a:pPr>
            <a:r>
              <a:rPr lang="en-US" sz="1250" dirty="0">
                <a:solidFill>
                  <a:srgbClr val="CFC9E8"/>
                </a:solidFill>
                <a:latin typeface="Calibri" pitchFamily="34" charset="0"/>
                <a:ea typeface="Calibri" pitchFamily="34" charset="-122"/>
                <a:cs typeface="Calibri" pitchFamily="34" charset="-120"/>
              </a:rPr>
              <a:t>Locking prevents concurrent modifications by locking the state file while an apply is in progress — the second user must wait.</a:t>
            </a:r>
            <a:endParaRPr lang="en-US" sz="1250" dirty="0"/>
          </a:p>
        </p:txBody>
      </p:sp>
      <p:sp>
        <p:nvSpPr>
          <p:cNvPr id="20" name="Shape 14"/>
          <p:cNvSpPr/>
          <p:nvPr/>
        </p:nvSpPr>
        <p:spPr>
          <a:xfrm>
            <a:off x="6675120" y="3474720"/>
            <a:ext cx="4572000" cy="0"/>
          </a:xfrm>
          <a:prstGeom prst="line">
            <a:avLst/>
          </a:prstGeom>
          <a:noFill/>
          <a:ln w="12700">
            <a:solidFill>
              <a:srgbClr val="4A3A7A"/>
            </a:solidFill>
            <a:prstDash val="solid"/>
          </a:ln>
        </p:spPr>
      </p:sp>
      <p:pic>
        <p:nvPicPr>
          <p:cNvPr id="21" name="Image 4" descr="database_white.png">    </p:cNvPr>
          <p:cNvPicPr>
            <a:picLocks noChangeAspect="1"/>
          </p:cNvPicPr>
          <p:nvPr/>
        </p:nvPicPr>
        <p:blipFill>
          <a:blip r:embed="rId5"/>
          <a:stretch>
            <a:fillRect/>
          </a:stretch>
        </p:blipFill>
        <p:spPr>
          <a:xfrm>
            <a:off x="6675120" y="3749040"/>
            <a:ext cx="365760" cy="365760"/>
          </a:xfrm>
          <a:prstGeom prst="rect">
            <a:avLst/>
          </a:prstGeom>
        </p:spPr>
      </p:pic>
      <p:sp>
        <p:nvSpPr>
          <p:cNvPr id="22" name="Text 15"/>
          <p:cNvSpPr/>
          <p:nvPr/>
        </p:nvSpPr>
        <p:spPr>
          <a:xfrm>
            <a:off x="7223760" y="3776472"/>
            <a:ext cx="4023360" cy="365760"/>
          </a:xfrm>
          <a:prstGeom prst="rect">
            <a:avLst/>
          </a:prstGeom>
          <a:noFill/>
          <a:ln/>
        </p:spPr>
        <p:txBody>
          <a:bodyPr wrap="square" lIns="0" tIns="0" rIns="0" bIns="0" rtlCol="0" anchor="ctr"/>
          <a:lstStyle/>
          <a:p>
            <a:pPr indent="0" marL="0">
              <a:buNone/>
            </a:pPr>
            <a:r>
              <a:rPr lang="en-US" sz="1400" b="1" dirty="0">
                <a:solidFill>
                  <a:srgbClr val="00BFA5"/>
                </a:solidFill>
                <a:latin typeface="Calibri" pitchFamily="34" charset="0"/>
                <a:ea typeface="Calibri" pitchFamily="34" charset="-122"/>
                <a:cs typeface="Calibri" pitchFamily="34" charset="-120"/>
              </a:rPr>
              <a:t>DynamoDB for AWS locking</a:t>
            </a:r>
            <a:endParaRPr lang="en-US" sz="1400" dirty="0"/>
          </a:p>
        </p:txBody>
      </p:sp>
      <p:sp>
        <p:nvSpPr>
          <p:cNvPr id="23" name="Text 16"/>
          <p:cNvSpPr/>
          <p:nvPr/>
        </p:nvSpPr>
        <p:spPr>
          <a:xfrm>
            <a:off x="6675120" y="4206240"/>
            <a:ext cx="4572000" cy="822960"/>
          </a:xfrm>
          <a:prstGeom prst="rect">
            <a:avLst/>
          </a:prstGeom>
          <a:noFill/>
          <a:ln/>
        </p:spPr>
        <p:txBody>
          <a:bodyPr wrap="square" lIns="0" tIns="0" rIns="0" bIns="0" rtlCol="0" anchor="ctr"/>
          <a:lstStyle/>
          <a:p>
            <a:pPr indent="0" marL="0">
              <a:buNone/>
            </a:pPr>
            <a:r>
              <a:rPr lang="en-US" sz="1250" dirty="0">
                <a:solidFill>
                  <a:srgbClr val="CFC9E8"/>
                </a:solidFill>
                <a:latin typeface="Calibri" pitchFamily="34" charset="0"/>
                <a:ea typeface="Calibri" pitchFamily="34" charset="-122"/>
                <a:cs typeface="Calibri" pitchFamily="34" charset="-120"/>
              </a:rPr>
              <a:t>When state is stored in S3, a DynamoDB table holds the active lock record — Terraform checks it before every plan or apply.</a:t>
            </a:r>
            <a:endParaRPr lang="en-US" sz="1250" dirty="0"/>
          </a:p>
        </p:txBody>
      </p:sp>
      <p:pic>
        <p:nvPicPr>
          <p:cNvPr id="24" name="Image 5" descr="shield_teal.png">    </p:cNvPr>
          <p:cNvPicPr>
            <a:picLocks noChangeAspect="1"/>
          </p:cNvPicPr>
          <p:nvPr/>
        </p:nvPicPr>
        <p:blipFill>
          <a:blip r:embed="rId6"/>
          <a:stretch>
            <a:fillRect/>
          </a:stretch>
        </p:blipFill>
        <p:spPr>
          <a:xfrm>
            <a:off x="6675120" y="5029200"/>
            <a:ext cx="365760" cy="365760"/>
          </a:xfrm>
          <a:prstGeom prst="rect">
            <a:avLst/>
          </a:prstGeom>
        </p:spPr>
      </p:pic>
      <p:sp>
        <p:nvSpPr>
          <p:cNvPr id="25" name="Text 17"/>
          <p:cNvSpPr/>
          <p:nvPr/>
        </p:nvSpPr>
        <p:spPr>
          <a:xfrm>
            <a:off x="7223760" y="5093208"/>
            <a:ext cx="4023360" cy="457200"/>
          </a:xfrm>
          <a:prstGeom prst="rect">
            <a:avLst/>
          </a:prstGeom>
          <a:noFill/>
          <a:ln/>
        </p:spPr>
        <p:txBody>
          <a:bodyPr wrap="square" lIns="0" tIns="0" rIns="0" bIns="0" rtlCol="0" anchor="ctr"/>
          <a:lstStyle/>
          <a:p>
            <a:pPr indent="0" marL="0">
              <a:buNone/>
            </a:pPr>
            <a:r>
              <a:rPr lang="en-US" sz="1250" dirty="0">
                <a:solidFill>
                  <a:srgbClr val="E6E1F7"/>
                </a:solidFill>
                <a:latin typeface="Calibri" pitchFamily="34" charset="0"/>
                <a:ea typeface="Calibri" pitchFamily="34" charset="-122"/>
                <a:cs typeface="Calibri" pitchFamily="34" charset="-120"/>
              </a:rPr>
              <a:t>Encryption + versioning add defense in depth</a:t>
            </a:r>
            <a:endParaRPr lang="en-US" sz="1250" dirty="0"/>
          </a:p>
        </p:txBody>
      </p:sp>
      <p:sp>
        <p:nvSpPr>
          <p:cNvPr id="26" name="Text 18"/>
          <p:cNvSpPr/>
          <p:nvPr/>
        </p:nvSpPr>
        <p:spPr>
          <a:xfrm>
            <a:off x="457200" y="6446520"/>
            <a:ext cx="5486400" cy="274320"/>
          </a:xfrm>
          <a:prstGeom prst="rect">
            <a:avLst/>
          </a:prstGeom>
          <a:noFill/>
          <a:ln/>
        </p:spPr>
        <p:txBody>
          <a:bodyPr wrap="square" lIns="0" tIns="0" rIns="0" bIns="0" rtlCol="0" anchor="ctr"/>
          <a:lstStyle/>
          <a:p>
            <a:pPr algn="l" indent="0" marL="0">
              <a:buNone/>
            </a:pPr>
            <a:r>
              <a:rPr lang="en-US" sz="1000" dirty="0">
                <a:solidFill>
                  <a:srgbClr val="9A93B5"/>
                </a:solidFill>
                <a:latin typeface="Calibri" pitchFamily="34" charset="0"/>
                <a:ea typeface="Calibri" pitchFamily="34" charset="-122"/>
                <a:cs typeface="Calibri" pitchFamily="34" charset="-120"/>
              </a:rPr>
              <a:t>Terraform State Management</a:t>
            </a:r>
            <a:endParaRPr lang="en-US" sz="1000" dirty="0"/>
          </a:p>
        </p:txBody>
      </p:sp>
      <p:sp>
        <p:nvSpPr>
          <p:cNvPr id="27" name="Text 1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A93B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300" b="1" spc="200" kern="0" dirty="0">
                <a:solidFill>
                  <a:srgbClr val="7C4DFF"/>
                </a:solidFill>
                <a:latin typeface="Calibri" pitchFamily="34" charset="0"/>
                <a:ea typeface="Calibri" pitchFamily="34" charset="-122"/>
                <a:cs typeface="Calibri" pitchFamily="34" charset="-120"/>
              </a:rPr>
              <a:t>4.4  MANAGING STATE WITH S3 + DYNAMODB</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241748"/>
                </a:solidFill>
                <a:latin typeface="Cambria" pitchFamily="34" charset="0"/>
                <a:ea typeface="Cambria" pitchFamily="34" charset="-122"/>
                <a:cs typeface="Cambria" pitchFamily="34" charset="-120"/>
              </a:rPr>
              <a:t>The target architecture</a:t>
            </a:r>
            <a:endParaRPr lang="en-US" sz="3200" dirty="0"/>
          </a:p>
        </p:txBody>
      </p:sp>
      <p:sp>
        <p:nvSpPr>
          <p:cNvPr id="4" name="Shape 2"/>
          <p:cNvSpPr/>
          <p:nvPr/>
        </p:nvSpPr>
        <p:spPr>
          <a:xfrm>
            <a:off x="822960" y="2103120"/>
            <a:ext cx="2468880" cy="1463040"/>
          </a:xfrm>
          <a:prstGeom prst="roundRect">
            <a:avLst>
              <a:gd name="adj" fmla="val 6250"/>
            </a:avLst>
          </a:prstGeom>
          <a:solidFill>
            <a:srgbClr val="F6F4FB"/>
          </a:solidFill>
          <a:ln/>
          <a:effectLst>
            <a:outerShdw sx="100000" sy="100000" kx="0" ky="0" algn="bl" rotWithShape="0" blurRad="101600" dist="38100" dir="5400000">
              <a:srgbClr val="000000">
                <a:alpha val="12000"/>
              </a:srgbClr>
            </a:outerShdw>
          </a:effectLst>
        </p:spPr>
      </p:sp>
      <p:pic>
        <p:nvPicPr>
          <p:cNvPr id="5" name="Image 0" descr="terminal_violet.png">    </p:cNvPr>
          <p:cNvPicPr>
            <a:picLocks noChangeAspect="1"/>
          </p:cNvPicPr>
          <p:nvPr/>
        </p:nvPicPr>
        <p:blipFill>
          <a:blip r:embed="rId1"/>
          <a:stretch>
            <a:fillRect/>
          </a:stretch>
        </p:blipFill>
        <p:spPr>
          <a:xfrm>
            <a:off x="1783080" y="2331720"/>
            <a:ext cx="548640" cy="548640"/>
          </a:xfrm>
          <a:prstGeom prst="rect">
            <a:avLst/>
          </a:prstGeom>
        </p:spPr>
      </p:pic>
      <p:sp>
        <p:nvSpPr>
          <p:cNvPr id="6" name="Text 3"/>
          <p:cNvSpPr/>
          <p:nvPr/>
        </p:nvSpPr>
        <p:spPr>
          <a:xfrm>
            <a:off x="822960" y="2971800"/>
            <a:ext cx="2468880" cy="365760"/>
          </a:xfrm>
          <a:prstGeom prst="rect">
            <a:avLst/>
          </a:prstGeom>
          <a:noFill/>
          <a:ln/>
        </p:spPr>
        <p:txBody>
          <a:bodyPr wrap="square" lIns="0" tIns="0" rIns="0" bIns="0" rtlCol="0" anchor="ctr"/>
          <a:lstStyle/>
          <a:p>
            <a:pPr algn="ctr" indent="0" marL="0">
              <a:buNone/>
            </a:pPr>
            <a:r>
              <a:rPr lang="en-US" sz="1400" b="1" dirty="0">
                <a:solidFill>
                  <a:srgbClr val="241748"/>
                </a:solidFill>
                <a:latin typeface="Calibri" pitchFamily="34" charset="0"/>
                <a:ea typeface="Calibri" pitchFamily="34" charset="-122"/>
                <a:cs typeface="Calibri" pitchFamily="34" charset="-120"/>
              </a:rPr>
              <a:t>Terraform CLI</a:t>
            </a:r>
            <a:endParaRPr lang="en-US" sz="1400" dirty="0"/>
          </a:p>
        </p:txBody>
      </p:sp>
      <p:sp>
        <p:nvSpPr>
          <p:cNvPr id="7" name="Text 4"/>
          <p:cNvSpPr/>
          <p:nvPr/>
        </p:nvSpPr>
        <p:spPr>
          <a:xfrm>
            <a:off x="822960" y="3273552"/>
            <a:ext cx="2468880" cy="274320"/>
          </a:xfrm>
          <a:prstGeom prst="rect">
            <a:avLst/>
          </a:prstGeom>
          <a:noFill/>
          <a:ln/>
        </p:spPr>
        <p:txBody>
          <a:bodyPr wrap="square" lIns="0" tIns="0" rIns="0" bIns="0" rtlCol="0" anchor="ctr"/>
          <a:lstStyle/>
          <a:p>
            <a:pPr algn="ctr" indent="0" marL="0">
              <a:buNone/>
            </a:pPr>
            <a:r>
              <a:rPr lang="en-US" sz="1050" dirty="0">
                <a:solidFill>
                  <a:srgbClr val="44454D"/>
                </a:solidFill>
                <a:latin typeface="Consolas" pitchFamily="34" charset="0"/>
                <a:ea typeface="Consolas" pitchFamily="34" charset="-122"/>
                <a:cs typeface="Consolas" pitchFamily="34" charset="-120"/>
              </a:rPr>
              <a:t>terraform apply</a:t>
            </a:r>
            <a:endParaRPr lang="en-US" sz="1050" dirty="0"/>
          </a:p>
        </p:txBody>
      </p:sp>
      <p:sp>
        <p:nvSpPr>
          <p:cNvPr id="8" name="Shape 5"/>
          <p:cNvSpPr/>
          <p:nvPr/>
        </p:nvSpPr>
        <p:spPr>
          <a:xfrm>
            <a:off x="3291840" y="2834640"/>
            <a:ext cx="1280160" cy="0"/>
          </a:xfrm>
          <a:prstGeom prst="line">
            <a:avLst/>
          </a:prstGeom>
          <a:noFill/>
          <a:ln w="31750">
            <a:solidFill>
              <a:srgbClr val="7C4DFF"/>
            </a:solidFill>
            <a:prstDash val="solid"/>
            <a:tailEnd type="triangle"/>
          </a:ln>
        </p:spPr>
      </p:sp>
      <p:sp>
        <p:nvSpPr>
          <p:cNvPr id="9" name="Shape 6"/>
          <p:cNvSpPr/>
          <p:nvPr/>
        </p:nvSpPr>
        <p:spPr>
          <a:xfrm>
            <a:off x="4572000" y="2103120"/>
            <a:ext cx="2468880" cy="1463040"/>
          </a:xfrm>
          <a:prstGeom prst="roundRect">
            <a:avLst>
              <a:gd name="adj" fmla="val 6250"/>
            </a:avLst>
          </a:prstGeom>
          <a:solidFill>
            <a:srgbClr val="3B2667"/>
          </a:solidFill>
          <a:ln/>
          <a:effectLst>
            <a:outerShdw sx="100000" sy="100000" kx="0" ky="0" algn="bl" rotWithShape="0" blurRad="101600" dist="38100" dir="5400000">
              <a:srgbClr val="000000">
                <a:alpha val="12000"/>
              </a:srgbClr>
            </a:outerShdw>
          </a:effectLst>
        </p:spPr>
      </p:sp>
      <p:pic>
        <p:nvPicPr>
          <p:cNvPr id="10" name="Image 1" descr="box_white.png">    </p:cNvPr>
          <p:cNvPicPr>
            <a:picLocks noChangeAspect="1"/>
          </p:cNvPicPr>
          <p:nvPr/>
        </p:nvPicPr>
        <p:blipFill>
          <a:blip r:embed="rId2"/>
          <a:stretch>
            <a:fillRect/>
          </a:stretch>
        </p:blipFill>
        <p:spPr>
          <a:xfrm>
            <a:off x="5532120" y="2331720"/>
            <a:ext cx="548640" cy="548640"/>
          </a:xfrm>
          <a:prstGeom prst="rect">
            <a:avLst/>
          </a:prstGeom>
        </p:spPr>
      </p:pic>
      <p:sp>
        <p:nvSpPr>
          <p:cNvPr id="11" name="Text 7"/>
          <p:cNvSpPr/>
          <p:nvPr/>
        </p:nvSpPr>
        <p:spPr>
          <a:xfrm>
            <a:off x="4572000" y="2971800"/>
            <a:ext cx="24688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Amazon S3</a:t>
            </a:r>
            <a:endParaRPr lang="en-US" sz="1400" dirty="0"/>
          </a:p>
        </p:txBody>
      </p:sp>
      <p:sp>
        <p:nvSpPr>
          <p:cNvPr id="12" name="Text 8"/>
          <p:cNvSpPr/>
          <p:nvPr/>
        </p:nvSpPr>
        <p:spPr>
          <a:xfrm>
            <a:off x="4572000" y="3273552"/>
            <a:ext cx="2468880" cy="274320"/>
          </a:xfrm>
          <a:prstGeom prst="rect">
            <a:avLst/>
          </a:prstGeom>
          <a:noFill/>
          <a:ln/>
        </p:spPr>
        <p:txBody>
          <a:bodyPr wrap="square" lIns="0" tIns="0" rIns="0" bIns="0" rtlCol="0" anchor="ctr"/>
          <a:lstStyle/>
          <a:p>
            <a:pPr algn="ctr" indent="0" marL="0">
              <a:buNone/>
            </a:pPr>
            <a:r>
              <a:rPr lang="en-US" sz="1050" dirty="0">
                <a:solidFill>
                  <a:srgbClr val="CFC9E8"/>
                </a:solidFill>
                <a:latin typeface="Calibri" pitchFamily="34" charset="0"/>
                <a:ea typeface="Calibri" pitchFamily="34" charset="-122"/>
                <a:cs typeface="Calibri" pitchFamily="34" charset="-120"/>
              </a:rPr>
              <a:t>stores terraform.tfstate</a:t>
            </a:r>
            <a:endParaRPr lang="en-US" sz="1050" dirty="0"/>
          </a:p>
        </p:txBody>
      </p:sp>
      <p:sp>
        <p:nvSpPr>
          <p:cNvPr id="13" name="Shape 9"/>
          <p:cNvSpPr/>
          <p:nvPr/>
        </p:nvSpPr>
        <p:spPr>
          <a:xfrm>
            <a:off x="5806440" y="3566160"/>
            <a:ext cx="0" cy="594360"/>
          </a:xfrm>
          <a:prstGeom prst="line">
            <a:avLst/>
          </a:prstGeom>
          <a:noFill/>
          <a:ln w="31750">
            <a:solidFill>
              <a:srgbClr val="00BFA5"/>
            </a:solidFill>
            <a:prstDash val="solid"/>
            <a:tailEnd type="triangle"/>
          </a:ln>
        </p:spPr>
      </p:sp>
      <p:sp>
        <p:nvSpPr>
          <p:cNvPr id="14" name="Shape 10"/>
          <p:cNvSpPr/>
          <p:nvPr/>
        </p:nvSpPr>
        <p:spPr>
          <a:xfrm>
            <a:off x="4572000" y="4251960"/>
            <a:ext cx="2468880" cy="1463040"/>
          </a:xfrm>
          <a:prstGeom prst="roundRect">
            <a:avLst>
              <a:gd name="adj" fmla="val 6250"/>
            </a:avLst>
          </a:prstGeom>
          <a:solidFill>
            <a:srgbClr val="241748"/>
          </a:solidFill>
          <a:ln/>
          <a:effectLst>
            <a:outerShdw sx="100000" sy="100000" kx="0" ky="0" algn="bl" rotWithShape="0" blurRad="101600" dist="38100" dir="5400000">
              <a:srgbClr val="000000">
                <a:alpha val="12000"/>
              </a:srgbClr>
            </a:outerShdw>
          </a:effectLst>
        </p:spPr>
      </p:sp>
      <p:pic>
        <p:nvPicPr>
          <p:cNvPr id="15" name="Image 2" descr="lock_teal.png">    </p:cNvPr>
          <p:cNvPicPr>
            <a:picLocks noChangeAspect="1"/>
          </p:cNvPicPr>
          <p:nvPr/>
        </p:nvPicPr>
        <p:blipFill>
          <a:blip r:embed="rId3"/>
          <a:stretch>
            <a:fillRect/>
          </a:stretch>
        </p:blipFill>
        <p:spPr>
          <a:xfrm>
            <a:off x="5532120" y="4480560"/>
            <a:ext cx="548640" cy="548640"/>
          </a:xfrm>
          <a:prstGeom prst="rect">
            <a:avLst/>
          </a:prstGeom>
        </p:spPr>
      </p:pic>
      <p:sp>
        <p:nvSpPr>
          <p:cNvPr id="16" name="Text 11"/>
          <p:cNvSpPr/>
          <p:nvPr/>
        </p:nvSpPr>
        <p:spPr>
          <a:xfrm>
            <a:off x="4572000" y="5120640"/>
            <a:ext cx="24688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DynamoDB</a:t>
            </a:r>
            <a:endParaRPr lang="en-US" sz="1400" dirty="0"/>
          </a:p>
        </p:txBody>
      </p:sp>
      <p:sp>
        <p:nvSpPr>
          <p:cNvPr id="17" name="Text 12"/>
          <p:cNvSpPr/>
          <p:nvPr/>
        </p:nvSpPr>
        <p:spPr>
          <a:xfrm>
            <a:off x="4572000" y="5422392"/>
            <a:ext cx="2468880" cy="274320"/>
          </a:xfrm>
          <a:prstGeom prst="rect">
            <a:avLst/>
          </a:prstGeom>
          <a:noFill/>
          <a:ln/>
        </p:spPr>
        <p:txBody>
          <a:bodyPr wrap="square" lIns="0" tIns="0" rIns="0" bIns="0" rtlCol="0" anchor="ctr"/>
          <a:lstStyle/>
          <a:p>
            <a:pPr algn="ctr" indent="0" marL="0">
              <a:buNone/>
            </a:pPr>
            <a:r>
              <a:rPr lang="en-US" sz="1050" dirty="0">
                <a:solidFill>
                  <a:srgbClr val="00BFA5"/>
                </a:solidFill>
                <a:latin typeface="Calibri" pitchFamily="34" charset="0"/>
                <a:ea typeface="Calibri" pitchFamily="34" charset="-122"/>
                <a:cs typeface="Calibri" pitchFamily="34" charset="-120"/>
              </a:rPr>
              <a:t>holds the lock (LockID)</a:t>
            </a:r>
            <a:endParaRPr lang="en-US" sz="1050" dirty="0"/>
          </a:p>
        </p:txBody>
      </p:sp>
      <p:sp>
        <p:nvSpPr>
          <p:cNvPr id="18" name="Shape 13"/>
          <p:cNvSpPr/>
          <p:nvPr/>
        </p:nvSpPr>
        <p:spPr>
          <a:xfrm>
            <a:off x="7040880" y="2834640"/>
            <a:ext cx="1280160" cy="0"/>
          </a:xfrm>
          <a:prstGeom prst="line">
            <a:avLst/>
          </a:prstGeom>
          <a:noFill/>
          <a:ln w="31750">
            <a:solidFill>
              <a:srgbClr val="7C4DFF"/>
            </a:solidFill>
            <a:prstDash val="solid"/>
            <a:tailEnd type="triangle"/>
          </a:ln>
        </p:spPr>
      </p:sp>
      <p:sp>
        <p:nvSpPr>
          <p:cNvPr id="19" name="Shape 14"/>
          <p:cNvSpPr/>
          <p:nvPr/>
        </p:nvSpPr>
        <p:spPr>
          <a:xfrm>
            <a:off x="8321040" y="2103120"/>
            <a:ext cx="2468880" cy="1463040"/>
          </a:xfrm>
          <a:prstGeom prst="roundRect">
            <a:avLst>
              <a:gd name="adj" fmla="val 6250"/>
            </a:avLst>
          </a:prstGeom>
          <a:solidFill>
            <a:srgbClr val="F6F4FB"/>
          </a:solidFill>
          <a:ln/>
          <a:effectLst>
            <a:outerShdw sx="100000" sy="100000" kx="0" ky="0" algn="bl" rotWithShape="0" blurRad="101600" dist="38100" dir="5400000">
              <a:srgbClr val="000000">
                <a:alpha val="12000"/>
              </a:srgbClr>
            </a:outerShdw>
          </a:effectLst>
        </p:spPr>
      </p:sp>
      <p:pic>
        <p:nvPicPr>
          <p:cNvPr id="20" name="Image 3" descr="users_violet.png">    </p:cNvPr>
          <p:cNvPicPr>
            <a:picLocks noChangeAspect="1"/>
          </p:cNvPicPr>
          <p:nvPr/>
        </p:nvPicPr>
        <p:blipFill>
          <a:blip r:embed="rId4"/>
          <a:stretch>
            <a:fillRect/>
          </a:stretch>
        </p:blipFill>
        <p:spPr>
          <a:xfrm>
            <a:off x="9281160" y="2331720"/>
            <a:ext cx="548640" cy="548640"/>
          </a:xfrm>
          <a:prstGeom prst="rect">
            <a:avLst/>
          </a:prstGeom>
        </p:spPr>
      </p:pic>
      <p:sp>
        <p:nvSpPr>
          <p:cNvPr id="21" name="Text 15"/>
          <p:cNvSpPr/>
          <p:nvPr/>
        </p:nvSpPr>
        <p:spPr>
          <a:xfrm>
            <a:off x="8321040" y="2971800"/>
            <a:ext cx="2468880" cy="365760"/>
          </a:xfrm>
          <a:prstGeom prst="rect">
            <a:avLst/>
          </a:prstGeom>
          <a:noFill/>
          <a:ln/>
        </p:spPr>
        <p:txBody>
          <a:bodyPr wrap="square" lIns="0" tIns="0" rIns="0" bIns="0" rtlCol="0" anchor="ctr"/>
          <a:lstStyle/>
          <a:p>
            <a:pPr algn="ctr" indent="0" marL="0">
              <a:buNone/>
            </a:pPr>
            <a:r>
              <a:rPr lang="en-US" sz="1400" b="1" dirty="0">
                <a:solidFill>
                  <a:srgbClr val="241748"/>
                </a:solidFill>
                <a:latin typeface="Calibri" pitchFamily="34" charset="0"/>
                <a:ea typeface="Calibri" pitchFamily="34" charset="-122"/>
                <a:cs typeface="Calibri" pitchFamily="34" charset="-120"/>
              </a:rPr>
              <a:t>Team members</a:t>
            </a:r>
            <a:endParaRPr lang="en-US" sz="1400" dirty="0"/>
          </a:p>
        </p:txBody>
      </p:sp>
      <p:sp>
        <p:nvSpPr>
          <p:cNvPr id="22" name="Text 16"/>
          <p:cNvSpPr/>
          <p:nvPr/>
        </p:nvSpPr>
        <p:spPr>
          <a:xfrm>
            <a:off x="8321040" y="3273552"/>
            <a:ext cx="2468880" cy="274320"/>
          </a:xfrm>
          <a:prstGeom prst="rect">
            <a:avLst/>
          </a:prstGeom>
          <a:noFill/>
          <a:ln/>
        </p:spPr>
        <p:txBody>
          <a:bodyPr wrap="square" lIns="0" tIns="0" rIns="0" bIns="0" rtlCol="0" anchor="ctr"/>
          <a:lstStyle/>
          <a:p>
            <a:pPr algn="ctr" indent="0" marL="0">
              <a:buNone/>
            </a:pPr>
            <a:r>
              <a:rPr lang="en-US" sz="1050" dirty="0">
                <a:solidFill>
                  <a:srgbClr val="44454D"/>
                </a:solidFill>
                <a:latin typeface="Calibri" pitchFamily="34" charset="0"/>
                <a:ea typeface="Calibri" pitchFamily="34" charset="-122"/>
                <a:cs typeface="Calibri" pitchFamily="34" charset="-120"/>
              </a:rPr>
              <a:t>read the same state</a:t>
            </a:r>
            <a:endParaRPr lang="en-US" sz="1050" dirty="0"/>
          </a:p>
        </p:txBody>
      </p:sp>
      <p:sp>
        <p:nvSpPr>
          <p:cNvPr id="23" name="Text 17"/>
          <p:cNvSpPr/>
          <p:nvPr/>
        </p:nvSpPr>
        <p:spPr>
          <a:xfrm>
            <a:off x="822960" y="6172200"/>
            <a:ext cx="10515600" cy="457200"/>
          </a:xfrm>
          <a:prstGeom prst="rect">
            <a:avLst/>
          </a:prstGeom>
          <a:noFill/>
          <a:ln/>
        </p:spPr>
        <p:txBody>
          <a:bodyPr wrap="square" lIns="0" tIns="0" rIns="0" bIns="0" rtlCol="0" anchor="ctr"/>
          <a:lstStyle/>
          <a:p>
            <a:pPr indent="0" marL="0">
              <a:buNone/>
            </a:pPr>
            <a:r>
              <a:rPr lang="en-US" sz="1300" i="1" dirty="0">
                <a:solidFill>
                  <a:srgbClr val="44454D"/>
                </a:solidFill>
                <a:latin typeface="Calibri" pitchFamily="34" charset="0"/>
                <a:ea typeface="Calibri" pitchFamily="34" charset="-122"/>
                <a:cs typeface="Calibri" pitchFamily="34" charset="-120"/>
              </a:rPr>
              <a:t>backend.tf tells Terraform where the S3 bucket and DynamoDB table live — every teammate's CLI points at the same backend.</a:t>
            </a:r>
            <a:endParaRPr lang="en-US" sz="1300" dirty="0"/>
          </a:p>
        </p:txBody>
      </p:sp>
      <p:sp>
        <p:nvSpPr>
          <p:cNvPr id="24" name="Text 18"/>
          <p:cNvSpPr/>
          <p:nvPr/>
        </p:nvSpPr>
        <p:spPr>
          <a:xfrm>
            <a:off x="457200" y="6446520"/>
            <a:ext cx="5486400" cy="274320"/>
          </a:xfrm>
          <a:prstGeom prst="rect">
            <a:avLst/>
          </a:prstGeom>
          <a:noFill/>
          <a:ln/>
        </p:spPr>
        <p:txBody>
          <a:bodyPr wrap="square" lIns="0" tIns="0" rIns="0" bIns="0" rtlCol="0" anchor="ctr"/>
          <a:lstStyle/>
          <a:p>
            <a:pPr algn="l" indent="0" marL="0">
              <a:buNone/>
            </a:pPr>
            <a:r>
              <a:rPr lang="en-US" sz="1000" dirty="0">
                <a:solidFill>
                  <a:srgbClr val="9A93B5"/>
                </a:solidFill>
                <a:latin typeface="Calibri" pitchFamily="34" charset="0"/>
                <a:ea typeface="Calibri" pitchFamily="34" charset="-122"/>
                <a:cs typeface="Calibri" pitchFamily="34" charset="-120"/>
              </a:rPr>
              <a:t>Terraform State Management</a:t>
            </a:r>
            <a:endParaRPr lang="en-US" sz="1000" dirty="0"/>
          </a:p>
        </p:txBody>
      </p:sp>
      <p:sp>
        <p:nvSpPr>
          <p:cNvPr id="25" name="Text 1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A93B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300" b="1" spc="200" kern="0" dirty="0">
                <a:solidFill>
                  <a:srgbClr val="7C4DFF"/>
                </a:solidFill>
                <a:latin typeface="Calibri" pitchFamily="34" charset="0"/>
                <a:ea typeface="Calibri" pitchFamily="34" charset="-122"/>
                <a:cs typeface="Calibri" pitchFamily="34" charset="-120"/>
              </a:rPr>
              <a:t>4.4  STEP-BY-STEP SETUP</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241748"/>
                </a:solidFill>
                <a:latin typeface="Cambria" pitchFamily="34" charset="0"/>
                <a:ea typeface="Cambria" pitchFamily="34" charset="-122"/>
                <a:cs typeface="Cambria" pitchFamily="34" charset="-120"/>
              </a:rPr>
              <a:t>Step 1–2 · Create the bucket and lock table</a:t>
            </a:r>
            <a:endParaRPr lang="en-US" sz="3200" dirty="0"/>
          </a:p>
        </p:txBody>
      </p:sp>
      <p:sp>
        <p:nvSpPr>
          <p:cNvPr id="4" name="Shape 2"/>
          <p:cNvSpPr/>
          <p:nvPr/>
        </p:nvSpPr>
        <p:spPr>
          <a:xfrm>
            <a:off x="548640" y="1691640"/>
            <a:ext cx="457200" cy="457200"/>
          </a:xfrm>
          <a:prstGeom prst="ellipse">
            <a:avLst/>
          </a:prstGeom>
          <a:solidFill>
            <a:srgbClr val="3B2667"/>
          </a:solidFill>
          <a:ln/>
        </p:spPr>
      </p:sp>
      <p:sp>
        <p:nvSpPr>
          <p:cNvPr id="5" name="Text 3"/>
          <p:cNvSpPr/>
          <p:nvPr/>
        </p:nvSpPr>
        <p:spPr>
          <a:xfrm>
            <a:off x="548640" y="1691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143000" y="1737360"/>
            <a:ext cx="4663440" cy="411480"/>
          </a:xfrm>
          <a:prstGeom prst="rect">
            <a:avLst/>
          </a:prstGeom>
          <a:noFill/>
          <a:ln/>
        </p:spPr>
        <p:txBody>
          <a:bodyPr wrap="square" lIns="0" tIns="0" rIns="0" bIns="0" rtlCol="0" anchor="ctr"/>
          <a:lstStyle/>
          <a:p>
            <a:pPr indent="0" marL="0">
              <a:buNone/>
            </a:pPr>
            <a:r>
              <a:rPr lang="en-US" sz="1600" b="1" dirty="0">
                <a:solidFill>
                  <a:srgbClr val="241748"/>
                </a:solidFill>
                <a:latin typeface="Calibri" pitchFamily="34" charset="0"/>
                <a:ea typeface="Calibri" pitchFamily="34" charset="-122"/>
                <a:cs typeface="Calibri" pitchFamily="34" charset="-120"/>
              </a:rPr>
              <a:t>Create the S3 bucket</a:t>
            </a:r>
            <a:endParaRPr lang="en-US" sz="1600" dirty="0"/>
          </a:p>
        </p:txBody>
      </p:sp>
      <p:sp>
        <p:nvSpPr>
          <p:cNvPr id="7" name="Shape 5"/>
          <p:cNvSpPr/>
          <p:nvPr/>
        </p:nvSpPr>
        <p:spPr>
          <a:xfrm>
            <a:off x="548640" y="2286000"/>
            <a:ext cx="5257800" cy="1417320"/>
          </a:xfrm>
          <a:prstGeom prst="roundRect">
            <a:avLst>
              <a:gd name="adj" fmla="val 5161"/>
            </a:avLst>
          </a:prstGeom>
          <a:solidFill>
            <a:srgbClr val="241748"/>
          </a:solidFill>
          <a:ln/>
          <a:effectLst>
            <a:outerShdw sx="100000" sy="100000" kx="0" ky="0" algn="bl" rotWithShape="0" blurRad="101600" dist="38100" dir="5400000">
              <a:srgbClr val="000000">
                <a:alpha val="12000"/>
              </a:srgbClr>
            </a:outerShdw>
          </a:effectLst>
        </p:spPr>
      </p:sp>
      <p:sp>
        <p:nvSpPr>
          <p:cNvPr id="8" name="Text 6"/>
          <p:cNvSpPr/>
          <p:nvPr/>
        </p:nvSpPr>
        <p:spPr>
          <a:xfrm>
            <a:off x="822960" y="2468880"/>
            <a:ext cx="4709160" cy="1051560"/>
          </a:xfrm>
          <a:prstGeom prst="rect">
            <a:avLst/>
          </a:prstGeom>
          <a:noFill/>
          <a:ln/>
        </p:spPr>
        <p:txBody>
          <a:bodyPr wrap="square" lIns="0" tIns="0" rIns="0" bIns="0" rtlCol="0" anchor="ctr"/>
          <a:lstStyle/>
          <a:p>
            <a:pPr indent="0" marL="0">
              <a:lnSpc>
                <a:spcPct val="120000"/>
              </a:lnSpc>
              <a:buNone/>
            </a:pPr>
            <a:r>
              <a:rPr lang="en-US" sz="1200" dirty="0">
                <a:solidFill>
                  <a:srgbClr val="E6E1F7"/>
                </a:solidFill>
                <a:latin typeface="Consolas" pitchFamily="34" charset="0"/>
                <a:ea typeface="Consolas" pitchFamily="34" charset="-122"/>
                <a:cs typeface="Consolas" pitchFamily="34" charset="-120"/>
              </a:rPr>
              <a:t>$ aws s3api create-bucket \</a:t>
            </a:r>
            <a:endParaRPr lang="en-US" sz="1200" dirty="0"/>
          </a:p>
          <a:p>
            <a:pPr indent="0" marL="0">
              <a:lnSpc>
                <a:spcPct val="120000"/>
              </a:lnSpc>
              <a:buNone/>
            </a:pPr>
            <a:r>
              <a:rPr lang="en-US" sz="1200" dirty="0">
                <a:solidFill>
                  <a:srgbClr val="E6E1F7"/>
                </a:solidFill>
                <a:latin typeface="Consolas" pitchFamily="34" charset="0"/>
                <a:ea typeface="Consolas" pitchFamily="34" charset="-122"/>
                <a:cs typeface="Consolas" pitchFamily="34" charset="-120"/>
              </a:rPr>
              <a:t>    --bucket my-terraform-state-bucket \</a:t>
            </a:r>
            <a:endParaRPr lang="en-US" sz="1200" dirty="0"/>
          </a:p>
          <a:p>
            <a:pPr indent="0" marL="0">
              <a:lnSpc>
                <a:spcPct val="120000"/>
              </a:lnSpc>
              <a:buNone/>
            </a:pPr>
            <a:r>
              <a:rPr lang="en-US" sz="1200" dirty="0">
                <a:solidFill>
                  <a:srgbClr val="E6E1F7"/>
                </a:solidFill>
                <a:latin typeface="Consolas" pitchFamily="34" charset="0"/>
                <a:ea typeface="Consolas" pitchFamily="34" charset="-122"/>
                <a:cs typeface="Consolas" pitchFamily="34" charset="-120"/>
              </a:rPr>
              <a:t>    --region us-east-1</a:t>
            </a:r>
            <a:endParaRPr lang="en-US" sz="1200" dirty="0"/>
          </a:p>
        </p:txBody>
      </p:sp>
      <p:pic>
        <p:nvPicPr>
          <p:cNvPr id="9" name="Image 0" descr="shield_violet.png">    </p:cNvPr>
          <p:cNvPicPr>
            <a:picLocks noChangeAspect="1"/>
          </p:cNvPicPr>
          <p:nvPr/>
        </p:nvPicPr>
        <p:blipFill>
          <a:blip r:embed="rId1"/>
          <a:stretch>
            <a:fillRect/>
          </a:stretch>
        </p:blipFill>
        <p:spPr>
          <a:xfrm>
            <a:off x="548640" y="3931920"/>
            <a:ext cx="292608" cy="292608"/>
          </a:xfrm>
          <a:prstGeom prst="rect">
            <a:avLst/>
          </a:prstGeom>
        </p:spPr>
      </p:pic>
      <p:sp>
        <p:nvSpPr>
          <p:cNvPr id="10" name="Text 7"/>
          <p:cNvSpPr/>
          <p:nvPr/>
        </p:nvSpPr>
        <p:spPr>
          <a:xfrm>
            <a:off x="932688" y="3959352"/>
            <a:ext cx="4800600" cy="320040"/>
          </a:xfrm>
          <a:prstGeom prst="rect">
            <a:avLst/>
          </a:prstGeom>
          <a:noFill/>
          <a:ln/>
        </p:spPr>
        <p:txBody>
          <a:bodyPr wrap="square" lIns="0" tIns="0" rIns="0" bIns="0" rtlCol="0" anchor="ctr"/>
          <a:lstStyle/>
          <a:p>
            <a:pPr indent="0" marL="0">
              <a:buNone/>
            </a:pPr>
            <a:r>
              <a:rPr lang="en-US" sz="1250" b="1" dirty="0">
                <a:solidFill>
                  <a:srgbClr val="241748"/>
                </a:solidFill>
                <a:latin typeface="Calibri" pitchFamily="34" charset="0"/>
                <a:ea typeface="Calibri" pitchFamily="34" charset="-122"/>
                <a:cs typeface="Calibri" pitchFamily="34" charset="-120"/>
              </a:rPr>
              <a:t>Enable versioning to protect the state file:</a:t>
            </a:r>
            <a:endParaRPr lang="en-US" sz="1250" dirty="0"/>
          </a:p>
        </p:txBody>
      </p:sp>
      <p:sp>
        <p:nvSpPr>
          <p:cNvPr id="11" name="Shape 8"/>
          <p:cNvSpPr/>
          <p:nvPr/>
        </p:nvSpPr>
        <p:spPr>
          <a:xfrm>
            <a:off x="548640" y="4343400"/>
            <a:ext cx="5257800" cy="1051560"/>
          </a:xfrm>
          <a:prstGeom prst="roundRect">
            <a:avLst>
              <a:gd name="adj" fmla="val 6957"/>
            </a:avLst>
          </a:prstGeom>
          <a:solidFill>
            <a:srgbClr val="F6F4FB"/>
          </a:solidFill>
          <a:ln/>
        </p:spPr>
      </p:sp>
      <p:sp>
        <p:nvSpPr>
          <p:cNvPr id="12" name="Text 9"/>
          <p:cNvSpPr/>
          <p:nvPr/>
        </p:nvSpPr>
        <p:spPr>
          <a:xfrm>
            <a:off x="822960" y="4453128"/>
            <a:ext cx="4709160" cy="868680"/>
          </a:xfrm>
          <a:prstGeom prst="rect">
            <a:avLst/>
          </a:prstGeom>
          <a:noFill/>
          <a:ln/>
        </p:spPr>
        <p:txBody>
          <a:bodyPr wrap="square" lIns="0" tIns="0" rIns="0" bIns="0" rtlCol="0" anchor="ctr"/>
          <a:lstStyle/>
          <a:p>
            <a:pPr indent="0" marL="0">
              <a:lnSpc>
                <a:spcPct val="115000"/>
              </a:lnSpc>
              <a:buNone/>
            </a:pPr>
            <a:r>
              <a:rPr lang="en-US" sz="1050" dirty="0">
                <a:solidFill>
                  <a:srgbClr val="3B2667"/>
                </a:solidFill>
                <a:latin typeface="Consolas" pitchFamily="34" charset="0"/>
                <a:ea typeface="Consolas" pitchFamily="34" charset="-122"/>
                <a:cs typeface="Consolas" pitchFamily="34" charset="-120"/>
              </a:rPr>
              <a:t>$ aws s3api put-bucket-versioning \</a:t>
            </a:r>
            <a:endParaRPr lang="en-US" sz="1050" dirty="0"/>
          </a:p>
          <a:p>
            <a:pPr indent="0" marL="0">
              <a:lnSpc>
                <a:spcPct val="115000"/>
              </a:lnSpc>
              <a:buNone/>
            </a:pPr>
            <a:r>
              <a:rPr lang="en-US" sz="1050" dirty="0">
                <a:solidFill>
                  <a:srgbClr val="3B2667"/>
                </a:solidFill>
                <a:latin typeface="Consolas" pitchFamily="34" charset="0"/>
                <a:ea typeface="Consolas" pitchFamily="34" charset="-122"/>
                <a:cs typeface="Consolas" pitchFamily="34" charset="-120"/>
              </a:rPr>
              <a:t>    --bucket my-terraform-state-bucket \</a:t>
            </a:r>
            <a:endParaRPr lang="en-US" sz="1050" dirty="0"/>
          </a:p>
          <a:p>
            <a:pPr indent="0" marL="0">
              <a:lnSpc>
                <a:spcPct val="115000"/>
              </a:lnSpc>
              <a:buNone/>
            </a:pPr>
            <a:r>
              <a:rPr lang="en-US" sz="1050" dirty="0">
                <a:solidFill>
                  <a:srgbClr val="3B2667"/>
                </a:solidFill>
                <a:latin typeface="Consolas" pitchFamily="34" charset="0"/>
                <a:ea typeface="Consolas" pitchFamily="34" charset="-122"/>
                <a:cs typeface="Consolas" pitchFamily="34" charset="-120"/>
              </a:rPr>
              <a:t>    --versioning-configuration Status=Enabled</a:t>
            </a:r>
            <a:endParaRPr lang="en-US" sz="1050" dirty="0"/>
          </a:p>
        </p:txBody>
      </p:sp>
      <p:sp>
        <p:nvSpPr>
          <p:cNvPr id="13" name="Shape 10"/>
          <p:cNvSpPr/>
          <p:nvPr/>
        </p:nvSpPr>
        <p:spPr>
          <a:xfrm>
            <a:off x="6355080" y="1691640"/>
            <a:ext cx="457200" cy="457200"/>
          </a:xfrm>
          <a:prstGeom prst="ellipse">
            <a:avLst/>
          </a:prstGeom>
          <a:solidFill>
            <a:srgbClr val="3B2667"/>
          </a:solidFill>
          <a:ln/>
        </p:spPr>
      </p:sp>
      <p:sp>
        <p:nvSpPr>
          <p:cNvPr id="14" name="Text 11"/>
          <p:cNvSpPr/>
          <p:nvPr/>
        </p:nvSpPr>
        <p:spPr>
          <a:xfrm>
            <a:off x="6355080" y="1691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2"/>
          <p:cNvSpPr/>
          <p:nvPr/>
        </p:nvSpPr>
        <p:spPr>
          <a:xfrm>
            <a:off x="6949440" y="1737360"/>
            <a:ext cx="4663440" cy="411480"/>
          </a:xfrm>
          <a:prstGeom prst="rect">
            <a:avLst/>
          </a:prstGeom>
          <a:noFill/>
          <a:ln/>
        </p:spPr>
        <p:txBody>
          <a:bodyPr wrap="square" lIns="0" tIns="0" rIns="0" bIns="0" rtlCol="0" anchor="ctr"/>
          <a:lstStyle/>
          <a:p>
            <a:pPr indent="0" marL="0">
              <a:buNone/>
            </a:pPr>
            <a:r>
              <a:rPr lang="en-US" sz="1600" b="1" dirty="0">
                <a:solidFill>
                  <a:srgbClr val="241748"/>
                </a:solidFill>
                <a:latin typeface="Calibri" pitchFamily="34" charset="0"/>
                <a:ea typeface="Calibri" pitchFamily="34" charset="-122"/>
                <a:cs typeface="Calibri" pitchFamily="34" charset="-120"/>
              </a:rPr>
              <a:t>Create the DynamoDB lock table</a:t>
            </a:r>
            <a:endParaRPr lang="en-US" sz="1600" dirty="0"/>
          </a:p>
        </p:txBody>
      </p:sp>
      <p:sp>
        <p:nvSpPr>
          <p:cNvPr id="16" name="Shape 13"/>
          <p:cNvSpPr/>
          <p:nvPr/>
        </p:nvSpPr>
        <p:spPr>
          <a:xfrm>
            <a:off x="6355080" y="2286000"/>
            <a:ext cx="5257800" cy="2148840"/>
          </a:xfrm>
          <a:prstGeom prst="roundRect">
            <a:avLst>
              <a:gd name="adj" fmla="val 3404"/>
            </a:avLst>
          </a:prstGeom>
          <a:solidFill>
            <a:srgbClr val="241748"/>
          </a:solidFill>
          <a:ln/>
          <a:effectLst>
            <a:outerShdw sx="100000" sy="100000" kx="0" ky="0" algn="bl" rotWithShape="0" blurRad="101600" dist="38100" dir="5400000">
              <a:srgbClr val="000000">
                <a:alpha val="12000"/>
              </a:srgbClr>
            </a:outerShdw>
          </a:effectLst>
        </p:spPr>
      </p:sp>
      <p:sp>
        <p:nvSpPr>
          <p:cNvPr id="17" name="Text 14"/>
          <p:cNvSpPr/>
          <p:nvPr/>
        </p:nvSpPr>
        <p:spPr>
          <a:xfrm>
            <a:off x="6629400" y="2468880"/>
            <a:ext cx="4709160" cy="1783080"/>
          </a:xfrm>
          <a:prstGeom prst="rect">
            <a:avLst/>
          </a:prstGeom>
          <a:noFill/>
          <a:ln/>
        </p:spPr>
        <p:txBody>
          <a:bodyPr wrap="square" lIns="0" tIns="0" rIns="0" bIns="0" rtlCol="0" anchor="ctr"/>
          <a:lstStyle/>
          <a:p>
            <a:pPr indent="0" marL="0">
              <a:lnSpc>
                <a:spcPct val="120000"/>
              </a:lnSpc>
              <a:buNone/>
            </a:pPr>
            <a:r>
              <a:rPr lang="en-US" sz="1100" dirty="0">
                <a:solidFill>
                  <a:srgbClr val="E6E1F7"/>
                </a:solidFill>
                <a:latin typeface="Consolas" pitchFamily="34" charset="0"/>
                <a:ea typeface="Consolas" pitchFamily="34" charset="-122"/>
                <a:cs typeface="Consolas" pitchFamily="34" charset="-120"/>
              </a:rPr>
              <a:t>$ aws dynamodb create-table \</a:t>
            </a:r>
            <a:endParaRPr lang="en-US" sz="1100" dirty="0"/>
          </a:p>
          <a:p>
            <a:pPr indent="0" marL="0">
              <a:lnSpc>
                <a:spcPct val="120000"/>
              </a:lnSpc>
              <a:buNone/>
            </a:pPr>
            <a:r>
              <a:rPr lang="en-US" sz="1100" dirty="0">
                <a:solidFill>
                  <a:srgbClr val="E6E1F7"/>
                </a:solidFill>
                <a:latin typeface="Consolas" pitchFamily="34" charset="0"/>
                <a:ea typeface="Consolas" pitchFamily="34" charset="-122"/>
                <a:cs typeface="Consolas" pitchFamily="34" charset="-120"/>
              </a:rPr>
              <a:t>    --table-name terraform-lock \</a:t>
            </a:r>
            <a:endParaRPr lang="en-US" sz="1100" dirty="0"/>
          </a:p>
          <a:p>
            <a:pPr indent="0" marL="0">
              <a:lnSpc>
                <a:spcPct val="120000"/>
              </a:lnSpc>
              <a:buNone/>
            </a:pPr>
            <a:r>
              <a:rPr lang="en-US" sz="1100" dirty="0">
                <a:solidFill>
                  <a:srgbClr val="E6E1F7"/>
                </a:solidFill>
                <a:latin typeface="Consolas" pitchFamily="34" charset="0"/>
                <a:ea typeface="Consolas" pitchFamily="34" charset="-122"/>
                <a:cs typeface="Consolas" pitchFamily="34" charset="-120"/>
              </a:rPr>
              <a:t>    --attribute-definitions \</a:t>
            </a:r>
            <a:endParaRPr lang="en-US" sz="1100" dirty="0"/>
          </a:p>
          <a:p>
            <a:pPr indent="0" marL="0">
              <a:lnSpc>
                <a:spcPct val="120000"/>
              </a:lnSpc>
              <a:buNone/>
            </a:pPr>
            <a:r>
              <a:rPr lang="en-US" sz="1100" dirty="0">
                <a:solidFill>
                  <a:srgbClr val="E6E1F7"/>
                </a:solidFill>
                <a:latin typeface="Consolas" pitchFamily="34" charset="0"/>
                <a:ea typeface="Consolas" pitchFamily="34" charset="-122"/>
                <a:cs typeface="Consolas" pitchFamily="34" charset="-120"/>
              </a:rPr>
              <a:t>        AttributeName=LockID,AttributeType=S \</a:t>
            </a:r>
            <a:endParaRPr lang="en-US" sz="1100" dirty="0"/>
          </a:p>
          <a:p>
            <a:pPr indent="0" marL="0">
              <a:lnSpc>
                <a:spcPct val="120000"/>
              </a:lnSpc>
              <a:buNone/>
            </a:pPr>
            <a:r>
              <a:rPr lang="en-US" sz="1100" dirty="0">
                <a:solidFill>
                  <a:srgbClr val="E6E1F7"/>
                </a:solidFill>
                <a:latin typeface="Consolas" pitchFamily="34" charset="0"/>
                <a:ea typeface="Consolas" pitchFamily="34" charset="-122"/>
                <a:cs typeface="Consolas" pitchFamily="34" charset="-120"/>
              </a:rPr>
              <a:t>    --key-schema \</a:t>
            </a:r>
            <a:endParaRPr lang="en-US" sz="1100" dirty="0"/>
          </a:p>
          <a:p>
            <a:pPr indent="0" marL="0">
              <a:lnSpc>
                <a:spcPct val="120000"/>
              </a:lnSpc>
              <a:buNone/>
            </a:pPr>
            <a:r>
              <a:rPr lang="en-US" sz="1100" dirty="0">
                <a:solidFill>
                  <a:srgbClr val="E6E1F7"/>
                </a:solidFill>
                <a:latin typeface="Consolas" pitchFamily="34" charset="0"/>
                <a:ea typeface="Consolas" pitchFamily="34" charset="-122"/>
                <a:cs typeface="Consolas" pitchFamily="34" charset="-120"/>
              </a:rPr>
              <a:t>        AttributeName=LockID,KeyType=HASH \</a:t>
            </a:r>
            <a:endParaRPr lang="en-US" sz="1100" dirty="0"/>
          </a:p>
          <a:p>
            <a:pPr indent="0" marL="0">
              <a:lnSpc>
                <a:spcPct val="120000"/>
              </a:lnSpc>
              <a:buNone/>
            </a:pPr>
            <a:r>
              <a:rPr lang="en-US" sz="1100" dirty="0">
                <a:solidFill>
                  <a:srgbClr val="E6E1F7"/>
                </a:solidFill>
                <a:latin typeface="Consolas" pitchFamily="34" charset="0"/>
                <a:ea typeface="Consolas" pitchFamily="34" charset="-122"/>
                <a:cs typeface="Consolas" pitchFamily="34" charset="-120"/>
              </a:rPr>
              <a:t>    --billing-mode PAY_PER_REQUEST</a:t>
            </a:r>
            <a:endParaRPr lang="en-US" sz="1100" dirty="0"/>
          </a:p>
        </p:txBody>
      </p:sp>
      <p:sp>
        <p:nvSpPr>
          <p:cNvPr id="18" name="Shape 15"/>
          <p:cNvSpPr/>
          <p:nvPr/>
        </p:nvSpPr>
        <p:spPr>
          <a:xfrm>
            <a:off x="6355080" y="4617720"/>
            <a:ext cx="5257800" cy="777240"/>
          </a:xfrm>
          <a:prstGeom prst="roundRect">
            <a:avLst>
              <a:gd name="adj" fmla="val 9412"/>
            </a:avLst>
          </a:prstGeom>
          <a:solidFill>
            <a:srgbClr val="F6F4FB"/>
          </a:solidFill>
          <a:ln/>
        </p:spPr>
      </p:sp>
      <p:pic>
        <p:nvPicPr>
          <p:cNvPr id="19" name="Image 1" descr="database_violet.png">    </p:cNvPr>
          <p:cNvPicPr>
            <a:picLocks noChangeAspect="1"/>
          </p:cNvPicPr>
          <p:nvPr/>
        </p:nvPicPr>
        <p:blipFill>
          <a:blip r:embed="rId2"/>
          <a:stretch>
            <a:fillRect/>
          </a:stretch>
        </p:blipFill>
        <p:spPr>
          <a:xfrm>
            <a:off x="6583680" y="4782312"/>
            <a:ext cx="320040" cy="320040"/>
          </a:xfrm>
          <a:prstGeom prst="rect">
            <a:avLst/>
          </a:prstGeom>
        </p:spPr>
      </p:pic>
      <p:sp>
        <p:nvSpPr>
          <p:cNvPr id="20" name="Text 16"/>
          <p:cNvSpPr/>
          <p:nvPr/>
        </p:nvSpPr>
        <p:spPr>
          <a:xfrm>
            <a:off x="7040880" y="4709160"/>
            <a:ext cx="4343400" cy="502920"/>
          </a:xfrm>
          <a:prstGeom prst="rect">
            <a:avLst/>
          </a:prstGeom>
          <a:noFill/>
          <a:ln/>
        </p:spPr>
        <p:txBody>
          <a:bodyPr wrap="square" lIns="0" tIns="0" rIns="0" bIns="0" rtlCol="0" anchor="ctr"/>
          <a:lstStyle/>
          <a:p>
            <a:pPr indent="0" marL="0">
              <a:buNone/>
            </a:pPr>
            <a:r>
              <a:rPr lang="en-US" sz="1150" dirty="0">
                <a:solidFill>
                  <a:srgbClr val="44454D"/>
                </a:solidFill>
                <a:latin typeface="Calibri" pitchFamily="34" charset="0"/>
                <a:ea typeface="Calibri" pitchFamily="34" charset="-122"/>
                <a:cs typeface="Calibri" pitchFamily="34" charset="-120"/>
              </a:rPr>
              <a:t>LockID is the unique key each state lock is stored under.</a:t>
            </a:r>
            <a:endParaRPr lang="en-US" sz="1150" dirty="0"/>
          </a:p>
        </p:txBody>
      </p:sp>
      <p:sp>
        <p:nvSpPr>
          <p:cNvPr id="21" name="Text 17"/>
          <p:cNvSpPr/>
          <p:nvPr/>
        </p:nvSpPr>
        <p:spPr>
          <a:xfrm>
            <a:off x="457200" y="6446520"/>
            <a:ext cx="5486400" cy="274320"/>
          </a:xfrm>
          <a:prstGeom prst="rect">
            <a:avLst/>
          </a:prstGeom>
          <a:noFill/>
          <a:ln/>
        </p:spPr>
        <p:txBody>
          <a:bodyPr wrap="square" lIns="0" tIns="0" rIns="0" bIns="0" rtlCol="0" anchor="ctr"/>
          <a:lstStyle/>
          <a:p>
            <a:pPr algn="l" indent="0" marL="0">
              <a:buNone/>
            </a:pPr>
            <a:r>
              <a:rPr lang="en-US" sz="1000" dirty="0">
                <a:solidFill>
                  <a:srgbClr val="9A93B5"/>
                </a:solidFill>
                <a:latin typeface="Calibri" pitchFamily="34" charset="0"/>
                <a:ea typeface="Calibri" pitchFamily="34" charset="-122"/>
                <a:cs typeface="Calibri" pitchFamily="34" charset="-120"/>
              </a:rPr>
              <a:t>Terraform State Management</a:t>
            </a:r>
            <a:endParaRPr lang="en-US" sz="1000" dirty="0"/>
          </a:p>
        </p:txBody>
      </p:sp>
      <p:sp>
        <p:nvSpPr>
          <p:cNvPr id="22" name="Text 18"/>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A93B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300" b="1" spc="200" kern="0" dirty="0">
                <a:solidFill>
                  <a:srgbClr val="7C4DFF"/>
                </a:solidFill>
                <a:latin typeface="Calibri" pitchFamily="34" charset="0"/>
                <a:ea typeface="Calibri" pitchFamily="34" charset="-122"/>
                <a:cs typeface="Calibri" pitchFamily="34" charset="-120"/>
              </a:rPr>
              <a:t>4.4  STEP-BY-STEP SETUP</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241748"/>
                </a:solidFill>
                <a:latin typeface="Cambria" pitchFamily="34" charset="0"/>
                <a:ea typeface="Cambria" pitchFamily="34" charset="-122"/>
                <a:cs typeface="Cambria" pitchFamily="34" charset="-120"/>
              </a:rPr>
              <a:t>Step 3–4 · Point Terraform at the backend</a:t>
            </a:r>
            <a:endParaRPr lang="en-US" sz="3200" dirty="0"/>
          </a:p>
        </p:txBody>
      </p:sp>
      <p:sp>
        <p:nvSpPr>
          <p:cNvPr id="4" name="Shape 2"/>
          <p:cNvSpPr/>
          <p:nvPr/>
        </p:nvSpPr>
        <p:spPr>
          <a:xfrm>
            <a:off x="548640" y="1691640"/>
            <a:ext cx="457200" cy="457200"/>
          </a:xfrm>
          <a:prstGeom prst="ellipse">
            <a:avLst/>
          </a:prstGeom>
          <a:solidFill>
            <a:srgbClr val="3B2667"/>
          </a:solidFill>
          <a:ln/>
        </p:spPr>
      </p:sp>
      <p:sp>
        <p:nvSpPr>
          <p:cNvPr id="5" name="Text 3"/>
          <p:cNvSpPr/>
          <p:nvPr/>
        </p:nvSpPr>
        <p:spPr>
          <a:xfrm>
            <a:off x="548640" y="1691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6" name="Text 4"/>
          <p:cNvSpPr/>
          <p:nvPr/>
        </p:nvSpPr>
        <p:spPr>
          <a:xfrm>
            <a:off x="1143000" y="1737360"/>
            <a:ext cx="5715000" cy="411480"/>
          </a:xfrm>
          <a:prstGeom prst="rect">
            <a:avLst/>
          </a:prstGeom>
          <a:noFill/>
          <a:ln/>
        </p:spPr>
        <p:txBody>
          <a:bodyPr wrap="square" lIns="0" tIns="0" rIns="0" bIns="0" rtlCol="0" anchor="ctr"/>
          <a:lstStyle/>
          <a:p>
            <a:pPr indent="0" marL="0">
              <a:buNone/>
            </a:pPr>
            <a:r>
              <a:rPr lang="en-US" sz="1600" b="1" dirty="0">
                <a:solidFill>
                  <a:srgbClr val="241748"/>
                </a:solidFill>
                <a:latin typeface="Calibri" pitchFamily="34" charset="0"/>
                <a:ea typeface="Calibri" pitchFamily="34" charset="-122"/>
                <a:cs typeface="Calibri" pitchFamily="34" charset="-120"/>
              </a:rPr>
              <a:t>Configure backend.tf</a:t>
            </a:r>
            <a:endParaRPr lang="en-US" sz="1600" dirty="0"/>
          </a:p>
        </p:txBody>
      </p:sp>
      <p:sp>
        <p:nvSpPr>
          <p:cNvPr id="7" name="Shape 5"/>
          <p:cNvSpPr/>
          <p:nvPr/>
        </p:nvSpPr>
        <p:spPr>
          <a:xfrm>
            <a:off x="548640" y="2286000"/>
            <a:ext cx="6309360" cy="2743200"/>
          </a:xfrm>
          <a:prstGeom prst="roundRect">
            <a:avLst>
              <a:gd name="adj" fmla="val 2667"/>
            </a:avLst>
          </a:prstGeom>
          <a:solidFill>
            <a:srgbClr val="241748"/>
          </a:solidFill>
          <a:ln/>
          <a:effectLst>
            <a:outerShdw sx="100000" sy="100000" kx="0" ky="0" algn="bl" rotWithShape="0" blurRad="101600" dist="38100" dir="5400000">
              <a:srgbClr val="000000">
                <a:alpha val="12000"/>
              </a:srgbClr>
            </a:outerShdw>
          </a:effectLst>
        </p:spPr>
      </p:sp>
      <p:sp>
        <p:nvSpPr>
          <p:cNvPr id="8" name="Shape 6"/>
          <p:cNvSpPr/>
          <p:nvPr/>
        </p:nvSpPr>
        <p:spPr>
          <a:xfrm>
            <a:off x="822960" y="2514600"/>
            <a:ext cx="146304" cy="146304"/>
          </a:xfrm>
          <a:prstGeom prst="ellipse">
            <a:avLst/>
          </a:prstGeom>
          <a:solidFill>
            <a:srgbClr val="E85D5D"/>
          </a:solidFill>
          <a:ln/>
        </p:spPr>
      </p:sp>
      <p:sp>
        <p:nvSpPr>
          <p:cNvPr id="9" name="Shape 7"/>
          <p:cNvSpPr/>
          <p:nvPr/>
        </p:nvSpPr>
        <p:spPr>
          <a:xfrm>
            <a:off x="1097280" y="2514600"/>
            <a:ext cx="146304" cy="146304"/>
          </a:xfrm>
          <a:prstGeom prst="ellipse">
            <a:avLst/>
          </a:prstGeom>
          <a:solidFill>
            <a:srgbClr val="E8A33D"/>
          </a:solidFill>
          <a:ln/>
        </p:spPr>
      </p:sp>
      <p:sp>
        <p:nvSpPr>
          <p:cNvPr id="10" name="Shape 8"/>
          <p:cNvSpPr/>
          <p:nvPr/>
        </p:nvSpPr>
        <p:spPr>
          <a:xfrm>
            <a:off x="1371600" y="2514600"/>
            <a:ext cx="146304" cy="146304"/>
          </a:xfrm>
          <a:prstGeom prst="ellipse">
            <a:avLst/>
          </a:prstGeom>
          <a:solidFill>
            <a:srgbClr val="00BFA5"/>
          </a:solidFill>
          <a:ln/>
        </p:spPr>
      </p:sp>
      <p:sp>
        <p:nvSpPr>
          <p:cNvPr id="11" name="Text 9"/>
          <p:cNvSpPr/>
          <p:nvPr/>
        </p:nvSpPr>
        <p:spPr>
          <a:xfrm>
            <a:off x="1645920" y="2450592"/>
            <a:ext cx="2743200" cy="274320"/>
          </a:xfrm>
          <a:prstGeom prst="rect">
            <a:avLst/>
          </a:prstGeom>
          <a:noFill/>
          <a:ln/>
        </p:spPr>
        <p:txBody>
          <a:bodyPr wrap="square" lIns="0" tIns="0" rIns="0" bIns="0" rtlCol="0" anchor="ctr"/>
          <a:lstStyle/>
          <a:p>
            <a:pPr indent="0" marL="0">
              <a:buNone/>
            </a:pPr>
            <a:r>
              <a:rPr lang="en-US" sz="1100" dirty="0">
                <a:solidFill>
                  <a:srgbClr val="9A93B5"/>
                </a:solidFill>
                <a:latin typeface="Consolas" pitchFamily="34" charset="0"/>
                <a:ea typeface="Consolas" pitchFamily="34" charset="-122"/>
                <a:cs typeface="Consolas" pitchFamily="34" charset="-120"/>
              </a:rPr>
              <a:t>backend.tf</a:t>
            </a:r>
            <a:endParaRPr lang="en-US" sz="1100" dirty="0"/>
          </a:p>
        </p:txBody>
      </p:sp>
      <p:sp>
        <p:nvSpPr>
          <p:cNvPr id="12" name="Text 10"/>
          <p:cNvSpPr/>
          <p:nvPr/>
        </p:nvSpPr>
        <p:spPr>
          <a:xfrm>
            <a:off x="868680" y="2880360"/>
            <a:ext cx="5669280" cy="2011680"/>
          </a:xfrm>
          <a:prstGeom prst="rect">
            <a:avLst/>
          </a:prstGeom>
          <a:noFill/>
          <a:ln/>
        </p:spPr>
        <p:txBody>
          <a:bodyPr wrap="square" lIns="0" tIns="0" rIns="0" bIns="0" rtlCol="0" anchor="ctr"/>
          <a:lstStyle/>
          <a:p>
            <a:pPr indent="0" marL="0">
              <a:lnSpc>
                <a:spcPct val="120000"/>
              </a:lnSpc>
              <a:buNone/>
            </a:pPr>
            <a:r>
              <a:rPr lang="en-US" sz="1300" dirty="0">
                <a:solidFill>
                  <a:srgbClr val="E6E1F7"/>
                </a:solidFill>
                <a:latin typeface="Consolas" pitchFamily="34" charset="0"/>
                <a:ea typeface="Consolas" pitchFamily="34" charset="-122"/>
                <a:cs typeface="Consolas" pitchFamily="34" charset="-120"/>
              </a:rPr>
              <a:t>terraform {</a:t>
            </a:r>
            <a:endParaRPr lang="en-US" sz="1300" dirty="0"/>
          </a:p>
          <a:p>
            <a:pPr indent="0" marL="0">
              <a:lnSpc>
                <a:spcPct val="120000"/>
              </a:lnSpc>
              <a:buNone/>
            </a:pPr>
            <a:r>
              <a:rPr lang="en-US" sz="1300" dirty="0">
                <a:solidFill>
                  <a:srgbClr val="E6E1F7"/>
                </a:solidFill>
                <a:latin typeface="Consolas" pitchFamily="34" charset="0"/>
                <a:ea typeface="Consolas" pitchFamily="34" charset="-122"/>
                <a:cs typeface="Consolas" pitchFamily="34" charset="-120"/>
              </a:rPr>
              <a:t>  backend "s3" {</a:t>
            </a:r>
            <a:endParaRPr lang="en-US" sz="1300" dirty="0"/>
          </a:p>
          <a:p>
            <a:pPr indent="0" marL="0">
              <a:lnSpc>
                <a:spcPct val="120000"/>
              </a:lnSpc>
              <a:buNone/>
            </a:pPr>
            <a:r>
              <a:rPr lang="en-US" sz="1300" dirty="0">
                <a:solidFill>
                  <a:srgbClr val="E6E1F7"/>
                </a:solidFill>
                <a:latin typeface="Consolas" pitchFamily="34" charset="0"/>
                <a:ea typeface="Consolas" pitchFamily="34" charset="-122"/>
                <a:cs typeface="Consolas" pitchFamily="34" charset="-120"/>
              </a:rPr>
              <a:t>    bucket         = "my-terraform-state-bucket"</a:t>
            </a:r>
            <a:endParaRPr lang="en-US" sz="1300" dirty="0"/>
          </a:p>
          <a:p>
            <a:pPr indent="0" marL="0">
              <a:lnSpc>
                <a:spcPct val="120000"/>
              </a:lnSpc>
              <a:buNone/>
            </a:pPr>
            <a:r>
              <a:rPr lang="en-US" sz="1300" dirty="0">
                <a:solidFill>
                  <a:srgbClr val="E6E1F7"/>
                </a:solidFill>
                <a:latin typeface="Consolas" pitchFamily="34" charset="0"/>
                <a:ea typeface="Consolas" pitchFamily="34" charset="-122"/>
                <a:cs typeface="Consolas" pitchFamily="34" charset="-120"/>
              </a:rPr>
              <a:t>    key            = "terraform.tfstate"</a:t>
            </a:r>
            <a:endParaRPr lang="en-US" sz="1300" dirty="0"/>
          </a:p>
          <a:p>
            <a:pPr indent="0" marL="0">
              <a:lnSpc>
                <a:spcPct val="120000"/>
              </a:lnSpc>
              <a:buNone/>
            </a:pPr>
            <a:r>
              <a:rPr lang="en-US" sz="1300" dirty="0">
                <a:solidFill>
                  <a:srgbClr val="E6E1F7"/>
                </a:solidFill>
                <a:latin typeface="Consolas" pitchFamily="34" charset="0"/>
                <a:ea typeface="Consolas" pitchFamily="34" charset="-122"/>
                <a:cs typeface="Consolas" pitchFamily="34" charset="-120"/>
              </a:rPr>
              <a:t>    region         = "us-east-1"</a:t>
            </a:r>
            <a:endParaRPr lang="en-US" sz="1300" dirty="0"/>
          </a:p>
          <a:p>
            <a:pPr indent="0" marL="0">
              <a:lnSpc>
                <a:spcPct val="120000"/>
              </a:lnSpc>
              <a:buNone/>
            </a:pPr>
            <a:r>
              <a:rPr lang="en-US" sz="1300" dirty="0">
                <a:solidFill>
                  <a:srgbClr val="E6E1F7"/>
                </a:solidFill>
                <a:latin typeface="Consolas" pitchFamily="34" charset="0"/>
                <a:ea typeface="Consolas" pitchFamily="34" charset="-122"/>
                <a:cs typeface="Consolas" pitchFamily="34" charset="-120"/>
              </a:rPr>
              <a:t>    dynamodb_table = "terraform-lock"</a:t>
            </a:r>
            <a:endParaRPr lang="en-US" sz="1300" dirty="0"/>
          </a:p>
          <a:p>
            <a:pPr indent="0" marL="0">
              <a:lnSpc>
                <a:spcPct val="120000"/>
              </a:lnSpc>
              <a:buNone/>
            </a:pPr>
            <a:r>
              <a:rPr lang="en-US" sz="1300" dirty="0">
                <a:solidFill>
                  <a:srgbClr val="E6E1F7"/>
                </a:solidFill>
                <a:latin typeface="Consolas" pitchFamily="34" charset="0"/>
                <a:ea typeface="Consolas" pitchFamily="34" charset="-122"/>
                <a:cs typeface="Consolas" pitchFamily="34" charset="-120"/>
              </a:rPr>
              <a:t>    encrypt        = true</a:t>
            </a:r>
            <a:endParaRPr lang="en-US" sz="1300" dirty="0"/>
          </a:p>
          <a:p>
            <a:pPr indent="0" marL="0">
              <a:lnSpc>
                <a:spcPct val="120000"/>
              </a:lnSpc>
              <a:buNone/>
            </a:pPr>
            <a:r>
              <a:rPr lang="en-US" sz="1300" dirty="0">
                <a:solidFill>
                  <a:srgbClr val="E6E1F7"/>
                </a:solidFill>
                <a:latin typeface="Consolas" pitchFamily="34" charset="0"/>
                <a:ea typeface="Consolas" pitchFamily="34" charset="-122"/>
                <a:cs typeface="Consolas" pitchFamily="34" charset="-120"/>
              </a:rPr>
              <a:t>  }</a:t>
            </a:r>
            <a:endParaRPr lang="en-US" sz="1300" dirty="0"/>
          </a:p>
          <a:p>
            <a:pPr indent="0" marL="0">
              <a:lnSpc>
                <a:spcPct val="120000"/>
              </a:lnSpc>
              <a:buNone/>
            </a:pPr>
            <a:r>
              <a:rPr lang="en-US" sz="1300" dirty="0">
                <a:solidFill>
                  <a:srgbClr val="E6E1F7"/>
                </a:solidFill>
                <a:latin typeface="Consolas" pitchFamily="34" charset="0"/>
                <a:ea typeface="Consolas" pitchFamily="34" charset="-122"/>
                <a:cs typeface="Consolas" pitchFamily="34" charset="-120"/>
              </a:rPr>
              <a:t>}</a:t>
            </a:r>
            <a:endParaRPr lang="en-US" sz="1300" dirty="0"/>
          </a:p>
        </p:txBody>
      </p:sp>
      <p:sp>
        <p:nvSpPr>
          <p:cNvPr id="13" name="Text 11"/>
          <p:cNvSpPr/>
          <p:nvPr/>
        </p:nvSpPr>
        <p:spPr>
          <a:xfrm>
            <a:off x="548640" y="5166360"/>
            <a:ext cx="6309360" cy="640080"/>
          </a:xfrm>
          <a:prstGeom prst="rect">
            <a:avLst/>
          </a:prstGeom>
          <a:noFill/>
          <a:ln/>
        </p:spPr>
        <p:txBody>
          <a:bodyPr wrap="square" lIns="0" tIns="0" rIns="0" bIns="0" rtlCol="0" anchor="ctr"/>
          <a:lstStyle/>
          <a:p>
            <a:pPr indent="0" marL="0">
              <a:buNone/>
            </a:pPr>
            <a:r>
              <a:rPr lang="en-US" sz="1200" i="1" dirty="0">
                <a:solidFill>
                  <a:srgbClr val="44454D"/>
                </a:solidFill>
                <a:latin typeface="Calibri" pitchFamily="34" charset="0"/>
                <a:ea typeface="Calibri" pitchFamily="34" charset="-122"/>
                <a:cs typeface="Calibri" pitchFamily="34" charset="-120"/>
              </a:rPr>
              <a:t>Every field here is required for locking to work — omit dynamodb_table and Terraform will store state in S3 with no lock protection.</a:t>
            </a:r>
            <a:endParaRPr lang="en-US" sz="1200" dirty="0"/>
          </a:p>
        </p:txBody>
      </p:sp>
      <p:sp>
        <p:nvSpPr>
          <p:cNvPr id="14" name="Shape 12"/>
          <p:cNvSpPr/>
          <p:nvPr/>
        </p:nvSpPr>
        <p:spPr>
          <a:xfrm>
            <a:off x="7178040" y="1691640"/>
            <a:ext cx="457200" cy="457200"/>
          </a:xfrm>
          <a:prstGeom prst="ellipse">
            <a:avLst/>
          </a:prstGeom>
          <a:solidFill>
            <a:srgbClr val="3B2667"/>
          </a:solidFill>
          <a:ln/>
        </p:spPr>
      </p:sp>
      <p:sp>
        <p:nvSpPr>
          <p:cNvPr id="15" name="Text 13"/>
          <p:cNvSpPr/>
          <p:nvPr/>
        </p:nvSpPr>
        <p:spPr>
          <a:xfrm>
            <a:off x="7178040" y="1691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4"/>
          <p:cNvSpPr/>
          <p:nvPr/>
        </p:nvSpPr>
        <p:spPr>
          <a:xfrm>
            <a:off x="7772400" y="1737360"/>
            <a:ext cx="3840480" cy="411480"/>
          </a:xfrm>
          <a:prstGeom prst="rect">
            <a:avLst/>
          </a:prstGeom>
          <a:noFill/>
          <a:ln/>
        </p:spPr>
        <p:txBody>
          <a:bodyPr wrap="square" lIns="0" tIns="0" rIns="0" bIns="0" rtlCol="0" anchor="ctr"/>
          <a:lstStyle/>
          <a:p>
            <a:pPr indent="0" marL="0">
              <a:buNone/>
            </a:pPr>
            <a:r>
              <a:rPr lang="en-US" sz="1600" b="1" dirty="0">
                <a:solidFill>
                  <a:srgbClr val="241748"/>
                </a:solidFill>
                <a:latin typeface="Calibri" pitchFamily="34" charset="0"/>
                <a:ea typeface="Calibri" pitchFamily="34" charset="-122"/>
                <a:cs typeface="Calibri" pitchFamily="34" charset="-120"/>
              </a:rPr>
              <a:t>Initialize &amp; apply</a:t>
            </a:r>
            <a:endParaRPr lang="en-US" sz="1600" dirty="0"/>
          </a:p>
        </p:txBody>
      </p:sp>
      <p:sp>
        <p:nvSpPr>
          <p:cNvPr id="17" name="Shape 15"/>
          <p:cNvSpPr/>
          <p:nvPr/>
        </p:nvSpPr>
        <p:spPr>
          <a:xfrm>
            <a:off x="7178040" y="2286000"/>
            <a:ext cx="4434840" cy="1234440"/>
          </a:xfrm>
          <a:prstGeom prst="roundRect">
            <a:avLst>
              <a:gd name="adj" fmla="val 5926"/>
            </a:avLst>
          </a:prstGeom>
          <a:solidFill>
            <a:srgbClr val="F6F4FB"/>
          </a:solidFill>
          <a:ln/>
        </p:spPr>
      </p:sp>
      <p:sp>
        <p:nvSpPr>
          <p:cNvPr id="18" name="Text 16"/>
          <p:cNvSpPr/>
          <p:nvPr/>
        </p:nvSpPr>
        <p:spPr>
          <a:xfrm>
            <a:off x="7452360" y="2468880"/>
            <a:ext cx="3886200" cy="320040"/>
          </a:xfrm>
          <a:prstGeom prst="rect">
            <a:avLst/>
          </a:prstGeom>
          <a:noFill/>
          <a:ln/>
        </p:spPr>
        <p:txBody>
          <a:bodyPr wrap="square" lIns="0" tIns="0" rIns="0" bIns="0" rtlCol="0" anchor="ctr"/>
          <a:lstStyle/>
          <a:p>
            <a:pPr indent="0" marL="0">
              <a:buNone/>
            </a:pPr>
            <a:r>
              <a:rPr lang="en-US" sz="1250" b="1" dirty="0">
                <a:solidFill>
                  <a:srgbClr val="3B2667"/>
                </a:solidFill>
                <a:latin typeface="Consolas" pitchFamily="34" charset="0"/>
                <a:ea typeface="Consolas" pitchFamily="34" charset="-122"/>
                <a:cs typeface="Consolas" pitchFamily="34" charset="-120"/>
              </a:rPr>
              <a:t>$ terraform init</a:t>
            </a:r>
            <a:endParaRPr lang="en-US" sz="1250" dirty="0"/>
          </a:p>
        </p:txBody>
      </p:sp>
      <p:sp>
        <p:nvSpPr>
          <p:cNvPr id="19" name="Text 17"/>
          <p:cNvSpPr/>
          <p:nvPr/>
        </p:nvSpPr>
        <p:spPr>
          <a:xfrm>
            <a:off x="7452360" y="2834640"/>
            <a:ext cx="3886200" cy="548640"/>
          </a:xfrm>
          <a:prstGeom prst="rect">
            <a:avLst/>
          </a:prstGeom>
          <a:noFill/>
          <a:ln/>
        </p:spPr>
        <p:txBody>
          <a:bodyPr wrap="square" lIns="0" tIns="0" rIns="0" bIns="0" rtlCol="0" anchor="ctr"/>
          <a:lstStyle/>
          <a:p>
            <a:pPr indent="0" marL="0">
              <a:buNone/>
            </a:pPr>
            <a:r>
              <a:rPr lang="en-US" sz="1150" dirty="0">
                <a:solidFill>
                  <a:srgbClr val="44454D"/>
                </a:solidFill>
                <a:latin typeface="Calibri" pitchFamily="34" charset="0"/>
                <a:ea typeface="Calibri" pitchFamily="34" charset="-122"/>
                <a:cs typeface="Calibri" pitchFamily="34" charset="-120"/>
              </a:rPr>
              <a:t>Moves local state into S3.</a:t>
            </a:r>
            <a:endParaRPr lang="en-US" sz="1150" dirty="0"/>
          </a:p>
        </p:txBody>
      </p:sp>
      <p:sp>
        <p:nvSpPr>
          <p:cNvPr id="20" name="Shape 18"/>
          <p:cNvSpPr/>
          <p:nvPr/>
        </p:nvSpPr>
        <p:spPr>
          <a:xfrm>
            <a:off x="7178040" y="3657600"/>
            <a:ext cx="4434840" cy="1234440"/>
          </a:xfrm>
          <a:prstGeom prst="roundRect">
            <a:avLst>
              <a:gd name="adj" fmla="val 5926"/>
            </a:avLst>
          </a:prstGeom>
          <a:solidFill>
            <a:srgbClr val="F6F4FB"/>
          </a:solidFill>
          <a:ln/>
        </p:spPr>
      </p:sp>
      <p:sp>
        <p:nvSpPr>
          <p:cNvPr id="21" name="Text 19"/>
          <p:cNvSpPr/>
          <p:nvPr/>
        </p:nvSpPr>
        <p:spPr>
          <a:xfrm>
            <a:off x="7452360" y="3840480"/>
            <a:ext cx="3886200" cy="320040"/>
          </a:xfrm>
          <a:prstGeom prst="rect">
            <a:avLst/>
          </a:prstGeom>
          <a:noFill/>
          <a:ln/>
        </p:spPr>
        <p:txBody>
          <a:bodyPr wrap="square" lIns="0" tIns="0" rIns="0" bIns="0" rtlCol="0" anchor="ctr"/>
          <a:lstStyle/>
          <a:p>
            <a:pPr indent="0" marL="0">
              <a:buNone/>
            </a:pPr>
            <a:r>
              <a:rPr lang="en-US" sz="1200" b="1" dirty="0">
                <a:solidFill>
                  <a:srgbClr val="3B2667"/>
                </a:solidFill>
                <a:latin typeface="Consolas" pitchFamily="34" charset="0"/>
                <a:ea typeface="Consolas" pitchFamily="34" charset="-122"/>
                <a:cs typeface="Consolas" pitchFamily="34" charset="-120"/>
              </a:rPr>
              <a:t>$ terraform apply -auto-approve</a:t>
            </a:r>
            <a:endParaRPr lang="en-US" sz="1200" dirty="0"/>
          </a:p>
        </p:txBody>
      </p:sp>
      <p:sp>
        <p:nvSpPr>
          <p:cNvPr id="22" name="Text 20"/>
          <p:cNvSpPr/>
          <p:nvPr/>
        </p:nvSpPr>
        <p:spPr>
          <a:xfrm>
            <a:off x="7452360" y="4206240"/>
            <a:ext cx="3886200" cy="594360"/>
          </a:xfrm>
          <a:prstGeom prst="rect">
            <a:avLst/>
          </a:prstGeom>
          <a:noFill/>
          <a:ln/>
        </p:spPr>
        <p:txBody>
          <a:bodyPr wrap="square" lIns="0" tIns="0" rIns="0" bIns="0" rtlCol="0" anchor="ctr"/>
          <a:lstStyle/>
          <a:p>
            <a:pPr indent="0" marL="0">
              <a:buNone/>
            </a:pPr>
            <a:r>
              <a:rPr lang="en-US" sz="1150" dirty="0">
                <a:solidFill>
                  <a:srgbClr val="44454D"/>
                </a:solidFill>
                <a:latin typeface="Calibri" pitchFamily="34" charset="0"/>
                <a:ea typeface="Calibri" pitchFamily="34" charset="-122"/>
                <a:cs typeface="Calibri" pitchFamily="34" charset="-120"/>
              </a:rPr>
              <a:t>Locks the state file in DynamoDB while applying.</a:t>
            </a:r>
            <a:endParaRPr lang="en-US" sz="1150" dirty="0"/>
          </a:p>
        </p:txBody>
      </p:sp>
      <p:pic>
        <p:nvPicPr>
          <p:cNvPr id="23" name="Image 0" descr="check_teal.png">    </p:cNvPr>
          <p:cNvPicPr>
            <a:picLocks noChangeAspect="1"/>
          </p:cNvPicPr>
          <p:nvPr/>
        </p:nvPicPr>
        <p:blipFill>
          <a:blip r:embed="rId1"/>
          <a:stretch>
            <a:fillRect/>
          </a:stretch>
        </p:blipFill>
        <p:spPr>
          <a:xfrm>
            <a:off x="7178040" y="5120640"/>
            <a:ext cx="320040" cy="320040"/>
          </a:xfrm>
          <a:prstGeom prst="rect">
            <a:avLst/>
          </a:prstGeom>
        </p:spPr>
      </p:pic>
      <p:sp>
        <p:nvSpPr>
          <p:cNvPr id="24" name="Text 21"/>
          <p:cNvSpPr/>
          <p:nvPr/>
        </p:nvSpPr>
        <p:spPr>
          <a:xfrm>
            <a:off x="7635240" y="5093208"/>
            <a:ext cx="3886200" cy="685800"/>
          </a:xfrm>
          <a:prstGeom prst="rect">
            <a:avLst/>
          </a:prstGeom>
          <a:noFill/>
          <a:ln/>
        </p:spPr>
        <p:txBody>
          <a:bodyPr wrap="square" lIns="0" tIns="0" rIns="0" bIns="0" rtlCol="0" anchor="ctr"/>
          <a:lstStyle/>
          <a:p>
            <a:pPr indent="0" marL="0">
              <a:buNone/>
            </a:pPr>
            <a:r>
              <a:rPr lang="en-US" sz="1200" dirty="0">
                <a:solidFill>
                  <a:srgbClr val="241748"/>
                </a:solidFill>
                <a:latin typeface="Calibri" pitchFamily="34" charset="0"/>
                <a:ea typeface="Calibri" pitchFamily="34" charset="-122"/>
                <a:cs typeface="Calibri" pitchFamily="34" charset="-120"/>
              </a:rPr>
              <a:t>From this point on, everyone on the team runs against the same remote, locked state.</a:t>
            </a:r>
            <a:endParaRPr lang="en-US" sz="1200" dirty="0"/>
          </a:p>
        </p:txBody>
      </p:sp>
      <p:sp>
        <p:nvSpPr>
          <p:cNvPr id="25" name="Text 22"/>
          <p:cNvSpPr/>
          <p:nvPr/>
        </p:nvSpPr>
        <p:spPr>
          <a:xfrm>
            <a:off x="457200" y="6446520"/>
            <a:ext cx="5486400" cy="274320"/>
          </a:xfrm>
          <a:prstGeom prst="rect">
            <a:avLst/>
          </a:prstGeom>
          <a:noFill/>
          <a:ln/>
        </p:spPr>
        <p:txBody>
          <a:bodyPr wrap="square" lIns="0" tIns="0" rIns="0" bIns="0" rtlCol="0" anchor="ctr"/>
          <a:lstStyle/>
          <a:p>
            <a:pPr algn="l" indent="0" marL="0">
              <a:buNone/>
            </a:pPr>
            <a:r>
              <a:rPr lang="en-US" sz="1000" dirty="0">
                <a:solidFill>
                  <a:srgbClr val="9A93B5"/>
                </a:solidFill>
                <a:latin typeface="Calibri" pitchFamily="34" charset="0"/>
                <a:ea typeface="Calibri" pitchFamily="34" charset="-122"/>
                <a:cs typeface="Calibri" pitchFamily="34" charset="-120"/>
              </a:rPr>
              <a:t>Terraform State Management</a:t>
            </a:r>
            <a:endParaRPr lang="en-US" sz="1000" dirty="0"/>
          </a:p>
        </p:txBody>
      </p:sp>
      <p:sp>
        <p:nvSpPr>
          <p:cNvPr id="26" name="Text 2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A93B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300" b="1" spc="200" kern="0" dirty="0">
                <a:solidFill>
                  <a:srgbClr val="7C4DFF"/>
                </a:solidFill>
                <a:latin typeface="Calibri" pitchFamily="34" charset="0"/>
                <a:ea typeface="Calibri" pitchFamily="34" charset="-122"/>
                <a:cs typeface="Calibri" pitchFamily="34" charset="-120"/>
              </a:rPr>
              <a:t>4.5  VERIFYING STATE STORAGE &amp; LOCKING</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indent="0" marL="0">
              <a:buNone/>
            </a:pPr>
            <a:r>
              <a:rPr lang="en-US" sz="3200" b="1" dirty="0">
                <a:solidFill>
                  <a:srgbClr val="241748"/>
                </a:solidFill>
                <a:latin typeface="Cambria" pitchFamily="34" charset="0"/>
                <a:ea typeface="Cambria" pitchFamily="34" charset="-122"/>
                <a:cs typeface="Cambria" pitchFamily="34" charset="-120"/>
              </a:rPr>
              <a:t>Confirm it actually worked</a:t>
            </a:r>
            <a:endParaRPr lang="en-US" sz="3200" dirty="0"/>
          </a:p>
        </p:txBody>
      </p:sp>
      <p:sp>
        <p:nvSpPr>
          <p:cNvPr id="4" name="Shape 2"/>
          <p:cNvSpPr/>
          <p:nvPr/>
        </p:nvSpPr>
        <p:spPr>
          <a:xfrm>
            <a:off x="548640" y="1691640"/>
            <a:ext cx="5257800" cy="4160520"/>
          </a:xfrm>
          <a:prstGeom prst="roundRect">
            <a:avLst>
              <a:gd name="adj" fmla="val 2198"/>
            </a:avLst>
          </a:prstGeom>
          <a:solidFill>
            <a:srgbClr val="F6F4FB"/>
          </a:solidFill>
          <a:ln/>
          <a:effectLst>
            <a:outerShdw sx="100000" sy="100000" kx="0" ky="0" algn="bl" rotWithShape="0" blurRad="101600" dist="38100" dir="5400000">
              <a:srgbClr val="000000">
                <a:alpha val="12000"/>
              </a:srgbClr>
            </a:outerShdw>
          </a:effectLst>
        </p:spPr>
      </p:sp>
      <p:pic>
        <p:nvPicPr>
          <p:cNvPr id="5" name="Image 0" descr="box_violet.png">    </p:cNvPr>
          <p:cNvPicPr>
            <a:picLocks noChangeAspect="1"/>
          </p:cNvPicPr>
          <p:nvPr/>
        </p:nvPicPr>
        <p:blipFill>
          <a:blip r:embed="rId1"/>
          <a:stretch>
            <a:fillRect/>
          </a:stretch>
        </p:blipFill>
        <p:spPr>
          <a:xfrm>
            <a:off x="914400" y="2011680"/>
            <a:ext cx="411480" cy="411480"/>
          </a:xfrm>
          <a:prstGeom prst="rect">
            <a:avLst/>
          </a:prstGeom>
        </p:spPr>
      </p:pic>
      <p:sp>
        <p:nvSpPr>
          <p:cNvPr id="6" name="Text 3"/>
          <p:cNvSpPr/>
          <p:nvPr/>
        </p:nvSpPr>
        <p:spPr>
          <a:xfrm>
            <a:off x="1463040" y="2057400"/>
            <a:ext cx="4069080" cy="457200"/>
          </a:xfrm>
          <a:prstGeom prst="rect">
            <a:avLst/>
          </a:prstGeom>
          <a:noFill/>
          <a:ln/>
        </p:spPr>
        <p:txBody>
          <a:bodyPr wrap="square" lIns="0" tIns="0" rIns="0" bIns="0" rtlCol="0" anchor="ctr"/>
          <a:lstStyle/>
          <a:p>
            <a:pPr indent="0" marL="0">
              <a:buNone/>
            </a:pPr>
            <a:r>
              <a:rPr lang="en-US" sz="1600" b="1" dirty="0">
                <a:solidFill>
                  <a:srgbClr val="241748"/>
                </a:solidFill>
                <a:latin typeface="Calibri" pitchFamily="34" charset="0"/>
                <a:ea typeface="Calibri" pitchFamily="34" charset="-122"/>
                <a:cs typeface="Calibri" pitchFamily="34" charset="-120"/>
              </a:rPr>
              <a:t>Check the state file in S3</a:t>
            </a:r>
            <a:endParaRPr lang="en-US" sz="1600" dirty="0"/>
          </a:p>
        </p:txBody>
      </p:sp>
      <p:sp>
        <p:nvSpPr>
          <p:cNvPr id="7" name="Shape 4"/>
          <p:cNvSpPr/>
          <p:nvPr/>
        </p:nvSpPr>
        <p:spPr>
          <a:xfrm>
            <a:off x="914400" y="2743200"/>
            <a:ext cx="4526280" cy="822960"/>
          </a:xfrm>
          <a:prstGeom prst="roundRect">
            <a:avLst>
              <a:gd name="adj" fmla="val 6667"/>
            </a:avLst>
          </a:prstGeom>
          <a:solidFill>
            <a:srgbClr val="241748"/>
          </a:solidFill>
          <a:ln/>
        </p:spPr>
      </p:sp>
      <p:sp>
        <p:nvSpPr>
          <p:cNvPr id="8" name="Text 5"/>
          <p:cNvSpPr/>
          <p:nvPr/>
        </p:nvSpPr>
        <p:spPr>
          <a:xfrm>
            <a:off x="1097280" y="2926080"/>
            <a:ext cx="4160520" cy="457200"/>
          </a:xfrm>
          <a:prstGeom prst="rect">
            <a:avLst/>
          </a:prstGeom>
          <a:noFill/>
          <a:ln/>
        </p:spPr>
        <p:txBody>
          <a:bodyPr wrap="square" lIns="0" tIns="0" rIns="0" bIns="0" rtlCol="0" anchor="ctr"/>
          <a:lstStyle/>
          <a:p>
            <a:pPr indent="0" marL="0">
              <a:buNone/>
            </a:pPr>
            <a:r>
              <a:rPr lang="en-US" sz="1150" dirty="0">
                <a:solidFill>
                  <a:srgbClr val="E6E1F7"/>
                </a:solidFill>
                <a:latin typeface="Consolas" pitchFamily="34" charset="0"/>
                <a:ea typeface="Consolas" pitchFamily="34" charset="-122"/>
                <a:cs typeface="Consolas" pitchFamily="34" charset="-120"/>
              </a:rPr>
              <a:t>$ aws s3 ls s3://my-terraform-state-bucket</a:t>
            </a:r>
            <a:endParaRPr lang="en-US" sz="1150" dirty="0"/>
          </a:p>
        </p:txBody>
      </p:sp>
      <p:pic>
        <p:nvPicPr>
          <p:cNvPr id="9" name="Image 1" descr="check_teal.png">    </p:cNvPr>
          <p:cNvPicPr>
            <a:picLocks noChangeAspect="1"/>
          </p:cNvPicPr>
          <p:nvPr/>
        </p:nvPicPr>
        <p:blipFill>
          <a:blip r:embed="rId2"/>
          <a:stretch>
            <a:fillRect/>
          </a:stretch>
        </p:blipFill>
        <p:spPr>
          <a:xfrm>
            <a:off x="914400" y="3794760"/>
            <a:ext cx="274320" cy="274320"/>
          </a:xfrm>
          <a:prstGeom prst="rect">
            <a:avLst/>
          </a:prstGeom>
        </p:spPr>
      </p:pic>
      <p:sp>
        <p:nvSpPr>
          <p:cNvPr id="10" name="Text 6"/>
          <p:cNvSpPr/>
          <p:nvPr/>
        </p:nvSpPr>
        <p:spPr>
          <a:xfrm>
            <a:off x="1325880" y="3776472"/>
            <a:ext cx="4160520" cy="502920"/>
          </a:xfrm>
          <a:prstGeom prst="rect">
            <a:avLst/>
          </a:prstGeom>
          <a:noFill/>
          <a:ln/>
        </p:spPr>
        <p:txBody>
          <a:bodyPr wrap="square" lIns="0" tIns="0" rIns="0" bIns="0" rtlCol="0" anchor="ctr"/>
          <a:lstStyle/>
          <a:p>
            <a:pPr indent="0" marL="0">
              <a:buNone/>
            </a:pPr>
            <a:r>
              <a:rPr lang="en-US" sz="1250" dirty="0">
                <a:solidFill>
                  <a:srgbClr val="44454D"/>
                </a:solidFill>
                <a:latin typeface="Calibri" pitchFamily="34" charset="0"/>
                <a:ea typeface="Calibri" pitchFamily="34" charset="-122"/>
                <a:cs typeface="Calibri" pitchFamily="34" charset="-120"/>
              </a:rPr>
              <a:t>Expected result: terraform.tfstate appears in the bucket listing.</a:t>
            </a:r>
            <a:endParaRPr lang="en-US" sz="1250" dirty="0"/>
          </a:p>
        </p:txBody>
      </p:sp>
      <p:sp>
        <p:nvSpPr>
          <p:cNvPr id="11" name="Shape 7"/>
          <p:cNvSpPr/>
          <p:nvPr/>
        </p:nvSpPr>
        <p:spPr>
          <a:xfrm>
            <a:off x="914400" y="4480560"/>
            <a:ext cx="4526280" cy="0"/>
          </a:xfrm>
          <a:prstGeom prst="line">
            <a:avLst/>
          </a:prstGeom>
          <a:noFill/>
          <a:ln w="12700">
            <a:solidFill>
              <a:srgbClr val="E3DEF2"/>
            </a:solidFill>
            <a:prstDash val="solid"/>
          </a:ln>
        </p:spPr>
      </p:sp>
      <p:sp>
        <p:nvSpPr>
          <p:cNvPr id="12" name="Text 8"/>
          <p:cNvSpPr/>
          <p:nvPr/>
        </p:nvSpPr>
        <p:spPr>
          <a:xfrm>
            <a:off x="914400" y="4663440"/>
            <a:ext cx="4526280" cy="1005840"/>
          </a:xfrm>
          <a:prstGeom prst="rect">
            <a:avLst/>
          </a:prstGeom>
          <a:noFill/>
          <a:ln/>
        </p:spPr>
        <p:txBody>
          <a:bodyPr wrap="square" lIns="0" tIns="0" rIns="0" bIns="0" rtlCol="0" anchor="ctr"/>
          <a:lstStyle/>
          <a:p>
            <a:pPr indent="0" marL="0">
              <a:buNone/>
            </a:pPr>
            <a:r>
              <a:rPr lang="en-US" sz="1200" i="1" dirty="0">
                <a:solidFill>
                  <a:srgbClr val="44454D"/>
                </a:solidFill>
                <a:latin typeface="Calibri" pitchFamily="34" charset="0"/>
                <a:ea typeface="Calibri" pitchFamily="34" charset="-122"/>
                <a:cs typeface="Calibri" pitchFamily="34" charset="-120"/>
              </a:rPr>
              <a:t>This confirms Terraform successfully migrated state off your laptop and into shared, durable storage.</a:t>
            </a:r>
            <a:endParaRPr lang="en-US" sz="1200" dirty="0"/>
          </a:p>
        </p:txBody>
      </p:sp>
      <p:sp>
        <p:nvSpPr>
          <p:cNvPr id="13" name="Shape 9"/>
          <p:cNvSpPr/>
          <p:nvPr/>
        </p:nvSpPr>
        <p:spPr>
          <a:xfrm>
            <a:off x="6355080" y="1691640"/>
            <a:ext cx="5257800" cy="4160520"/>
          </a:xfrm>
          <a:prstGeom prst="roundRect">
            <a:avLst>
              <a:gd name="adj" fmla="val 2198"/>
            </a:avLst>
          </a:prstGeom>
          <a:solidFill>
            <a:srgbClr val="241748"/>
          </a:solidFill>
          <a:ln/>
          <a:effectLst>
            <a:outerShdw sx="100000" sy="100000" kx="0" ky="0" algn="bl" rotWithShape="0" blurRad="101600" dist="38100" dir="5400000">
              <a:srgbClr val="000000">
                <a:alpha val="12000"/>
              </a:srgbClr>
            </a:outerShdw>
          </a:effectLst>
        </p:spPr>
      </p:sp>
      <p:pic>
        <p:nvPicPr>
          <p:cNvPr id="14" name="Image 2" descr="lock_teal.png">    </p:cNvPr>
          <p:cNvPicPr>
            <a:picLocks noChangeAspect="1"/>
          </p:cNvPicPr>
          <p:nvPr/>
        </p:nvPicPr>
        <p:blipFill>
          <a:blip r:embed="rId3"/>
          <a:stretch>
            <a:fillRect/>
          </a:stretch>
        </p:blipFill>
        <p:spPr>
          <a:xfrm>
            <a:off x="6720840" y="2011680"/>
            <a:ext cx="411480" cy="411480"/>
          </a:xfrm>
          <a:prstGeom prst="rect">
            <a:avLst/>
          </a:prstGeom>
        </p:spPr>
      </p:pic>
      <p:sp>
        <p:nvSpPr>
          <p:cNvPr id="15" name="Text 10"/>
          <p:cNvSpPr/>
          <p:nvPr/>
        </p:nvSpPr>
        <p:spPr>
          <a:xfrm>
            <a:off x="7269480" y="2057400"/>
            <a:ext cx="406908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Check state locks in DynamoDB</a:t>
            </a:r>
            <a:endParaRPr lang="en-US" sz="1600" dirty="0"/>
          </a:p>
        </p:txBody>
      </p:sp>
      <p:sp>
        <p:nvSpPr>
          <p:cNvPr id="16" name="Shape 11"/>
          <p:cNvSpPr/>
          <p:nvPr/>
        </p:nvSpPr>
        <p:spPr>
          <a:xfrm>
            <a:off x="6720840" y="2743200"/>
            <a:ext cx="4526280" cy="822960"/>
          </a:xfrm>
          <a:prstGeom prst="roundRect">
            <a:avLst>
              <a:gd name="adj" fmla="val 6667"/>
            </a:avLst>
          </a:prstGeom>
          <a:solidFill>
            <a:srgbClr val="160F30"/>
          </a:solidFill>
          <a:ln/>
        </p:spPr>
      </p:sp>
      <p:sp>
        <p:nvSpPr>
          <p:cNvPr id="17" name="Text 12"/>
          <p:cNvSpPr/>
          <p:nvPr/>
        </p:nvSpPr>
        <p:spPr>
          <a:xfrm>
            <a:off x="6903720" y="2926080"/>
            <a:ext cx="4160520" cy="457200"/>
          </a:xfrm>
          <a:prstGeom prst="rect">
            <a:avLst/>
          </a:prstGeom>
          <a:noFill/>
          <a:ln/>
        </p:spPr>
        <p:txBody>
          <a:bodyPr wrap="square" lIns="0" tIns="0" rIns="0" bIns="0" rtlCol="0" anchor="ctr"/>
          <a:lstStyle/>
          <a:p>
            <a:pPr indent="0" marL="0">
              <a:buNone/>
            </a:pPr>
            <a:r>
              <a:rPr lang="en-US" sz="1150" dirty="0">
                <a:solidFill>
                  <a:srgbClr val="E6E1F7"/>
                </a:solidFill>
                <a:latin typeface="Consolas" pitchFamily="34" charset="0"/>
                <a:ea typeface="Consolas" pitchFamily="34" charset="-122"/>
                <a:cs typeface="Consolas" pitchFamily="34" charset="-120"/>
              </a:rPr>
              <a:t>$ aws dynamodb scan --table-name terraform-lock</a:t>
            </a:r>
            <a:endParaRPr lang="en-US" sz="1150" dirty="0"/>
          </a:p>
        </p:txBody>
      </p:sp>
      <p:pic>
        <p:nvPicPr>
          <p:cNvPr id="18" name="Image 3" descr="check_white.png">    </p:cNvPr>
          <p:cNvPicPr>
            <a:picLocks noChangeAspect="1"/>
          </p:cNvPicPr>
          <p:nvPr/>
        </p:nvPicPr>
        <p:blipFill>
          <a:blip r:embed="rId4"/>
          <a:stretch>
            <a:fillRect/>
          </a:stretch>
        </p:blipFill>
        <p:spPr>
          <a:xfrm>
            <a:off x="6720840" y="3794760"/>
            <a:ext cx="274320" cy="274320"/>
          </a:xfrm>
          <a:prstGeom prst="rect">
            <a:avLst/>
          </a:prstGeom>
        </p:spPr>
      </p:pic>
      <p:sp>
        <p:nvSpPr>
          <p:cNvPr id="19" name="Text 13"/>
          <p:cNvSpPr/>
          <p:nvPr/>
        </p:nvSpPr>
        <p:spPr>
          <a:xfrm>
            <a:off x="7132320" y="3776472"/>
            <a:ext cx="4160520" cy="502920"/>
          </a:xfrm>
          <a:prstGeom prst="rect">
            <a:avLst/>
          </a:prstGeom>
          <a:noFill/>
          <a:ln/>
        </p:spPr>
        <p:txBody>
          <a:bodyPr wrap="square" lIns="0" tIns="0" rIns="0" bIns="0" rtlCol="0" anchor="ctr"/>
          <a:lstStyle/>
          <a:p>
            <a:pPr indent="0" marL="0">
              <a:buNone/>
            </a:pPr>
            <a:r>
              <a:rPr lang="en-US" sz="1250" dirty="0">
                <a:solidFill>
                  <a:srgbClr val="CFC9E8"/>
                </a:solidFill>
                <a:latin typeface="Calibri" pitchFamily="34" charset="0"/>
                <a:ea typeface="Calibri" pitchFamily="34" charset="-122"/>
                <a:cs typeface="Calibri" pitchFamily="34" charset="-120"/>
              </a:rPr>
              <a:t>Expected result: shows an active lock item while an apply is running, empty otherwise.</a:t>
            </a:r>
            <a:endParaRPr lang="en-US" sz="1250" dirty="0"/>
          </a:p>
        </p:txBody>
      </p:sp>
      <p:sp>
        <p:nvSpPr>
          <p:cNvPr id="20" name="Shape 14"/>
          <p:cNvSpPr/>
          <p:nvPr/>
        </p:nvSpPr>
        <p:spPr>
          <a:xfrm>
            <a:off x="6720840" y="4480560"/>
            <a:ext cx="4526280" cy="0"/>
          </a:xfrm>
          <a:prstGeom prst="line">
            <a:avLst/>
          </a:prstGeom>
          <a:noFill/>
          <a:ln w="12700">
            <a:solidFill>
              <a:srgbClr val="4A3A7A"/>
            </a:solidFill>
            <a:prstDash val="solid"/>
          </a:ln>
        </p:spPr>
      </p:sp>
      <p:sp>
        <p:nvSpPr>
          <p:cNvPr id="21" name="Text 15"/>
          <p:cNvSpPr/>
          <p:nvPr/>
        </p:nvSpPr>
        <p:spPr>
          <a:xfrm>
            <a:off x="6720840" y="4663440"/>
            <a:ext cx="4526280" cy="1005840"/>
          </a:xfrm>
          <a:prstGeom prst="rect">
            <a:avLst/>
          </a:prstGeom>
          <a:noFill/>
          <a:ln/>
        </p:spPr>
        <p:txBody>
          <a:bodyPr wrap="square" lIns="0" tIns="0" rIns="0" bIns="0" rtlCol="0" anchor="ctr"/>
          <a:lstStyle/>
          <a:p>
            <a:pPr indent="0" marL="0">
              <a:buNone/>
            </a:pPr>
            <a:r>
              <a:rPr lang="en-US" sz="1200" i="1" dirty="0">
                <a:solidFill>
                  <a:srgbClr val="CFC9E8"/>
                </a:solidFill>
                <a:latin typeface="Calibri" pitchFamily="34" charset="0"/>
                <a:ea typeface="Calibri" pitchFamily="34" charset="-122"/>
                <a:cs typeface="Calibri" pitchFamily="34" charset="-120"/>
              </a:rPr>
              <a:t>If a second apply is attempted while a lock is held, Terraform will refuse to proceed and report who holds the lock.</a:t>
            </a:r>
            <a:endParaRPr lang="en-US" sz="1200" dirty="0"/>
          </a:p>
        </p:txBody>
      </p:sp>
      <p:sp>
        <p:nvSpPr>
          <p:cNvPr id="22" name="Text 16"/>
          <p:cNvSpPr/>
          <p:nvPr/>
        </p:nvSpPr>
        <p:spPr>
          <a:xfrm>
            <a:off x="457200" y="6446520"/>
            <a:ext cx="5486400" cy="274320"/>
          </a:xfrm>
          <a:prstGeom prst="rect">
            <a:avLst/>
          </a:prstGeom>
          <a:noFill/>
          <a:ln/>
        </p:spPr>
        <p:txBody>
          <a:bodyPr wrap="square" lIns="0" tIns="0" rIns="0" bIns="0" rtlCol="0" anchor="ctr"/>
          <a:lstStyle/>
          <a:p>
            <a:pPr algn="l" indent="0" marL="0">
              <a:buNone/>
            </a:pPr>
            <a:r>
              <a:rPr lang="en-US" sz="1000" dirty="0">
                <a:solidFill>
                  <a:srgbClr val="9A93B5"/>
                </a:solidFill>
                <a:latin typeface="Calibri" pitchFamily="34" charset="0"/>
                <a:ea typeface="Calibri" pitchFamily="34" charset="-122"/>
                <a:cs typeface="Calibri" pitchFamily="34" charset="-120"/>
              </a:rPr>
              <a:t>Terraform State Management</a:t>
            </a:r>
            <a:endParaRPr lang="en-US" sz="1000" dirty="0"/>
          </a:p>
        </p:txBody>
      </p:sp>
      <p:sp>
        <p:nvSpPr>
          <p:cNvPr id="23" name="Text 1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A93B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41748"/>
        </a:solidFill>
      </p:bgPr>
    </p:bg>
    <p:spTree>
      <p:nvGrpSpPr>
        <p:cNvPr id="1" name=""/>
        <p:cNvGrpSpPr/>
        <p:nvPr/>
      </p:nvGrpSpPr>
      <p:grpSpPr>
        <a:xfrm>
          <a:off x="0" y="0"/>
          <a:ext cx="0" cy="0"/>
          <a:chOff x="0" y="0"/>
          <a:chExt cx="0" cy="0"/>
        </a:xfrm>
      </p:grpSpPr>
      <p:sp>
        <p:nvSpPr>
          <p:cNvPr id="2" name="Shape 0"/>
          <p:cNvSpPr/>
          <p:nvPr/>
        </p:nvSpPr>
        <p:spPr>
          <a:xfrm>
            <a:off x="-914400" y="4206240"/>
            <a:ext cx="5486400" cy="5486400"/>
          </a:xfrm>
          <a:prstGeom prst="roundRect">
            <a:avLst>
              <a:gd name="adj" fmla="val 50000"/>
            </a:avLst>
          </a:prstGeom>
          <a:solidFill>
            <a:srgbClr val="3B2667">
              <a:alpha val="45000"/>
            </a:srgbClr>
          </a:solidFill>
          <a:ln/>
        </p:spPr>
      </p:sp>
      <p:sp>
        <p:nvSpPr>
          <p:cNvPr id="3" name="Text 1"/>
          <p:cNvSpPr/>
          <p:nvPr/>
        </p:nvSpPr>
        <p:spPr>
          <a:xfrm>
            <a:off x="731520" y="640080"/>
            <a:ext cx="7315200" cy="365760"/>
          </a:xfrm>
          <a:prstGeom prst="rect">
            <a:avLst/>
          </a:prstGeom>
          <a:noFill/>
          <a:ln/>
        </p:spPr>
        <p:txBody>
          <a:bodyPr wrap="square" lIns="0" tIns="0" rIns="0" bIns="0" rtlCol="0" anchor="ctr"/>
          <a:lstStyle/>
          <a:p>
            <a:pPr indent="0" marL="0">
              <a:buNone/>
            </a:pPr>
            <a:r>
              <a:rPr lang="en-US" sz="1400" b="1" spc="200" kern="0" dirty="0">
                <a:solidFill>
                  <a:srgbClr val="00BFA5"/>
                </a:solidFill>
                <a:latin typeface="Calibri" pitchFamily="34" charset="0"/>
                <a:ea typeface="Calibri" pitchFamily="34" charset="-122"/>
                <a:cs typeface="Calibri" pitchFamily="34" charset="-120"/>
              </a:rPr>
              <a:t>CHAPTER 4 SUMMARY</a:t>
            </a:r>
            <a:endParaRPr lang="en-US" sz="1400" dirty="0"/>
          </a:p>
        </p:txBody>
      </p:sp>
      <p:sp>
        <p:nvSpPr>
          <p:cNvPr id="4" name="Text 2"/>
          <p:cNvSpPr/>
          <p:nvPr/>
        </p:nvSpPr>
        <p:spPr>
          <a:xfrm>
            <a:off x="731520" y="1051560"/>
            <a:ext cx="8229600" cy="128016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From local files to a locked,</a:t>
            </a:r>
            <a:endParaRPr lang="en-US" sz="3000" dirty="0"/>
          </a:p>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shared source of truth</a:t>
            </a:r>
            <a:endParaRPr lang="en-US" sz="3000" dirty="0"/>
          </a:p>
        </p:txBody>
      </p:sp>
      <p:pic>
        <p:nvPicPr>
          <p:cNvPr id="5" name="Image 0" descr="file_white.png">    </p:cNvPr>
          <p:cNvPicPr>
            <a:picLocks noChangeAspect="1"/>
          </p:cNvPicPr>
          <p:nvPr/>
        </p:nvPicPr>
        <p:blipFill>
          <a:blip r:embed="rId1"/>
          <a:stretch>
            <a:fillRect/>
          </a:stretch>
        </p:blipFill>
        <p:spPr>
          <a:xfrm>
            <a:off x="777240" y="2606040"/>
            <a:ext cx="347472" cy="347472"/>
          </a:xfrm>
          <a:prstGeom prst="rect">
            <a:avLst/>
          </a:prstGeom>
        </p:spPr>
      </p:pic>
      <p:sp>
        <p:nvSpPr>
          <p:cNvPr id="6" name="Text 3"/>
          <p:cNvSpPr/>
          <p:nvPr/>
        </p:nvSpPr>
        <p:spPr>
          <a:xfrm>
            <a:off x="1325880" y="2560320"/>
            <a:ext cx="6035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Terraform state &amp; why it's needed</a:t>
            </a:r>
            <a:endParaRPr lang="en-US" sz="1500" dirty="0"/>
          </a:p>
        </p:txBody>
      </p:sp>
      <p:sp>
        <p:nvSpPr>
          <p:cNvPr id="7" name="Text 4"/>
          <p:cNvSpPr/>
          <p:nvPr/>
        </p:nvSpPr>
        <p:spPr>
          <a:xfrm>
            <a:off x="1325880" y="2926080"/>
            <a:ext cx="6035040" cy="457200"/>
          </a:xfrm>
          <a:prstGeom prst="rect">
            <a:avLst/>
          </a:prstGeom>
          <a:noFill/>
          <a:ln/>
        </p:spPr>
        <p:txBody>
          <a:bodyPr wrap="square" lIns="0" tIns="0" rIns="0" bIns="0" rtlCol="0" anchor="ctr"/>
          <a:lstStyle/>
          <a:p>
            <a:pPr indent="0" marL="0">
              <a:buNone/>
            </a:pPr>
            <a:r>
              <a:rPr lang="en-US" sz="1150" dirty="0">
                <a:solidFill>
                  <a:srgbClr val="B7AEDD"/>
                </a:solidFill>
                <a:latin typeface="Calibri" pitchFamily="34" charset="0"/>
                <a:ea typeface="Calibri" pitchFamily="34" charset="-122"/>
                <a:cs typeface="Calibri" pitchFamily="34" charset="-120"/>
              </a:rPr>
              <a:t>Maps config to real resources, tracks dependencies, and caches attributes.</a:t>
            </a:r>
            <a:endParaRPr lang="en-US" sz="1150" dirty="0"/>
          </a:p>
        </p:txBody>
      </p:sp>
      <p:pic>
        <p:nvPicPr>
          <p:cNvPr id="8" name="Image 1" descr="cloud_white.png">    </p:cNvPr>
          <p:cNvPicPr>
            <a:picLocks noChangeAspect="1"/>
          </p:cNvPicPr>
          <p:nvPr/>
        </p:nvPicPr>
        <p:blipFill>
          <a:blip r:embed="rId2"/>
          <a:stretch>
            <a:fillRect/>
          </a:stretch>
        </p:blipFill>
        <p:spPr>
          <a:xfrm>
            <a:off x="777240" y="3474720"/>
            <a:ext cx="347472" cy="347472"/>
          </a:xfrm>
          <a:prstGeom prst="rect">
            <a:avLst/>
          </a:prstGeom>
        </p:spPr>
      </p:pic>
      <p:sp>
        <p:nvSpPr>
          <p:cNvPr id="9" name="Text 5"/>
          <p:cNvSpPr/>
          <p:nvPr/>
        </p:nvSpPr>
        <p:spPr>
          <a:xfrm>
            <a:off x="1325880" y="3429000"/>
            <a:ext cx="6035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Local vs. remote state</a:t>
            </a:r>
            <a:endParaRPr lang="en-US" sz="1500" dirty="0"/>
          </a:p>
        </p:txBody>
      </p:sp>
      <p:sp>
        <p:nvSpPr>
          <p:cNvPr id="10" name="Text 6"/>
          <p:cNvSpPr/>
          <p:nvPr/>
        </p:nvSpPr>
        <p:spPr>
          <a:xfrm>
            <a:off x="1325880" y="3794760"/>
            <a:ext cx="6035040" cy="457200"/>
          </a:xfrm>
          <a:prstGeom prst="rect">
            <a:avLst/>
          </a:prstGeom>
          <a:noFill/>
          <a:ln/>
        </p:spPr>
        <p:txBody>
          <a:bodyPr wrap="square" lIns="0" tIns="0" rIns="0" bIns="0" rtlCol="0" anchor="ctr"/>
          <a:lstStyle/>
          <a:p>
            <a:pPr indent="0" marL="0">
              <a:buNone/>
            </a:pPr>
            <a:r>
              <a:rPr lang="en-US" sz="1150" dirty="0">
                <a:solidFill>
                  <a:srgbClr val="B7AEDD"/>
                </a:solidFill>
                <a:latin typeface="Calibri" pitchFamily="34" charset="0"/>
                <a:ea typeface="Calibri" pitchFamily="34" charset="-122"/>
                <a:cs typeface="Calibri" pitchFamily="34" charset="-120"/>
              </a:rPr>
              <a:t>Local is simple but unsafe for teams; remote backends like S3 enable collaboration.</a:t>
            </a:r>
            <a:endParaRPr lang="en-US" sz="1150" dirty="0"/>
          </a:p>
        </p:txBody>
      </p:sp>
      <p:pic>
        <p:nvPicPr>
          <p:cNvPr id="11" name="Image 2" descr="lock_white.png">    </p:cNvPr>
          <p:cNvPicPr>
            <a:picLocks noChangeAspect="1"/>
          </p:cNvPicPr>
          <p:nvPr/>
        </p:nvPicPr>
        <p:blipFill>
          <a:blip r:embed="rId3"/>
          <a:stretch>
            <a:fillRect/>
          </a:stretch>
        </p:blipFill>
        <p:spPr>
          <a:xfrm>
            <a:off x="777240" y="4343400"/>
            <a:ext cx="347472" cy="347472"/>
          </a:xfrm>
          <a:prstGeom prst="rect">
            <a:avLst/>
          </a:prstGeom>
        </p:spPr>
      </p:pic>
      <p:sp>
        <p:nvSpPr>
          <p:cNvPr id="12" name="Text 7"/>
          <p:cNvSpPr/>
          <p:nvPr/>
        </p:nvSpPr>
        <p:spPr>
          <a:xfrm>
            <a:off x="1325880" y="4297680"/>
            <a:ext cx="6035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State locking with DynamoDB</a:t>
            </a:r>
            <a:endParaRPr lang="en-US" sz="1500" dirty="0"/>
          </a:p>
        </p:txBody>
      </p:sp>
      <p:sp>
        <p:nvSpPr>
          <p:cNvPr id="13" name="Text 8"/>
          <p:cNvSpPr/>
          <p:nvPr/>
        </p:nvSpPr>
        <p:spPr>
          <a:xfrm>
            <a:off x="1325880" y="4663440"/>
            <a:ext cx="6035040" cy="457200"/>
          </a:xfrm>
          <a:prstGeom prst="rect">
            <a:avLst/>
          </a:prstGeom>
          <a:noFill/>
          <a:ln/>
        </p:spPr>
        <p:txBody>
          <a:bodyPr wrap="square" lIns="0" tIns="0" rIns="0" bIns="0" rtlCol="0" anchor="ctr"/>
          <a:lstStyle/>
          <a:p>
            <a:pPr indent="0" marL="0">
              <a:buNone/>
            </a:pPr>
            <a:r>
              <a:rPr lang="en-US" sz="1150" dirty="0">
                <a:solidFill>
                  <a:srgbClr val="B7AEDD"/>
                </a:solidFill>
                <a:latin typeface="Calibri" pitchFamily="34" charset="0"/>
                <a:ea typeface="Calibri" pitchFamily="34" charset="-122"/>
                <a:cs typeface="Calibri" pitchFamily="34" charset="-120"/>
              </a:rPr>
              <a:t>Prevents two people from applying at once and corrupting shared state.</a:t>
            </a:r>
            <a:endParaRPr lang="en-US" sz="1150" dirty="0"/>
          </a:p>
        </p:txBody>
      </p:sp>
      <p:pic>
        <p:nvPicPr>
          <p:cNvPr id="14" name="Image 3" descr="database_white.png">    </p:cNvPr>
          <p:cNvPicPr>
            <a:picLocks noChangeAspect="1"/>
          </p:cNvPicPr>
          <p:nvPr/>
        </p:nvPicPr>
        <p:blipFill>
          <a:blip r:embed="rId4"/>
          <a:stretch>
            <a:fillRect/>
          </a:stretch>
        </p:blipFill>
        <p:spPr>
          <a:xfrm>
            <a:off x="777240" y="5212080"/>
            <a:ext cx="347472" cy="347472"/>
          </a:xfrm>
          <a:prstGeom prst="rect">
            <a:avLst/>
          </a:prstGeom>
        </p:spPr>
      </p:pic>
      <p:sp>
        <p:nvSpPr>
          <p:cNvPr id="15" name="Text 9"/>
          <p:cNvSpPr/>
          <p:nvPr/>
        </p:nvSpPr>
        <p:spPr>
          <a:xfrm>
            <a:off x="1325880" y="5166360"/>
            <a:ext cx="6035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Stored Terraform state in S3</a:t>
            </a:r>
            <a:endParaRPr lang="en-US" sz="1500" dirty="0"/>
          </a:p>
        </p:txBody>
      </p:sp>
      <p:sp>
        <p:nvSpPr>
          <p:cNvPr id="16" name="Text 10"/>
          <p:cNvSpPr/>
          <p:nvPr/>
        </p:nvSpPr>
        <p:spPr>
          <a:xfrm>
            <a:off x="1325880" y="5532120"/>
            <a:ext cx="6035040" cy="457200"/>
          </a:xfrm>
          <a:prstGeom prst="rect">
            <a:avLst/>
          </a:prstGeom>
          <a:noFill/>
          <a:ln/>
        </p:spPr>
        <p:txBody>
          <a:bodyPr wrap="square" lIns="0" tIns="0" rIns="0" bIns="0" rtlCol="0" anchor="ctr"/>
          <a:lstStyle/>
          <a:p>
            <a:pPr indent="0" marL="0">
              <a:buNone/>
            </a:pPr>
            <a:r>
              <a:rPr lang="en-US" sz="1150" dirty="0">
                <a:solidFill>
                  <a:srgbClr val="B7AEDD"/>
                </a:solidFill>
                <a:latin typeface="Calibri" pitchFamily="34" charset="0"/>
                <a:ea typeface="Calibri" pitchFamily="34" charset="-122"/>
                <a:cs typeface="Calibri" pitchFamily="34" charset="-120"/>
              </a:rPr>
              <a:t>Versioned, encrypted, and locked — a durable source of truth for the whole team.</a:t>
            </a:r>
            <a:endParaRPr lang="en-US" sz="1150" dirty="0"/>
          </a:p>
        </p:txBody>
      </p:sp>
      <p:sp>
        <p:nvSpPr>
          <p:cNvPr id="17" name="Text 11"/>
          <p:cNvSpPr/>
          <p:nvPr/>
        </p:nvSpPr>
        <p:spPr>
          <a:xfrm>
            <a:off x="457200" y="6446520"/>
            <a:ext cx="5486400" cy="274320"/>
          </a:xfrm>
          <a:prstGeom prst="rect">
            <a:avLst/>
          </a:prstGeom>
          <a:noFill/>
          <a:ln/>
        </p:spPr>
        <p:txBody>
          <a:bodyPr wrap="square" lIns="0" tIns="0" rIns="0" bIns="0" rtlCol="0" anchor="ctr"/>
          <a:lstStyle/>
          <a:p>
            <a:pPr algn="l" indent="0" marL="0">
              <a:buNone/>
            </a:pPr>
            <a:r>
              <a:rPr lang="en-US" sz="1000" dirty="0">
                <a:solidFill>
                  <a:srgbClr val="9A93B5"/>
                </a:solidFill>
                <a:latin typeface="Calibri" pitchFamily="34" charset="0"/>
                <a:ea typeface="Calibri" pitchFamily="34" charset="-122"/>
                <a:cs typeface="Calibri" pitchFamily="34" charset="-120"/>
              </a:rPr>
              <a:t>Terraform State Management</a:t>
            </a:r>
            <a:endParaRPr lang="en-US" sz="1000" dirty="0"/>
          </a:p>
        </p:txBody>
      </p:sp>
      <p:sp>
        <p:nvSpPr>
          <p:cNvPr id="18" name="Text 12"/>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A93B5"/>
                </a:solidFill>
                <a:latin typeface="Calibri" pitchFamily="34" charset="0"/>
                <a:ea typeface="Calibri" pitchFamily="34" charset="-122"/>
                <a:cs typeface="Calibri" pitchFamily="34" charset="-120"/>
              </a:rPr>
              <a:t>10</a:t>
            </a:r>
            <a:endParaRPr lang="en-US" sz="1000" dirty="0"/>
          </a:p>
        </p:txBody>
      </p:sp>
      <p:sp>
        <p:nvSpPr>
          <p:cNvPr id="19" name="Text 13"/>
          <p:cNvSpPr/>
          <p:nvPr/>
        </p:nvSpPr>
        <p:spPr>
          <a:xfrm>
            <a:off x="7863840" y="6035040"/>
            <a:ext cx="3657600" cy="365760"/>
          </a:xfrm>
          <a:prstGeom prst="rect">
            <a:avLst/>
          </a:prstGeom>
          <a:noFill/>
          <a:ln/>
        </p:spPr>
        <p:txBody>
          <a:bodyPr wrap="square" lIns="0" tIns="0" rIns="0" bIns="0" rtlCol="0" anchor="ctr"/>
          <a:lstStyle/>
          <a:p>
            <a:pPr algn="r" indent="0" marL="0">
              <a:buNone/>
            </a:pPr>
            <a:r>
              <a:rPr lang="en-US" sz="1100" dirty="0">
                <a:solidFill>
                  <a:srgbClr val="8A81AE"/>
                </a:solidFill>
                <a:latin typeface="Calibri" pitchFamily="34" charset="0"/>
                <a:ea typeface="Calibri" pitchFamily="34" charset="-122"/>
                <a:cs typeface="Calibri" pitchFamily="34" charset="-120"/>
              </a:rPr>
              <a:t>9-slide chapter complete — up next: Chapter 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Terraform State Management</dc:title>
  <dc:subject>PptxGenJS Presentation</dc:subject>
  <dc:creator>Terraform Training</dc:creator>
  <cp:lastModifiedBy>Terraform Training</cp:lastModifiedBy>
  <cp:revision>1</cp:revision>
  <dcterms:created xsi:type="dcterms:W3CDTF">2026-07-07T09:52:37Z</dcterms:created>
  <dcterms:modified xsi:type="dcterms:W3CDTF">2026-07-07T09:52:37Z</dcterms:modified>
</cp:coreProperties>
</file>