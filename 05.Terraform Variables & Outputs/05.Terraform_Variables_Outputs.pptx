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to Chapter 5. Frame the chapter: after covering Terraform basics and state management, this chapter is about making configurations dynamic instead of hard-coded — using variables for input and outputs for returning information after a deployment. Mention we'll also cover keeping secrets like passwords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agenda items quickly. Tell the audience the chapter builds toward a hands-on example: provisioning a VPC with a dynamic CIDR block, which ties variables and outputs together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type by type — most learners already know string/number/boolean from other languages, so spend more time on list, map, object, and tuple since those are the ones people confuse. Emphasize that Terraform validates the type at plan time, catching mistakes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variables.tf file. Point out the three-part anatomy of a variable block: description (for humans), type (for validation), and an optional default. Explain that if you omit default, Terraform will prompt for the value or require it via -var or a tfvars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var.instance_type and var.instance_tags flow straight into the resource block. Then demonstrate the -var flag on the command line — useful for one-off overrides without editing any files. Mention this takes precedence over the default in variables.tf.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the two situations side by side: variables with a default are optional to pass in, while variables without one force Terraform to prompt or fail until you supply a value. Show terraform.tfvars as the recommended way to store overrides instead of typing long -var flags repeatedly.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outputs as the mirror of variables: variables feed data in, outputs surface data out. A classic use case is grabbing a public IP address to SSH into right after apply. Show 'terraform output' as the CLI command to list them, and mention outputs are essential for connecting modules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the risk first: Terraform normally echoes every variable value into logs and console output, which is dangerous for passwords or API keys. Show the sensitive = true flag on both a variable and an output. Note that this masks values in CLI output but does NOT encrypt them in the state file — that's a separate concern (remote state + encryption, covered in state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the capstone example. Step 1: two variables — vpc_cidr with no default (must be supplied) and environment with a default of 'staging'. Step 2: the VPC resource consumes var.vpc_cidr for the CIDR block and uses string interpolation to build a name tag like MyVPC-staging. Point out the interpolation syntax ${var.environment} inside the string.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3-5: define the vpc_id output, then run terraform init and apply, passing the CIDR range with -var and auto-approving so it doesn't pause for confirmation. Finally run 'terraform output vpc_id' to retrieve just that one value — useful for scripting. Reinforce that nothing about the CIDR range was hard-coded in main.tf.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recapping the four pillars: variable types, input variables with defaults/overrides, output variables, and sensitive data handling. Remind the audience the next chapter builds on this with modules, reusing these same variable and output patterns across multiple configurations.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1A4A"/>
        </a:solidFill>
      </p:bgPr>
    </p:bg>
    <p:spTree>
      <p:nvGrpSpPr>
        <p:cNvPr id="1" name=""/>
        <p:cNvGrpSpPr/>
        <p:nvPr/>
      </p:nvGrpSpPr>
      <p:grpSpPr>
        <a:xfrm>
          <a:off x="0" y="0"/>
          <a:ext cx="0" cy="0"/>
          <a:chOff x="0" y="0"/>
          <a:chExt cx="0" cy="0"/>
        </a:xfrm>
      </p:grpSpPr>
      <p:sp>
        <p:nvSpPr>
          <p:cNvPr id="2" name="Shape 0"/>
          <p:cNvSpPr/>
          <p:nvPr/>
        </p:nvSpPr>
        <p:spPr>
          <a:xfrm>
            <a:off x="6035040" y="-1463040"/>
            <a:ext cx="5029200" cy="5029200"/>
          </a:xfrm>
          <a:prstGeom prst="ellipse">
            <a:avLst/>
          </a:prstGeom>
          <a:solidFill>
            <a:srgbClr val="6C41B8">
              <a:alpha val="45000"/>
            </a:srgbClr>
          </a:solidFill>
          <a:ln/>
        </p:spPr>
      </p:sp>
      <p:sp>
        <p:nvSpPr>
          <p:cNvPr id="3" name="Shape 1"/>
          <p:cNvSpPr/>
          <p:nvPr/>
        </p:nvSpPr>
        <p:spPr>
          <a:xfrm>
            <a:off x="-1645920" y="3108960"/>
            <a:ext cx="3840480" cy="3840480"/>
          </a:xfrm>
          <a:prstGeom prst="ellipse">
            <a:avLst/>
          </a:prstGeom>
          <a:solidFill>
            <a:srgbClr val="6C41B8">
              <a:alpha val="35000"/>
            </a:srgbClr>
          </a:solidFill>
          <a:ln/>
        </p:spPr>
      </p:sp>
      <p:sp>
        <p:nvSpPr>
          <p:cNvPr id="4" name="Text 2"/>
          <p:cNvSpPr/>
          <p:nvPr/>
        </p:nvSpPr>
        <p:spPr>
          <a:xfrm>
            <a:off x="640080" y="1417320"/>
            <a:ext cx="3657600" cy="365760"/>
          </a:xfrm>
          <a:prstGeom prst="rect">
            <a:avLst/>
          </a:prstGeom>
          <a:noFill/>
          <a:ln/>
        </p:spPr>
        <p:txBody>
          <a:bodyPr wrap="square" lIns="0" tIns="0" rIns="0" bIns="0" rtlCol="0" anchor="ctr"/>
          <a:lstStyle/>
          <a:p>
            <a:pPr indent="0" marL="0">
              <a:buNone/>
            </a:pPr>
            <a:r>
              <a:rPr lang="en-US" sz="1300" b="1" spc="300" kern="0" dirty="0">
                <a:solidFill>
                  <a:srgbClr val="F0A430"/>
                </a:solidFill>
                <a:latin typeface="Calibri" pitchFamily="34" charset="0"/>
                <a:ea typeface="Calibri" pitchFamily="34" charset="-122"/>
                <a:cs typeface="Calibri" pitchFamily="34" charset="-120"/>
              </a:rPr>
              <a:t>CHAPTER 5</a:t>
            </a:r>
            <a:endParaRPr lang="en-US" sz="1300" dirty="0"/>
          </a:p>
        </p:txBody>
      </p:sp>
      <p:sp>
        <p:nvSpPr>
          <p:cNvPr id="5" name="Text 3"/>
          <p:cNvSpPr/>
          <p:nvPr/>
        </p:nvSpPr>
        <p:spPr>
          <a:xfrm>
            <a:off x="640080" y="1783080"/>
            <a:ext cx="7498080" cy="1737360"/>
          </a:xfrm>
          <a:prstGeom prst="rect">
            <a:avLst/>
          </a:prstGeom>
          <a:noFill/>
          <a:ln/>
        </p:spPr>
        <p:txBody>
          <a:bodyPr wrap="square" lIns="0" tIns="0" rIns="0" bIns="0" rtlCol="0" anchor="ctr"/>
          <a:lstStyle/>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Terraform Variables</a:t>
            </a:r>
            <a:endParaRPr lang="en-US" sz="4200" dirty="0"/>
          </a:p>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&amp; Outputs</a:t>
            </a:r>
            <a:endParaRPr lang="en-US" sz="4200" dirty="0"/>
          </a:p>
        </p:txBody>
      </p:sp>
      <p:sp>
        <p:nvSpPr>
          <p:cNvPr id="6" name="Text 4"/>
          <p:cNvSpPr/>
          <p:nvPr/>
        </p:nvSpPr>
        <p:spPr>
          <a:xfrm>
            <a:off x="640080" y="3429000"/>
            <a:ext cx="6583680" cy="548640"/>
          </a:xfrm>
          <a:prstGeom prst="rect">
            <a:avLst/>
          </a:prstGeom>
          <a:noFill/>
          <a:ln/>
        </p:spPr>
        <p:txBody>
          <a:bodyPr wrap="square" lIns="0" tIns="0" rIns="0" bIns="0" rtlCol="0" anchor="ctr"/>
          <a:lstStyle/>
          <a:p>
            <a:pPr indent="0" marL="0">
              <a:buNone/>
            </a:pPr>
            <a:r>
              <a:rPr lang="en-US" sz="1600" i="1" dirty="0">
                <a:solidFill>
                  <a:srgbClr val="C9BEEA"/>
                </a:solidFill>
                <a:latin typeface="Calibri" pitchFamily="34" charset="0"/>
                <a:ea typeface="Calibri" pitchFamily="34" charset="-122"/>
                <a:cs typeface="Calibri" pitchFamily="34" charset="-120"/>
              </a:rPr>
              <a:t>Making your infrastructure code dynamic, reusable, and safe to share</a:t>
            </a:r>
            <a:endParaRPr lang="en-US" sz="1600" dirty="0"/>
          </a:p>
        </p:txBody>
      </p:sp>
      <p:sp>
        <p:nvSpPr>
          <p:cNvPr id="7" name="Shape 5"/>
          <p:cNvSpPr/>
          <p:nvPr/>
        </p:nvSpPr>
        <p:spPr>
          <a:xfrm>
            <a:off x="640080" y="4160520"/>
            <a:ext cx="457200" cy="457200"/>
          </a:xfrm>
          <a:prstGeom prst="ellipse">
            <a:avLst/>
          </a:prstGeom>
          <a:solidFill>
            <a:srgbClr val="6C41B8"/>
          </a:solidFill>
          <a:ln/>
        </p:spPr>
      </p:sp>
      <p:pic>
        <p:nvPicPr>
          <p:cNvPr id="8" name="Image 0" descr="preencoded.png">    </p:cNvPr>
          <p:cNvPicPr>
            <a:picLocks noChangeAspect="1"/>
          </p:cNvPicPr>
          <p:nvPr/>
        </p:nvPicPr>
        <p:blipFill>
          <a:blip r:embed="rId1"/>
          <a:stretch>
            <a:fillRect/>
          </a:stretch>
        </p:blipFill>
        <p:spPr>
          <a:xfrm>
            <a:off x="763524" y="4283964"/>
            <a:ext cx="210312" cy="210312"/>
          </a:xfrm>
          <a:prstGeom prst="rect">
            <a:avLst/>
          </a:prstGeom>
        </p:spPr>
      </p:pic>
      <p:sp>
        <p:nvSpPr>
          <p:cNvPr id="9" name="Text 6"/>
          <p:cNvSpPr/>
          <p:nvPr/>
        </p:nvSpPr>
        <p:spPr>
          <a:xfrm>
            <a:off x="1234440" y="4160520"/>
            <a:ext cx="6400800" cy="457200"/>
          </a:xfrm>
          <a:prstGeom prst="rect">
            <a:avLst/>
          </a:prstGeom>
          <a:noFill/>
          <a:ln/>
        </p:spPr>
        <p:txBody>
          <a:bodyPr wrap="square" lIns="0" tIns="0" rIns="0" bIns="0" rtlCol="0" anchor="ctr"/>
          <a:lstStyle/>
          <a:p>
            <a:pPr indent="0" marL="0">
              <a:buNone/>
            </a:pPr>
            <a:r>
              <a:rPr lang="en-US" sz="1300" dirty="0">
                <a:solidFill>
                  <a:srgbClr val="E4E1F0"/>
                </a:solidFill>
                <a:latin typeface="Calibri" pitchFamily="34" charset="0"/>
                <a:ea typeface="Calibri" pitchFamily="34" charset="-122"/>
                <a:cs typeface="Calibri" pitchFamily="34" charset="-120"/>
              </a:rPr>
              <a:t>Input variables  •  Output values  •  Sensitive data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lIns="0" tIns="0" rIns="0" bIns="0" rtlCol="0" anchor="ctr"/>
          <a:lstStyle/>
          <a:p>
            <a:pPr indent="0" marL="0">
              <a:buNone/>
            </a:pPr>
            <a:r>
              <a:rPr lang="en-US" sz="3000" b="1" dirty="0">
                <a:solidFill>
                  <a:srgbClr val="241C33"/>
                </a:solidFill>
                <a:latin typeface="Cambria" pitchFamily="34" charset="0"/>
                <a:ea typeface="Cambria" pitchFamily="34" charset="-122"/>
                <a:cs typeface="Cambria" pitchFamily="34" charset="-120"/>
              </a:rPr>
              <a:t>What We'll Cover</a:t>
            </a:r>
            <a:endParaRPr lang="en-US" sz="3000" dirty="0"/>
          </a:p>
        </p:txBody>
      </p:sp>
      <p:sp>
        <p:nvSpPr>
          <p:cNvPr id="3" name="Text 1"/>
          <p:cNvSpPr/>
          <p:nvPr/>
        </p:nvSpPr>
        <p:spPr>
          <a:xfrm>
            <a:off x="548640" y="932688"/>
            <a:ext cx="7315200" cy="365760"/>
          </a:xfrm>
          <a:prstGeom prst="rect">
            <a:avLst/>
          </a:prstGeom>
          <a:noFill/>
          <a:ln/>
        </p:spPr>
        <p:txBody>
          <a:bodyPr wrap="square" lIns="0" tIns="0" rIns="0" bIns="0" rtlCol="0" anchor="ctr"/>
          <a:lstStyle/>
          <a:p>
            <a:pPr indent="0" marL="0">
              <a:buNone/>
            </a:pPr>
            <a:r>
              <a:rPr lang="en-US" sz="1400" dirty="0">
                <a:solidFill>
                  <a:srgbClr val="6B6480"/>
                </a:solidFill>
                <a:latin typeface="Calibri" pitchFamily="34" charset="0"/>
                <a:ea typeface="Calibri" pitchFamily="34" charset="-122"/>
                <a:cs typeface="Calibri" pitchFamily="34" charset="-120"/>
              </a:rPr>
              <a:t>Four building blocks for flexible, secure Terraform configurations</a:t>
            </a:r>
            <a:endParaRPr lang="en-US" sz="1400" dirty="0"/>
          </a:p>
        </p:txBody>
      </p:sp>
      <p:sp>
        <p:nvSpPr>
          <p:cNvPr id="4" name="Shape 2"/>
          <p:cNvSpPr/>
          <p:nvPr/>
        </p:nvSpPr>
        <p:spPr>
          <a:xfrm>
            <a:off x="548640" y="1554480"/>
            <a:ext cx="8046720" cy="896112"/>
          </a:xfrm>
          <a:prstGeom prst="roundRect">
            <a:avLst>
              <a:gd name="adj" fmla="val 8163"/>
            </a:avLst>
          </a:prstGeom>
          <a:solidFill>
            <a:srgbClr val="EDE7FA"/>
          </a:solidFill>
          <a:ln/>
          <a:effectLst>
            <a:outerShdw sx="100000" sy="100000" kx="0" ky="0" algn="bl" rotWithShape="0" blurRad="101600" dist="38100" dir="2700000">
              <a:srgbClr val="000000">
                <a:alpha val="12000"/>
              </a:srgbClr>
            </a:outerShdw>
          </a:effectLst>
        </p:spPr>
      </p:sp>
      <p:sp>
        <p:nvSpPr>
          <p:cNvPr id="5" name="Shape 3"/>
          <p:cNvSpPr/>
          <p:nvPr/>
        </p:nvSpPr>
        <p:spPr>
          <a:xfrm>
            <a:off x="822960" y="1737360"/>
            <a:ext cx="530352" cy="530352"/>
          </a:xfrm>
          <a:prstGeom prst="ellipse">
            <a:avLst/>
          </a:prstGeom>
          <a:solidFill>
            <a:srgbClr val="4C2A85"/>
          </a:solidFill>
          <a:ln/>
        </p:spPr>
      </p:sp>
      <p:pic>
        <p:nvPicPr>
          <p:cNvPr id="6" name="Image 0" descr="preencoded.png">    </p:cNvPr>
          <p:cNvPicPr>
            <a:picLocks noChangeAspect="1"/>
          </p:cNvPicPr>
          <p:nvPr/>
        </p:nvPicPr>
        <p:blipFill>
          <a:blip r:embed="rId1"/>
          <a:stretch>
            <a:fillRect/>
          </a:stretch>
        </p:blipFill>
        <p:spPr>
          <a:xfrm>
            <a:off x="966155" y="1880555"/>
            <a:ext cx="243962" cy="243962"/>
          </a:xfrm>
          <a:prstGeom prst="rect">
            <a:avLst/>
          </a:prstGeom>
        </p:spPr>
      </p:pic>
      <p:sp>
        <p:nvSpPr>
          <p:cNvPr id="7" name="Text 4"/>
          <p:cNvSpPr/>
          <p:nvPr/>
        </p:nvSpPr>
        <p:spPr>
          <a:xfrm>
            <a:off x="1600200" y="1682496"/>
            <a:ext cx="6675120" cy="365760"/>
          </a:xfrm>
          <a:prstGeom prst="rect">
            <a:avLst/>
          </a:prstGeom>
          <a:noFill/>
          <a:ln/>
        </p:spPr>
        <p:txBody>
          <a:bodyPr wrap="square" lIns="0" tIns="0" rIns="0" bIns="0" rtlCol="0" anchor="ctr"/>
          <a:lstStyle/>
          <a:p>
            <a:pPr indent="0" marL="0">
              <a:buNone/>
            </a:pPr>
            <a:r>
              <a:rPr lang="en-US" sz="1600" b="1" dirty="0">
                <a:solidFill>
                  <a:srgbClr val="241C33"/>
                </a:solidFill>
                <a:latin typeface="Cambria" pitchFamily="34" charset="0"/>
                <a:ea typeface="Cambria" pitchFamily="34" charset="-122"/>
                <a:cs typeface="Cambria" pitchFamily="34" charset="-120"/>
              </a:rPr>
              <a:t>5.1  Variable Types</a:t>
            </a:r>
            <a:endParaRPr lang="en-US" sz="1600" dirty="0"/>
          </a:p>
        </p:txBody>
      </p:sp>
      <p:sp>
        <p:nvSpPr>
          <p:cNvPr id="8" name="Text 5"/>
          <p:cNvSpPr/>
          <p:nvPr/>
        </p:nvSpPr>
        <p:spPr>
          <a:xfrm>
            <a:off x="1600200" y="2029968"/>
            <a:ext cx="6675120" cy="329184"/>
          </a:xfrm>
          <a:prstGeom prst="rect">
            <a:avLst/>
          </a:prstGeom>
          <a:noFill/>
          <a:ln/>
        </p:spPr>
        <p:txBody>
          <a:bodyPr wrap="square" lIns="0" tIns="0" rIns="0" bIns="0" rtlCol="0" anchor="ctr"/>
          <a:lstStyle/>
          <a:p>
            <a:pPr indent="0" marL="0">
              <a:buNone/>
            </a:pPr>
            <a:r>
              <a:rPr lang="en-US" sz="1250" dirty="0">
                <a:solidFill>
                  <a:srgbClr val="6B6480"/>
                </a:solidFill>
                <a:latin typeface="Calibri" pitchFamily="34" charset="0"/>
                <a:ea typeface="Calibri" pitchFamily="34" charset="-122"/>
                <a:cs typeface="Calibri" pitchFamily="34" charset="-120"/>
              </a:rPr>
              <a:t>String, number, boolean, list, map, object, tuple</a:t>
            </a:r>
            <a:endParaRPr lang="en-US" sz="1250" dirty="0"/>
          </a:p>
        </p:txBody>
      </p:sp>
      <p:sp>
        <p:nvSpPr>
          <p:cNvPr id="9" name="Shape 6"/>
          <p:cNvSpPr/>
          <p:nvPr/>
        </p:nvSpPr>
        <p:spPr>
          <a:xfrm>
            <a:off x="548640" y="2560320"/>
            <a:ext cx="8046720" cy="896112"/>
          </a:xfrm>
          <a:prstGeom prst="roundRect">
            <a:avLst>
              <a:gd name="adj" fmla="val 8163"/>
            </a:avLst>
          </a:prstGeom>
          <a:solidFill>
            <a:srgbClr val="EDE7FA"/>
          </a:solidFill>
          <a:ln/>
          <a:effectLst>
            <a:outerShdw sx="100000" sy="100000" kx="0" ky="0" algn="bl" rotWithShape="0" blurRad="101600" dist="38100" dir="2700000">
              <a:srgbClr val="000000">
                <a:alpha val="12000"/>
              </a:srgbClr>
            </a:outerShdw>
          </a:effectLst>
        </p:spPr>
      </p:sp>
      <p:sp>
        <p:nvSpPr>
          <p:cNvPr id="10" name="Shape 7"/>
          <p:cNvSpPr/>
          <p:nvPr/>
        </p:nvSpPr>
        <p:spPr>
          <a:xfrm>
            <a:off x="822960" y="2743200"/>
            <a:ext cx="530352" cy="530352"/>
          </a:xfrm>
          <a:prstGeom prst="ellipse">
            <a:avLst/>
          </a:prstGeom>
          <a:solidFill>
            <a:srgbClr val="4C2A85"/>
          </a:solidFill>
          <a:ln/>
        </p:spPr>
      </p:sp>
      <p:pic>
        <p:nvPicPr>
          <p:cNvPr id="11" name="Image 1" descr="preencoded.png">    </p:cNvPr>
          <p:cNvPicPr>
            <a:picLocks noChangeAspect="1"/>
          </p:cNvPicPr>
          <p:nvPr/>
        </p:nvPicPr>
        <p:blipFill>
          <a:blip r:embed="rId2"/>
          <a:stretch>
            <a:fillRect/>
          </a:stretch>
        </p:blipFill>
        <p:spPr>
          <a:xfrm>
            <a:off x="966155" y="2886395"/>
            <a:ext cx="243962" cy="243962"/>
          </a:xfrm>
          <a:prstGeom prst="rect">
            <a:avLst/>
          </a:prstGeom>
        </p:spPr>
      </p:pic>
      <p:sp>
        <p:nvSpPr>
          <p:cNvPr id="12" name="Text 8"/>
          <p:cNvSpPr/>
          <p:nvPr/>
        </p:nvSpPr>
        <p:spPr>
          <a:xfrm>
            <a:off x="1600200" y="2688336"/>
            <a:ext cx="6675120" cy="365760"/>
          </a:xfrm>
          <a:prstGeom prst="rect">
            <a:avLst/>
          </a:prstGeom>
          <a:noFill/>
          <a:ln/>
        </p:spPr>
        <p:txBody>
          <a:bodyPr wrap="square" lIns="0" tIns="0" rIns="0" bIns="0" rtlCol="0" anchor="ctr"/>
          <a:lstStyle/>
          <a:p>
            <a:pPr indent="0" marL="0">
              <a:buNone/>
            </a:pPr>
            <a:r>
              <a:rPr lang="en-US" sz="1600" b="1" dirty="0">
                <a:solidFill>
                  <a:srgbClr val="241C33"/>
                </a:solidFill>
                <a:latin typeface="Cambria" pitchFamily="34" charset="0"/>
                <a:ea typeface="Cambria" pitchFamily="34" charset="-122"/>
                <a:cs typeface="Cambria" pitchFamily="34" charset="-120"/>
              </a:rPr>
              <a:t>5.2  Input Variables</a:t>
            </a:r>
            <a:endParaRPr lang="en-US" sz="1600" dirty="0"/>
          </a:p>
        </p:txBody>
      </p:sp>
      <p:sp>
        <p:nvSpPr>
          <p:cNvPr id="13" name="Text 9"/>
          <p:cNvSpPr/>
          <p:nvPr/>
        </p:nvSpPr>
        <p:spPr>
          <a:xfrm>
            <a:off x="1600200" y="3035808"/>
            <a:ext cx="6675120" cy="329184"/>
          </a:xfrm>
          <a:prstGeom prst="rect">
            <a:avLst/>
          </a:prstGeom>
          <a:noFill/>
          <a:ln/>
        </p:spPr>
        <p:txBody>
          <a:bodyPr wrap="square" lIns="0" tIns="0" rIns="0" bIns="0" rtlCol="0" anchor="ctr"/>
          <a:lstStyle/>
          <a:p>
            <a:pPr indent="0" marL="0">
              <a:buNone/>
            </a:pPr>
            <a:r>
              <a:rPr lang="en-US" sz="1250" dirty="0">
                <a:solidFill>
                  <a:srgbClr val="6B6480"/>
                </a:solidFill>
                <a:latin typeface="Calibri" pitchFamily="34" charset="0"/>
                <a:ea typeface="Calibri" pitchFamily="34" charset="-122"/>
                <a:cs typeface="Calibri" pitchFamily="34" charset="-120"/>
              </a:rPr>
              <a:t>Defaults, overrides, and .tfvars files</a:t>
            </a:r>
            <a:endParaRPr lang="en-US" sz="1250" dirty="0"/>
          </a:p>
        </p:txBody>
      </p:sp>
      <p:sp>
        <p:nvSpPr>
          <p:cNvPr id="14" name="Shape 10"/>
          <p:cNvSpPr/>
          <p:nvPr/>
        </p:nvSpPr>
        <p:spPr>
          <a:xfrm>
            <a:off x="548640" y="3566160"/>
            <a:ext cx="8046720" cy="896112"/>
          </a:xfrm>
          <a:prstGeom prst="roundRect">
            <a:avLst>
              <a:gd name="adj" fmla="val 8163"/>
            </a:avLst>
          </a:prstGeom>
          <a:solidFill>
            <a:srgbClr val="EDE7FA"/>
          </a:solidFill>
          <a:ln/>
          <a:effectLst>
            <a:outerShdw sx="100000" sy="100000" kx="0" ky="0" algn="bl" rotWithShape="0" blurRad="101600" dist="38100" dir="2700000">
              <a:srgbClr val="000000">
                <a:alpha val="12000"/>
              </a:srgbClr>
            </a:outerShdw>
          </a:effectLst>
        </p:spPr>
      </p:sp>
      <p:sp>
        <p:nvSpPr>
          <p:cNvPr id="15" name="Shape 11"/>
          <p:cNvSpPr/>
          <p:nvPr/>
        </p:nvSpPr>
        <p:spPr>
          <a:xfrm>
            <a:off x="822960" y="3749040"/>
            <a:ext cx="530352" cy="530352"/>
          </a:xfrm>
          <a:prstGeom prst="ellipse">
            <a:avLst/>
          </a:prstGeom>
          <a:solidFill>
            <a:srgbClr val="4C2A85"/>
          </a:solidFill>
          <a:ln/>
        </p:spPr>
      </p:sp>
      <p:pic>
        <p:nvPicPr>
          <p:cNvPr id="16" name="Image 2" descr="preencoded.png">    </p:cNvPr>
          <p:cNvPicPr>
            <a:picLocks noChangeAspect="1"/>
          </p:cNvPicPr>
          <p:nvPr/>
        </p:nvPicPr>
        <p:blipFill>
          <a:blip r:embed="rId3"/>
          <a:stretch>
            <a:fillRect/>
          </a:stretch>
        </p:blipFill>
        <p:spPr>
          <a:xfrm>
            <a:off x="966155" y="3892235"/>
            <a:ext cx="243962" cy="243962"/>
          </a:xfrm>
          <a:prstGeom prst="rect">
            <a:avLst/>
          </a:prstGeom>
        </p:spPr>
      </p:pic>
      <p:sp>
        <p:nvSpPr>
          <p:cNvPr id="17" name="Text 12"/>
          <p:cNvSpPr/>
          <p:nvPr/>
        </p:nvSpPr>
        <p:spPr>
          <a:xfrm>
            <a:off x="1600200" y="3694176"/>
            <a:ext cx="6675120" cy="365760"/>
          </a:xfrm>
          <a:prstGeom prst="rect">
            <a:avLst/>
          </a:prstGeom>
          <a:noFill/>
          <a:ln/>
        </p:spPr>
        <p:txBody>
          <a:bodyPr wrap="square" lIns="0" tIns="0" rIns="0" bIns="0" rtlCol="0" anchor="ctr"/>
          <a:lstStyle/>
          <a:p>
            <a:pPr indent="0" marL="0">
              <a:buNone/>
            </a:pPr>
            <a:r>
              <a:rPr lang="en-US" sz="1600" b="1" dirty="0">
                <a:solidFill>
                  <a:srgbClr val="241C33"/>
                </a:solidFill>
                <a:latin typeface="Cambria" pitchFamily="34" charset="0"/>
                <a:ea typeface="Cambria" pitchFamily="34" charset="-122"/>
                <a:cs typeface="Cambria" pitchFamily="34" charset="-120"/>
              </a:rPr>
              <a:t>5.3  Output Variables</a:t>
            </a:r>
            <a:endParaRPr lang="en-US" sz="1600" dirty="0"/>
          </a:p>
        </p:txBody>
      </p:sp>
      <p:sp>
        <p:nvSpPr>
          <p:cNvPr id="18" name="Text 13"/>
          <p:cNvSpPr/>
          <p:nvPr/>
        </p:nvSpPr>
        <p:spPr>
          <a:xfrm>
            <a:off x="1600200" y="4041648"/>
            <a:ext cx="6675120" cy="329184"/>
          </a:xfrm>
          <a:prstGeom prst="rect">
            <a:avLst/>
          </a:prstGeom>
          <a:noFill/>
          <a:ln/>
        </p:spPr>
        <p:txBody>
          <a:bodyPr wrap="square" lIns="0" tIns="0" rIns="0" bIns="0" rtlCol="0" anchor="ctr"/>
          <a:lstStyle/>
          <a:p>
            <a:pPr indent="0" marL="0">
              <a:buNone/>
            </a:pPr>
            <a:r>
              <a:rPr lang="en-US" sz="1250" dirty="0">
                <a:solidFill>
                  <a:srgbClr val="6B6480"/>
                </a:solidFill>
                <a:latin typeface="Calibri" pitchFamily="34" charset="0"/>
                <a:ea typeface="Calibri" pitchFamily="34" charset="-122"/>
                <a:cs typeface="Calibri" pitchFamily="34" charset="-120"/>
              </a:rPr>
              <a:t>Returning resource details after apply</a:t>
            </a:r>
            <a:endParaRPr lang="en-US" sz="1250" dirty="0"/>
          </a:p>
        </p:txBody>
      </p:sp>
      <p:sp>
        <p:nvSpPr>
          <p:cNvPr id="19" name="Shape 14"/>
          <p:cNvSpPr/>
          <p:nvPr/>
        </p:nvSpPr>
        <p:spPr>
          <a:xfrm>
            <a:off x="548640" y="4572000"/>
            <a:ext cx="8046720" cy="896112"/>
          </a:xfrm>
          <a:prstGeom prst="roundRect">
            <a:avLst>
              <a:gd name="adj" fmla="val 8163"/>
            </a:avLst>
          </a:prstGeom>
          <a:solidFill>
            <a:srgbClr val="EDE7FA"/>
          </a:solidFill>
          <a:ln/>
          <a:effectLst>
            <a:outerShdw sx="100000" sy="100000" kx="0" ky="0" algn="bl" rotWithShape="0" blurRad="101600" dist="38100" dir="2700000">
              <a:srgbClr val="000000">
                <a:alpha val="12000"/>
              </a:srgbClr>
            </a:outerShdw>
          </a:effectLst>
        </p:spPr>
      </p:sp>
      <p:sp>
        <p:nvSpPr>
          <p:cNvPr id="20" name="Shape 15"/>
          <p:cNvSpPr/>
          <p:nvPr/>
        </p:nvSpPr>
        <p:spPr>
          <a:xfrm>
            <a:off x="822960" y="4754880"/>
            <a:ext cx="530352" cy="530352"/>
          </a:xfrm>
          <a:prstGeom prst="ellipse">
            <a:avLst/>
          </a:prstGeom>
          <a:solidFill>
            <a:srgbClr val="4C2A85"/>
          </a:solidFill>
          <a:ln/>
        </p:spPr>
      </p:sp>
      <p:pic>
        <p:nvPicPr>
          <p:cNvPr id="21" name="Image 3" descr="preencoded.png">    </p:cNvPr>
          <p:cNvPicPr>
            <a:picLocks noChangeAspect="1"/>
          </p:cNvPicPr>
          <p:nvPr/>
        </p:nvPicPr>
        <p:blipFill>
          <a:blip r:embed="rId4"/>
          <a:stretch>
            <a:fillRect/>
          </a:stretch>
        </p:blipFill>
        <p:spPr>
          <a:xfrm>
            <a:off x="966155" y="4898075"/>
            <a:ext cx="243962" cy="243962"/>
          </a:xfrm>
          <a:prstGeom prst="rect">
            <a:avLst/>
          </a:prstGeom>
        </p:spPr>
      </p:pic>
      <p:sp>
        <p:nvSpPr>
          <p:cNvPr id="22" name="Text 16"/>
          <p:cNvSpPr/>
          <p:nvPr/>
        </p:nvSpPr>
        <p:spPr>
          <a:xfrm>
            <a:off x="1600200" y="4700016"/>
            <a:ext cx="6675120" cy="365760"/>
          </a:xfrm>
          <a:prstGeom prst="rect">
            <a:avLst/>
          </a:prstGeom>
          <a:noFill/>
          <a:ln/>
        </p:spPr>
        <p:txBody>
          <a:bodyPr wrap="square" lIns="0" tIns="0" rIns="0" bIns="0" rtlCol="0" anchor="ctr"/>
          <a:lstStyle/>
          <a:p>
            <a:pPr indent="0" marL="0">
              <a:buNone/>
            </a:pPr>
            <a:r>
              <a:rPr lang="en-US" sz="1600" b="1" dirty="0">
                <a:solidFill>
                  <a:srgbClr val="241C33"/>
                </a:solidFill>
                <a:latin typeface="Cambria" pitchFamily="34" charset="0"/>
                <a:ea typeface="Cambria" pitchFamily="34" charset="-122"/>
                <a:cs typeface="Cambria" pitchFamily="34" charset="-120"/>
              </a:rPr>
              <a:t>5.4  Sensitive Variables</a:t>
            </a:r>
            <a:endParaRPr lang="en-US" sz="1600" dirty="0"/>
          </a:p>
        </p:txBody>
      </p:sp>
      <p:sp>
        <p:nvSpPr>
          <p:cNvPr id="23" name="Text 17"/>
          <p:cNvSpPr/>
          <p:nvPr/>
        </p:nvSpPr>
        <p:spPr>
          <a:xfrm>
            <a:off x="1600200" y="5047488"/>
            <a:ext cx="6675120" cy="329184"/>
          </a:xfrm>
          <a:prstGeom prst="rect">
            <a:avLst/>
          </a:prstGeom>
          <a:noFill/>
          <a:ln/>
        </p:spPr>
        <p:txBody>
          <a:bodyPr wrap="square" lIns="0" tIns="0" rIns="0" bIns="0" rtlCol="0" anchor="ctr"/>
          <a:lstStyle/>
          <a:p>
            <a:pPr indent="0" marL="0">
              <a:buNone/>
            </a:pPr>
            <a:r>
              <a:rPr lang="en-US" sz="1250" dirty="0">
                <a:solidFill>
                  <a:srgbClr val="6B6480"/>
                </a:solidFill>
                <a:latin typeface="Calibri" pitchFamily="34" charset="0"/>
                <a:ea typeface="Calibri" pitchFamily="34" charset="-122"/>
                <a:cs typeface="Calibri" pitchFamily="34" charset="-120"/>
              </a:rPr>
              <a:t>Hiding secrets like passwords from logs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046720" cy="502920"/>
          </a:xfrm>
          <a:prstGeom prst="rect">
            <a:avLst/>
          </a:prstGeom>
          <a:noFill/>
          <a:ln/>
        </p:spPr>
        <p:txBody>
          <a:bodyPr wrap="square" lIns="0" tIns="0" rIns="0" bIns="0" rtlCol="0" anchor="ctr"/>
          <a:lstStyle/>
          <a:p>
            <a:pPr indent="0" marL="0">
              <a:buNone/>
            </a:pPr>
            <a:r>
              <a:rPr lang="en-US" sz="2600" b="1" dirty="0">
                <a:solidFill>
                  <a:srgbClr val="241C33"/>
                </a:solidFill>
                <a:latin typeface="Cambria" pitchFamily="34" charset="0"/>
                <a:ea typeface="Cambria" pitchFamily="34" charset="-122"/>
                <a:cs typeface="Cambria" pitchFamily="34" charset="-120"/>
              </a:rPr>
              <a:t>5.1  Types of Variables in Terraform</a:t>
            </a:r>
            <a:endParaRPr lang="en-US" sz="2600" dirty="0"/>
          </a:p>
        </p:txBody>
      </p:sp>
      <p:sp>
        <p:nvSpPr>
          <p:cNvPr id="3" name="Text 1"/>
          <p:cNvSpPr/>
          <p:nvPr/>
        </p:nvSpPr>
        <p:spPr>
          <a:xfrm>
            <a:off x="548640" y="841248"/>
            <a:ext cx="8046720" cy="320040"/>
          </a:xfrm>
          <a:prstGeom prst="rect">
            <a:avLst/>
          </a:prstGeom>
          <a:noFill/>
          <a:ln/>
        </p:spPr>
        <p:txBody>
          <a:bodyPr wrap="square" lIns="0" tIns="0" rIns="0" bIns="0" rtlCol="0" anchor="ctr"/>
          <a:lstStyle/>
          <a:p>
            <a:pPr indent="0" marL="0">
              <a:buNone/>
            </a:pPr>
            <a:r>
              <a:rPr lang="en-US" sz="1300" dirty="0">
                <a:solidFill>
                  <a:srgbClr val="6B6480"/>
                </a:solidFill>
                <a:latin typeface="Calibri" pitchFamily="34" charset="0"/>
                <a:ea typeface="Calibri" pitchFamily="34" charset="-122"/>
                <a:cs typeface="Calibri" pitchFamily="34" charset="-120"/>
              </a:rPr>
              <a:t>Terraform supports seven core types for modeling any kind of input</a:t>
            </a:r>
            <a:endParaRPr lang="en-US" sz="1300" dirty="0"/>
          </a:p>
        </p:txBody>
      </p:sp>
      <p:sp>
        <p:nvSpPr>
          <p:cNvPr id="4" name="Shape 2"/>
          <p:cNvSpPr/>
          <p:nvPr/>
        </p:nvSpPr>
        <p:spPr>
          <a:xfrm>
            <a:off x="548640" y="1353312"/>
            <a:ext cx="1847088" cy="1417320"/>
          </a:xfrm>
          <a:prstGeom prst="roundRect">
            <a:avLst>
              <a:gd name="adj" fmla="val 5806"/>
            </a:avLst>
          </a:prstGeom>
          <a:solidFill>
            <a:srgbClr val="EDE7FA"/>
          </a:solidFill>
          <a:ln/>
          <a:effectLst>
            <a:outerShdw sx="100000" sy="100000" kx="0" ky="0" algn="bl" rotWithShape="0" blurRad="101600" dist="38100" dir="2700000">
              <a:srgbClr val="000000">
                <a:alpha val="12000"/>
              </a:srgbClr>
            </a:outerShdw>
          </a:effectLst>
        </p:spPr>
      </p:sp>
      <p:sp>
        <p:nvSpPr>
          <p:cNvPr id="5" name="Shape 3"/>
          <p:cNvSpPr/>
          <p:nvPr/>
        </p:nvSpPr>
        <p:spPr>
          <a:xfrm>
            <a:off x="1207008" y="1536192"/>
            <a:ext cx="530352" cy="530352"/>
          </a:xfrm>
          <a:prstGeom prst="ellipse">
            <a:avLst/>
          </a:prstGeom>
          <a:solidFill>
            <a:srgbClr val="4C2A85"/>
          </a:solidFill>
          <a:ln/>
        </p:spPr>
      </p:sp>
      <p:pic>
        <p:nvPicPr>
          <p:cNvPr id="6" name="Image 0" descr="preencoded.png">    </p:cNvPr>
          <p:cNvPicPr>
            <a:picLocks noChangeAspect="1"/>
          </p:cNvPicPr>
          <p:nvPr/>
        </p:nvPicPr>
        <p:blipFill>
          <a:blip r:embed="rId1"/>
          <a:stretch>
            <a:fillRect/>
          </a:stretch>
        </p:blipFill>
        <p:spPr>
          <a:xfrm>
            <a:off x="1350203" y="1679387"/>
            <a:ext cx="243962" cy="243962"/>
          </a:xfrm>
          <a:prstGeom prst="rect">
            <a:avLst/>
          </a:prstGeom>
        </p:spPr>
      </p:pic>
      <p:sp>
        <p:nvSpPr>
          <p:cNvPr id="7" name="Text 4"/>
          <p:cNvSpPr/>
          <p:nvPr/>
        </p:nvSpPr>
        <p:spPr>
          <a:xfrm>
            <a:off x="640080" y="2139696"/>
            <a:ext cx="1664208" cy="274320"/>
          </a:xfrm>
          <a:prstGeom prst="rect">
            <a:avLst/>
          </a:prstGeom>
          <a:noFill/>
          <a:ln/>
        </p:spPr>
        <p:txBody>
          <a:bodyPr wrap="square" lIns="0" tIns="0" rIns="0" bIns="0" rtlCol="0" anchor="ctr"/>
          <a:lstStyle/>
          <a:p>
            <a:pPr algn="ctr" indent="0" marL="0">
              <a:buNone/>
            </a:pPr>
            <a:r>
              <a:rPr lang="en-US" sz="1450" b="1" dirty="0">
                <a:solidFill>
                  <a:srgbClr val="241C33"/>
                </a:solidFill>
                <a:latin typeface="Cambria" pitchFamily="34" charset="0"/>
                <a:ea typeface="Cambria" pitchFamily="34" charset="-122"/>
                <a:cs typeface="Cambria" pitchFamily="34" charset="-120"/>
              </a:rPr>
              <a:t>String</a:t>
            </a:r>
            <a:endParaRPr lang="en-US" sz="1450" dirty="0"/>
          </a:p>
        </p:txBody>
      </p:sp>
      <p:sp>
        <p:nvSpPr>
          <p:cNvPr id="8" name="Text 5"/>
          <p:cNvSpPr/>
          <p:nvPr/>
        </p:nvSpPr>
        <p:spPr>
          <a:xfrm>
            <a:off x="640080" y="2404872"/>
            <a:ext cx="1664208" cy="347472"/>
          </a:xfrm>
          <a:prstGeom prst="rect">
            <a:avLst/>
          </a:prstGeom>
          <a:noFill/>
          <a:ln/>
        </p:spPr>
        <p:txBody>
          <a:bodyPr wrap="square" lIns="0" tIns="0" rIns="0" bIns="0" rtlCol="0" anchor="ctr"/>
          <a:lstStyle/>
          <a:p>
            <a:pPr algn="ctr" indent="0" marL="0">
              <a:buNone/>
            </a:pPr>
            <a:r>
              <a:rPr lang="en-US" sz="1000" dirty="0">
                <a:solidFill>
                  <a:srgbClr val="6B6480"/>
                </a:solidFill>
                <a:latin typeface="Calibri" pitchFamily="34" charset="0"/>
                <a:ea typeface="Calibri" pitchFamily="34" charset="-122"/>
                <a:cs typeface="Calibri" pitchFamily="34" charset="-120"/>
              </a:rPr>
              <a:t>A single text value</a:t>
            </a:r>
            <a:endParaRPr lang="en-US" sz="1000" dirty="0"/>
          </a:p>
        </p:txBody>
      </p:sp>
      <p:sp>
        <p:nvSpPr>
          <p:cNvPr id="9" name="Shape 6"/>
          <p:cNvSpPr/>
          <p:nvPr/>
        </p:nvSpPr>
        <p:spPr>
          <a:xfrm>
            <a:off x="2523744" y="1353312"/>
            <a:ext cx="1847088" cy="1417320"/>
          </a:xfrm>
          <a:prstGeom prst="roundRect">
            <a:avLst>
              <a:gd name="adj" fmla="val 5806"/>
            </a:avLst>
          </a:prstGeom>
          <a:solidFill>
            <a:srgbClr val="EDE7FA"/>
          </a:solidFill>
          <a:ln/>
          <a:effectLst>
            <a:outerShdw sx="100000" sy="100000" kx="0" ky="0" algn="bl" rotWithShape="0" blurRad="101600" dist="38100" dir="2700000">
              <a:srgbClr val="000000">
                <a:alpha val="12000"/>
              </a:srgbClr>
            </a:outerShdw>
          </a:effectLst>
        </p:spPr>
      </p:sp>
      <p:sp>
        <p:nvSpPr>
          <p:cNvPr id="10" name="Shape 7"/>
          <p:cNvSpPr/>
          <p:nvPr/>
        </p:nvSpPr>
        <p:spPr>
          <a:xfrm>
            <a:off x="3182112" y="1536192"/>
            <a:ext cx="530352" cy="530352"/>
          </a:xfrm>
          <a:prstGeom prst="ellipse">
            <a:avLst/>
          </a:prstGeom>
          <a:solidFill>
            <a:srgbClr val="4C2A85"/>
          </a:solidFill>
          <a:ln/>
        </p:spPr>
      </p:sp>
      <p:pic>
        <p:nvPicPr>
          <p:cNvPr id="11" name="Image 1" descr="preencoded.png">    </p:cNvPr>
          <p:cNvPicPr>
            <a:picLocks noChangeAspect="1"/>
          </p:cNvPicPr>
          <p:nvPr/>
        </p:nvPicPr>
        <p:blipFill>
          <a:blip r:embed="rId2"/>
          <a:stretch>
            <a:fillRect/>
          </a:stretch>
        </p:blipFill>
        <p:spPr>
          <a:xfrm>
            <a:off x="3325307" y="1679387"/>
            <a:ext cx="243962" cy="243962"/>
          </a:xfrm>
          <a:prstGeom prst="rect">
            <a:avLst/>
          </a:prstGeom>
        </p:spPr>
      </p:pic>
      <p:sp>
        <p:nvSpPr>
          <p:cNvPr id="12" name="Text 8"/>
          <p:cNvSpPr/>
          <p:nvPr/>
        </p:nvSpPr>
        <p:spPr>
          <a:xfrm>
            <a:off x="2615184" y="2139696"/>
            <a:ext cx="1664208" cy="274320"/>
          </a:xfrm>
          <a:prstGeom prst="rect">
            <a:avLst/>
          </a:prstGeom>
          <a:noFill/>
          <a:ln/>
        </p:spPr>
        <p:txBody>
          <a:bodyPr wrap="square" lIns="0" tIns="0" rIns="0" bIns="0" rtlCol="0" anchor="ctr"/>
          <a:lstStyle/>
          <a:p>
            <a:pPr algn="ctr" indent="0" marL="0">
              <a:buNone/>
            </a:pPr>
            <a:r>
              <a:rPr lang="en-US" sz="1450" b="1" dirty="0">
                <a:solidFill>
                  <a:srgbClr val="241C33"/>
                </a:solidFill>
                <a:latin typeface="Cambria" pitchFamily="34" charset="0"/>
                <a:ea typeface="Cambria" pitchFamily="34" charset="-122"/>
                <a:cs typeface="Cambria" pitchFamily="34" charset="-120"/>
              </a:rPr>
              <a:t>Number</a:t>
            </a:r>
            <a:endParaRPr lang="en-US" sz="1450" dirty="0"/>
          </a:p>
        </p:txBody>
      </p:sp>
      <p:sp>
        <p:nvSpPr>
          <p:cNvPr id="13" name="Text 9"/>
          <p:cNvSpPr/>
          <p:nvPr/>
        </p:nvSpPr>
        <p:spPr>
          <a:xfrm>
            <a:off x="2615184" y="2404872"/>
            <a:ext cx="1664208" cy="347472"/>
          </a:xfrm>
          <a:prstGeom prst="rect">
            <a:avLst/>
          </a:prstGeom>
          <a:noFill/>
          <a:ln/>
        </p:spPr>
        <p:txBody>
          <a:bodyPr wrap="square" lIns="0" tIns="0" rIns="0" bIns="0" rtlCol="0" anchor="ctr"/>
          <a:lstStyle/>
          <a:p>
            <a:pPr algn="ctr" indent="0" marL="0">
              <a:buNone/>
            </a:pPr>
            <a:r>
              <a:rPr lang="en-US" sz="1000" dirty="0">
                <a:solidFill>
                  <a:srgbClr val="6B6480"/>
                </a:solidFill>
                <a:latin typeface="Calibri" pitchFamily="34" charset="0"/>
                <a:ea typeface="Calibri" pitchFamily="34" charset="-122"/>
                <a:cs typeface="Calibri" pitchFamily="34" charset="-120"/>
              </a:rPr>
              <a:t>Numeric values (int/float)</a:t>
            </a:r>
            <a:endParaRPr lang="en-US" sz="1000" dirty="0"/>
          </a:p>
        </p:txBody>
      </p:sp>
      <p:sp>
        <p:nvSpPr>
          <p:cNvPr id="14" name="Shape 10"/>
          <p:cNvSpPr/>
          <p:nvPr/>
        </p:nvSpPr>
        <p:spPr>
          <a:xfrm>
            <a:off x="4498848" y="1353312"/>
            <a:ext cx="1847088" cy="1417320"/>
          </a:xfrm>
          <a:prstGeom prst="roundRect">
            <a:avLst>
              <a:gd name="adj" fmla="val 5806"/>
            </a:avLst>
          </a:prstGeom>
          <a:solidFill>
            <a:srgbClr val="EDE7FA"/>
          </a:solidFill>
          <a:ln/>
          <a:effectLst>
            <a:outerShdw sx="100000" sy="100000" kx="0" ky="0" algn="bl" rotWithShape="0" blurRad="101600" dist="38100" dir="2700000">
              <a:srgbClr val="000000">
                <a:alpha val="12000"/>
              </a:srgbClr>
            </a:outerShdw>
          </a:effectLst>
        </p:spPr>
      </p:sp>
      <p:sp>
        <p:nvSpPr>
          <p:cNvPr id="15" name="Shape 11"/>
          <p:cNvSpPr/>
          <p:nvPr/>
        </p:nvSpPr>
        <p:spPr>
          <a:xfrm>
            <a:off x="5157216" y="1536192"/>
            <a:ext cx="530352" cy="530352"/>
          </a:xfrm>
          <a:prstGeom prst="ellipse">
            <a:avLst/>
          </a:prstGeom>
          <a:solidFill>
            <a:srgbClr val="4C2A85"/>
          </a:solidFill>
          <a:ln/>
        </p:spPr>
      </p:sp>
      <p:pic>
        <p:nvPicPr>
          <p:cNvPr id="16" name="Image 2" descr="preencoded.png">    </p:cNvPr>
          <p:cNvPicPr>
            <a:picLocks noChangeAspect="1"/>
          </p:cNvPicPr>
          <p:nvPr/>
        </p:nvPicPr>
        <p:blipFill>
          <a:blip r:embed="rId3"/>
          <a:stretch>
            <a:fillRect/>
          </a:stretch>
        </p:blipFill>
        <p:spPr>
          <a:xfrm>
            <a:off x="5300411" y="1679387"/>
            <a:ext cx="243962" cy="243962"/>
          </a:xfrm>
          <a:prstGeom prst="rect">
            <a:avLst/>
          </a:prstGeom>
        </p:spPr>
      </p:pic>
      <p:sp>
        <p:nvSpPr>
          <p:cNvPr id="17" name="Text 12"/>
          <p:cNvSpPr/>
          <p:nvPr/>
        </p:nvSpPr>
        <p:spPr>
          <a:xfrm>
            <a:off x="4590288" y="2139696"/>
            <a:ext cx="1664208" cy="274320"/>
          </a:xfrm>
          <a:prstGeom prst="rect">
            <a:avLst/>
          </a:prstGeom>
          <a:noFill/>
          <a:ln/>
        </p:spPr>
        <p:txBody>
          <a:bodyPr wrap="square" lIns="0" tIns="0" rIns="0" bIns="0" rtlCol="0" anchor="ctr"/>
          <a:lstStyle/>
          <a:p>
            <a:pPr algn="ctr" indent="0" marL="0">
              <a:buNone/>
            </a:pPr>
            <a:r>
              <a:rPr lang="en-US" sz="1450" b="1" dirty="0">
                <a:solidFill>
                  <a:srgbClr val="241C33"/>
                </a:solidFill>
                <a:latin typeface="Cambria" pitchFamily="34" charset="0"/>
                <a:ea typeface="Cambria" pitchFamily="34" charset="-122"/>
                <a:cs typeface="Cambria" pitchFamily="34" charset="-120"/>
              </a:rPr>
              <a:t>Boolean</a:t>
            </a:r>
            <a:endParaRPr lang="en-US" sz="1450" dirty="0"/>
          </a:p>
        </p:txBody>
      </p:sp>
      <p:sp>
        <p:nvSpPr>
          <p:cNvPr id="18" name="Text 13"/>
          <p:cNvSpPr/>
          <p:nvPr/>
        </p:nvSpPr>
        <p:spPr>
          <a:xfrm>
            <a:off x="4590288" y="2404872"/>
            <a:ext cx="1664208" cy="347472"/>
          </a:xfrm>
          <a:prstGeom prst="rect">
            <a:avLst/>
          </a:prstGeom>
          <a:noFill/>
          <a:ln/>
        </p:spPr>
        <p:txBody>
          <a:bodyPr wrap="square" lIns="0" tIns="0" rIns="0" bIns="0" rtlCol="0" anchor="ctr"/>
          <a:lstStyle/>
          <a:p>
            <a:pPr algn="ctr" indent="0" marL="0">
              <a:buNone/>
            </a:pPr>
            <a:r>
              <a:rPr lang="en-US" sz="1000" dirty="0">
                <a:solidFill>
                  <a:srgbClr val="6B6480"/>
                </a:solidFill>
                <a:latin typeface="Calibri" pitchFamily="34" charset="0"/>
                <a:ea typeface="Calibri" pitchFamily="34" charset="-122"/>
                <a:cs typeface="Calibri" pitchFamily="34" charset="-120"/>
              </a:rPr>
              <a:t>true or false</a:t>
            </a:r>
            <a:endParaRPr lang="en-US" sz="1000" dirty="0"/>
          </a:p>
        </p:txBody>
      </p:sp>
      <p:sp>
        <p:nvSpPr>
          <p:cNvPr id="19" name="Shape 14"/>
          <p:cNvSpPr/>
          <p:nvPr/>
        </p:nvSpPr>
        <p:spPr>
          <a:xfrm>
            <a:off x="6473952" y="1353312"/>
            <a:ext cx="1847088" cy="1417320"/>
          </a:xfrm>
          <a:prstGeom prst="roundRect">
            <a:avLst>
              <a:gd name="adj" fmla="val 5806"/>
            </a:avLst>
          </a:prstGeom>
          <a:solidFill>
            <a:srgbClr val="EDE7FA"/>
          </a:solidFill>
          <a:ln/>
          <a:effectLst>
            <a:outerShdw sx="100000" sy="100000" kx="0" ky="0" algn="bl" rotWithShape="0" blurRad="101600" dist="38100" dir="2700000">
              <a:srgbClr val="000000">
                <a:alpha val="12000"/>
              </a:srgbClr>
            </a:outerShdw>
          </a:effectLst>
        </p:spPr>
      </p:sp>
      <p:sp>
        <p:nvSpPr>
          <p:cNvPr id="20" name="Shape 15"/>
          <p:cNvSpPr/>
          <p:nvPr/>
        </p:nvSpPr>
        <p:spPr>
          <a:xfrm>
            <a:off x="7132320" y="1536192"/>
            <a:ext cx="530352" cy="530352"/>
          </a:xfrm>
          <a:prstGeom prst="ellipse">
            <a:avLst/>
          </a:prstGeom>
          <a:solidFill>
            <a:srgbClr val="4C2A85"/>
          </a:solidFill>
          <a:ln/>
        </p:spPr>
      </p:sp>
      <p:pic>
        <p:nvPicPr>
          <p:cNvPr id="21" name="Image 3" descr="preencoded.png">    </p:cNvPr>
          <p:cNvPicPr>
            <a:picLocks noChangeAspect="1"/>
          </p:cNvPicPr>
          <p:nvPr/>
        </p:nvPicPr>
        <p:blipFill>
          <a:blip r:embed="rId4"/>
          <a:stretch>
            <a:fillRect/>
          </a:stretch>
        </p:blipFill>
        <p:spPr>
          <a:xfrm>
            <a:off x="7275515" y="1679387"/>
            <a:ext cx="243962" cy="243962"/>
          </a:xfrm>
          <a:prstGeom prst="rect">
            <a:avLst/>
          </a:prstGeom>
        </p:spPr>
      </p:pic>
      <p:sp>
        <p:nvSpPr>
          <p:cNvPr id="22" name="Text 16"/>
          <p:cNvSpPr/>
          <p:nvPr/>
        </p:nvSpPr>
        <p:spPr>
          <a:xfrm>
            <a:off x="6565392" y="2139696"/>
            <a:ext cx="1664208" cy="274320"/>
          </a:xfrm>
          <a:prstGeom prst="rect">
            <a:avLst/>
          </a:prstGeom>
          <a:noFill/>
          <a:ln/>
        </p:spPr>
        <p:txBody>
          <a:bodyPr wrap="square" lIns="0" tIns="0" rIns="0" bIns="0" rtlCol="0" anchor="ctr"/>
          <a:lstStyle/>
          <a:p>
            <a:pPr algn="ctr" indent="0" marL="0">
              <a:buNone/>
            </a:pPr>
            <a:r>
              <a:rPr lang="en-US" sz="1450" b="1" dirty="0">
                <a:solidFill>
                  <a:srgbClr val="241C33"/>
                </a:solidFill>
                <a:latin typeface="Cambria" pitchFamily="34" charset="0"/>
                <a:ea typeface="Cambria" pitchFamily="34" charset="-122"/>
                <a:cs typeface="Cambria" pitchFamily="34" charset="-120"/>
              </a:rPr>
              <a:t>List</a:t>
            </a:r>
            <a:endParaRPr lang="en-US" sz="1450" dirty="0"/>
          </a:p>
        </p:txBody>
      </p:sp>
      <p:sp>
        <p:nvSpPr>
          <p:cNvPr id="23" name="Text 17"/>
          <p:cNvSpPr/>
          <p:nvPr/>
        </p:nvSpPr>
        <p:spPr>
          <a:xfrm>
            <a:off x="6565392" y="2404872"/>
            <a:ext cx="1664208" cy="347472"/>
          </a:xfrm>
          <a:prstGeom prst="rect">
            <a:avLst/>
          </a:prstGeom>
          <a:noFill/>
          <a:ln/>
        </p:spPr>
        <p:txBody>
          <a:bodyPr wrap="square" lIns="0" tIns="0" rIns="0" bIns="0" rtlCol="0" anchor="ctr"/>
          <a:lstStyle/>
          <a:p>
            <a:pPr algn="ctr" indent="0" marL="0">
              <a:buNone/>
            </a:pPr>
            <a:r>
              <a:rPr lang="en-US" sz="1000" dirty="0">
                <a:solidFill>
                  <a:srgbClr val="6B6480"/>
                </a:solidFill>
                <a:latin typeface="Calibri" pitchFamily="34" charset="0"/>
                <a:ea typeface="Calibri" pitchFamily="34" charset="-122"/>
                <a:cs typeface="Calibri" pitchFamily="34" charset="-120"/>
              </a:rPr>
              <a:t>An ordered array of values</a:t>
            </a:r>
            <a:endParaRPr lang="en-US" sz="1000" dirty="0"/>
          </a:p>
        </p:txBody>
      </p:sp>
      <p:sp>
        <p:nvSpPr>
          <p:cNvPr id="24" name="Shape 18"/>
          <p:cNvSpPr/>
          <p:nvPr/>
        </p:nvSpPr>
        <p:spPr>
          <a:xfrm>
            <a:off x="548640" y="2916936"/>
            <a:ext cx="1847088" cy="1417320"/>
          </a:xfrm>
          <a:prstGeom prst="roundRect">
            <a:avLst>
              <a:gd name="adj" fmla="val 5806"/>
            </a:avLst>
          </a:prstGeom>
          <a:solidFill>
            <a:srgbClr val="EDE7FA"/>
          </a:solidFill>
          <a:ln/>
          <a:effectLst>
            <a:outerShdw sx="100000" sy="100000" kx="0" ky="0" algn="bl" rotWithShape="0" blurRad="101600" dist="38100" dir="2700000">
              <a:srgbClr val="000000">
                <a:alpha val="12000"/>
              </a:srgbClr>
            </a:outerShdw>
          </a:effectLst>
        </p:spPr>
      </p:sp>
      <p:sp>
        <p:nvSpPr>
          <p:cNvPr id="25" name="Shape 19"/>
          <p:cNvSpPr/>
          <p:nvPr/>
        </p:nvSpPr>
        <p:spPr>
          <a:xfrm>
            <a:off x="1207008" y="3099816"/>
            <a:ext cx="530352" cy="530352"/>
          </a:xfrm>
          <a:prstGeom prst="ellipse">
            <a:avLst/>
          </a:prstGeom>
          <a:solidFill>
            <a:srgbClr val="4C2A85"/>
          </a:solidFill>
          <a:ln/>
        </p:spPr>
      </p:sp>
      <p:pic>
        <p:nvPicPr>
          <p:cNvPr id="26" name="Image 4" descr="preencoded.png">    </p:cNvPr>
          <p:cNvPicPr>
            <a:picLocks noChangeAspect="1"/>
          </p:cNvPicPr>
          <p:nvPr/>
        </p:nvPicPr>
        <p:blipFill>
          <a:blip r:embed="rId5"/>
          <a:stretch>
            <a:fillRect/>
          </a:stretch>
        </p:blipFill>
        <p:spPr>
          <a:xfrm>
            <a:off x="1350203" y="3243011"/>
            <a:ext cx="243962" cy="243962"/>
          </a:xfrm>
          <a:prstGeom prst="rect">
            <a:avLst/>
          </a:prstGeom>
        </p:spPr>
      </p:pic>
      <p:sp>
        <p:nvSpPr>
          <p:cNvPr id="27" name="Text 20"/>
          <p:cNvSpPr/>
          <p:nvPr/>
        </p:nvSpPr>
        <p:spPr>
          <a:xfrm>
            <a:off x="640080" y="3703320"/>
            <a:ext cx="1664208" cy="274320"/>
          </a:xfrm>
          <a:prstGeom prst="rect">
            <a:avLst/>
          </a:prstGeom>
          <a:noFill/>
          <a:ln/>
        </p:spPr>
        <p:txBody>
          <a:bodyPr wrap="square" lIns="0" tIns="0" rIns="0" bIns="0" rtlCol="0" anchor="ctr"/>
          <a:lstStyle/>
          <a:p>
            <a:pPr algn="ctr" indent="0" marL="0">
              <a:buNone/>
            </a:pPr>
            <a:r>
              <a:rPr lang="en-US" sz="1450" b="1" dirty="0">
                <a:solidFill>
                  <a:srgbClr val="241C33"/>
                </a:solidFill>
                <a:latin typeface="Cambria" pitchFamily="34" charset="0"/>
                <a:ea typeface="Cambria" pitchFamily="34" charset="-122"/>
                <a:cs typeface="Cambria" pitchFamily="34" charset="-120"/>
              </a:rPr>
              <a:t>Map</a:t>
            </a:r>
            <a:endParaRPr lang="en-US" sz="1450" dirty="0"/>
          </a:p>
        </p:txBody>
      </p:sp>
      <p:sp>
        <p:nvSpPr>
          <p:cNvPr id="28" name="Text 21"/>
          <p:cNvSpPr/>
          <p:nvPr/>
        </p:nvSpPr>
        <p:spPr>
          <a:xfrm>
            <a:off x="640080" y="3968496"/>
            <a:ext cx="1664208" cy="347472"/>
          </a:xfrm>
          <a:prstGeom prst="rect">
            <a:avLst/>
          </a:prstGeom>
          <a:noFill/>
          <a:ln/>
        </p:spPr>
        <p:txBody>
          <a:bodyPr wrap="square" lIns="0" tIns="0" rIns="0" bIns="0" rtlCol="0" anchor="ctr"/>
          <a:lstStyle/>
          <a:p>
            <a:pPr algn="ctr" indent="0" marL="0">
              <a:buNone/>
            </a:pPr>
            <a:r>
              <a:rPr lang="en-US" sz="1000" dirty="0">
                <a:solidFill>
                  <a:srgbClr val="6B6480"/>
                </a:solidFill>
                <a:latin typeface="Calibri" pitchFamily="34" charset="0"/>
                <a:ea typeface="Calibri" pitchFamily="34" charset="-122"/>
                <a:cs typeface="Calibri" pitchFamily="34" charset="-120"/>
              </a:rPr>
              <a:t>Key-value pairs</a:t>
            </a:r>
            <a:endParaRPr lang="en-US" sz="1000" dirty="0"/>
          </a:p>
        </p:txBody>
      </p:sp>
      <p:sp>
        <p:nvSpPr>
          <p:cNvPr id="29" name="Shape 22"/>
          <p:cNvSpPr/>
          <p:nvPr/>
        </p:nvSpPr>
        <p:spPr>
          <a:xfrm>
            <a:off x="2523744" y="2916936"/>
            <a:ext cx="1847088" cy="1417320"/>
          </a:xfrm>
          <a:prstGeom prst="roundRect">
            <a:avLst>
              <a:gd name="adj" fmla="val 5806"/>
            </a:avLst>
          </a:prstGeom>
          <a:solidFill>
            <a:srgbClr val="EDE7FA"/>
          </a:solidFill>
          <a:ln/>
          <a:effectLst>
            <a:outerShdw sx="100000" sy="100000" kx="0" ky="0" algn="bl" rotWithShape="0" blurRad="101600" dist="38100" dir="2700000">
              <a:srgbClr val="000000">
                <a:alpha val="12000"/>
              </a:srgbClr>
            </a:outerShdw>
          </a:effectLst>
        </p:spPr>
      </p:sp>
      <p:sp>
        <p:nvSpPr>
          <p:cNvPr id="30" name="Shape 23"/>
          <p:cNvSpPr/>
          <p:nvPr/>
        </p:nvSpPr>
        <p:spPr>
          <a:xfrm>
            <a:off x="3182112" y="3099816"/>
            <a:ext cx="530352" cy="530352"/>
          </a:xfrm>
          <a:prstGeom prst="ellipse">
            <a:avLst/>
          </a:prstGeom>
          <a:solidFill>
            <a:srgbClr val="4C2A85"/>
          </a:solidFill>
          <a:ln/>
        </p:spPr>
      </p:sp>
      <p:pic>
        <p:nvPicPr>
          <p:cNvPr id="31" name="Image 5" descr="preencoded.png">    </p:cNvPr>
          <p:cNvPicPr>
            <a:picLocks noChangeAspect="1"/>
          </p:cNvPicPr>
          <p:nvPr/>
        </p:nvPicPr>
        <p:blipFill>
          <a:blip r:embed="rId6"/>
          <a:stretch>
            <a:fillRect/>
          </a:stretch>
        </p:blipFill>
        <p:spPr>
          <a:xfrm>
            <a:off x="3325307" y="3243011"/>
            <a:ext cx="243962" cy="243962"/>
          </a:xfrm>
          <a:prstGeom prst="rect">
            <a:avLst/>
          </a:prstGeom>
        </p:spPr>
      </p:pic>
      <p:sp>
        <p:nvSpPr>
          <p:cNvPr id="32" name="Text 24"/>
          <p:cNvSpPr/>
          <p:nvPr/>
        </p:nvSpPr>
        <p:spPr>
          <a:xfrm>
            <a:off x="2615184" y="3703320"/>
            <a:ext cx="1664208" cy="274320"/>
          </a:xfrm>
          <a:prstGeom prst="rect">
            <a:avLst/>
          </a:prstGeom>
          <a:noFill/>
          <a:ln/>
        </p:spPr>
        <p:txBody>
          <a:bodyPr wrap="square" lIns="0" tIns="0" rIns="0" bIns="0" rtlCol="0" anchor="ctr"/>
          <a:lstStyle/>
          <a:p>
            <a:pPr algn="ctr" indent="0" marL="0">
              <a:buNone/>
            </a:pPr>
            <a:r>
              <a:rPr lang="en-US" sz="1450" b="1" dirty="0">
                <a:solidFill>
                  <a:srgbClr val="241C33"/>
                </a:solidFill>
                <a:latin typeface="Cambria" pitchFamily="34" charset="0"/>
                <a:ea typeface="Cambria" pitchFamily="34" charset="-122"/>
                <a:cs typeface="Cambria" pitchFamily="34" charset="-120"/>
              </a:rPr>
              <a:t>Object</a:t>
            </a:r>
            <a:endParaRPr lang="en-US" sz="1450" dirty="0"/>
          </a:p>
        </p:txBody>
      </p:sp>
      <p:sp>
        <p:nvSpPr>
          <p:cNvPr id="33" name="Text 25"/>
          <p:cNvSpPr/>
          <p:nvPr/>
        </p:nvSpPr>
        <p:spPr>
          <a:xfrm>
            <a:off x="2615184" y="3968496"/>
            <a:ext cx="1664208" cy="347472"/>
          </a:xfrm>
          <a:prstGeom prst="rect">
            <a:avLst/>
          </a:prstGeom>
          <a:noFill/>
          <a:ln/>
        </p:spPr>
        <p:txBody>
          <a:bodyPr wrap="square" lIns="0" tIns="0" rIns="0" bIns="0" rtlCol="0" anchor="ctr"/>
          <a:lstStyle/>
          <a:p>
            <a:pPr algn="ctr" indent="0" marL="0">
              <a:buNone/>
            </a:pPr>
            <a:r>
              <a:rPr lang="en-US" sz="1000" dirty="0">
                <a:solidFill>
                  <a:srgbClr val="6B6480"/>
                </a:solidFill>
                <a:latin typeface="Calibri" pitchFamily="34" charset="0"/>
                <a:ea typeface="Calibri" pitchFamily="34" charset="-122"/>
                <a:cs typeface="Calibri" pitchFamily="34" charset="-120"/>
              </a:rPr>
              <a:t>Structured, named data</a:t>
            </a:r>
            <a:endParaRPr lang="en-US" sz="1000" dirty="0"/>
          </a:p>
        </p:txBody>
      </p:sp>
      <p:sp>
        <p:nvSpPr>
          <p:cNvPr id="34" name="Shape 26"/>
          <p:cNvSpPr/>
          <p:nvPr/>
        </p:nvSpPr>
        <p:spPr>
          <a:xfrm>
            <a:off x="4498848" y="2916936"/>
            <a:ext cx="1847088" cy="1417320"/>
          </a:xfrm>
          <a:prstGeom prst="roundRect">
            <a:avLst>
              <a:gd name="adj" fmla="val 5806"/>
            </a:avLst>
          </a:prstGeom>
          <a:solidFill>
            <a:srgbClr val="EDE7FA"/>
          </a:solidFill>
          <a:ln/>
          <a:effectLst>
            <a:outerShdw sx="100000" sy="100000" kx="0" ky="0" algn="bl" rotWithShape="0" blurRad="101600" dist="38100" dir="2700000">
              <a:srgbClr val="000000">
                <a:alpha val="12000"/>
              </a:srgbClr>
            </a:outerShdw>
          </a:effectLst>
        </p:spPr>
      </p:sp>
      <p:sp>
        <p:nvSpPr>
          <p:cNvPr id="35" name="Shape 27"/>
          <p:cNvSpPr/>
          <p:nvPr/>
        </p:nvSpPr>
        <p:spPr>
          <a:xfrm>
            <a:off x="5157216" y="3099816"/>
            <a:ext cx="530352" cy="530352"/>
          </a:xfrm>
          <a:prstGeom prst="ellipse">
            <a:avLst/>
          </a:prstGeom>
          <a:solidFill>
            <a:srgbClr val="4C2A85"/>
          </a:solidFill>
          <a:ln/>
        </p:spPr>
      </p:sp>
      <p:pic>
        <p:nvPicPr>
          <p:cNvPr id="36" name="Image 6" descr="preencoded.png">    </p:cNvPr>
          <p:cNvPicPr>
            <a:picLocks noChangeAspect="1"/>
          </p:cNvPicPr>
          <p:nvPr/>
        </p:nvPicPr>
        <p:blipFill>
          <a:blip r:embed="rId7"/>
          <a:stretch>
            <a:fillRect/>
          </a:stretch>
        </p:blipFill>
        <p:spPr>
          <a:xfrm>
            <a:off x="5300411" y="3243011"/>
            <a:ext cx="243962" cy="243962"/>
          </a:xfrm>
          <a:prstGeom prst="rect">
            <a:avLst/>
          </a:prstGeom>
        </p:spPr>
      </p:pic>
      <p:sp>
        <p:nvSpPr>
          <p:cNvPr id="37" name="Text 28"/>
          <p:cNvSpPr/>
          <p:nvPr/>
        </p:nvSpPr>
        <p:spPr>
          <a:xfrm>
            <a:off x="4590288" y="3703320"/>
            <a:ext cx="1664208" cy="274320"/>
          </a:xfrm>
          <a:prstGeom prst="rect">
            <a:avLst/>
          </a:prstGeom>
          <a:noFill/>
          <a:ln/>
        </p:spPr>
        <p:txBody>
          <a:bodyPr wrap="square" lIns="0" tIns="0" rIns="0" bIns="0" rtlCol="0" anchor="ctr"/>
          <a:lstStyle/>
          <a:p>
            <a:pPr algn="ctr" indent="0" marL="0">
              <a:buNone/>
            </a:pPr>
            <a:r>
              <a:rPr lang="en-US" sz="1450" b="1" dirty="0">
                <a:solidFill>
                  <a:srgbClr val="241C33"/>
                </a:solidFill>
                <a:latin typeface="Cambria" pitchFamily="34" charset="0"/>
                <a:ea typeface="Cambria" pitchFamily="34" charset="-122"/>
                <a:cs typeface="Cambria" pitchFamily="34" charset="-120"/>
              </a:rPr>
              <a:t>Tuple</a:t>
            </a:r>
            <a:endParaRPr lang="en-US" sz="1450" dirty="0"/>
          </a:p>
        </p:txBody>
      </p:sp>
      <p:sp>
        <p:nvSpPr>
          <p:cNvPr id="38" name="Text 29"/>
          <p:cNvSpPr/>
          <p:nvPr/>
        </p:nvSpPr>
        <p:spPr>
          <a:xfrm>
            <a:off x="4590288" y="3968496"/>
            <a:ext cx="1664208" cy="347472"/>
          </a:xfrm>
          <a:prstGeom prst="rect">
            <a:avLst/>
          </a:prstGeom>
          <a:noFill/>
          <a:ln/>
        </p:spPr>
        <p:txBody>
          <a:bodyPr wrap="square" lIns="0" tIns="0" rIns="0" bIns="0" rtlCol="0" anchor="ctr"/>
          <a:lstStyle/>
          <a:p>
            <a:pPr algn="ctr" indent="0" marL="0">
              <a:buNone/>
            </a:pPr>
            <a:r>
              <a:rPr lang="en-US" sz="1000" dirty="0">
                <a:solidFill>
                  <a:srgbClr val="6B6480"/>
                </a:solidFill>
                <a:latin typeface="Calibri" pitchFamily="34" charset="0"/>
                <a:ea typeface="Calibri" pitchFamily="34" charset="-122"/>
                <a:cs typeface="Calibri" pitchFamily="34" charset="-120"/>
              </a:rPr>
              <a:t>A fixed set of mixed types</a:t>
            </a:r>
            <a:endParaRPr lang="en-US" sz="1000" dirty="0"/>
          </a:p>
        </p:txBody>
      </p:sp>
      <p:sp>
        <p:nvSpPr>
          <p:cNvPr id="39" name="Shape 30"/>
          <p:cNvSpPr/>
          <p:nvPr/>
        </p:nvSpPr>
        <p:spPr>
          <a:xfrm>
            <a:off x="6473952" y="2916936"/>
            <a:ext cx="1847088" cy="1417320"/>
          </a:xfrm>
          <a:prstGeom prst="roundRect">
            <a:avLst>
              <a:gd name="adj" fmla="val 5806"/>
            </a:avLst>
          </a:prstGeom>
          <a:solidFill>
            <a:srgbClr val="4C2A85"/>
          </a:solidFill>
          <a:ln/>
          <a:effectLst>
            <a:outerShdw sx="100000" sy="100000" kx="0" ky="0" algn="bl" rotWithShape="0" blurRad="101600" dist="38100" dir="2700000">
              <a:srgbClr val="000000">
                <a:alpha val="12000"/>
              </a:srgbClr>
            </a:outerShdw>
          </a:effectLst>
        </p:spPr>
      </p:sp>
      <p:sp>
        <p:nvSpPr>
          <p:cNvPr id="40" name="Text 31"/>
          <p:cNvSpPr/>
          <p:nvPr/>
        </p:nvSpPr>
        <p:spPr>
          <a:xfrm>
            <a:off x="6611112" y="3081528"/>
            <a:ext cx="1572768" cy="1088136"/>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Choose the type that matches your data shape — Terraform validates it on plan.</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4572000" cy="502920"/>
          </a:xfrm>
          <a:prstGeom prst="rect">
            <a:avLst/>
          </a:prstGeom>
          <a:noFill/>
          <a:ln/>
        </p:spPr>
        <p:txBody>
          <a:bodyPr wrap="square" lIns="0" tIns="0" rIns="0" bIns="0" rtlCol="0" anchor="ctr"/>
          <a:lstStyle/>
          <a:p>
            <a:pPr indent="0" marL="0">
              <a:buNone/>
            </a:pPr>
            <a:r>
              <a:rPr lang="en-US" sz="2600" b="1" dirty="0">
                <a:solidFill>
                  <a:srgbClr val="241C33"/>
                </a:solidFill>
                <a:latin typeface="Cambria" pitchFamily="34" charset="0"/>
                <a:ea typeface="Cambria" pitchFamily="34" charset="-122"/>
                <a:cs typeface="Cambria" pitchFamily="34" charset="-120"/>
              </a:rPr>
              <a:t>Defining Variables</a:t>
            </a:r>
            <a:endParaRPr lang="en-US" sz="2600" dirty="0"/>
          </a:p>
        </p:txBody>
      </p:sp>
      <p:sp>
        <p:nvSpPr>
          <p:cNvPr id="3" name="Text 1"/>
          <p:cNvSpPr/>
          <p:nvPr/>
        </p:nvSpPr>
        <p:spPr>
          <a:xfrm>
            <a:off x="548640" y="960120"/>
            <a:ext cx="3108960" cy="1188720"/>
          </a:xfrm>
          <a:prstGeom prst="rect">
            <a:avLst/>
          </a:prstGeom>
          <a:noFill/>
          <a:ln/>
        </p:spPr>
        <p:txBody>
          <a:bodyPr wrap="square" lIns="0" tIns="0" rIns="0" bIns="0" rtlCol="0" anchor="ctr"/>
          <a:lstStyle/>
          <a:p>
            <a:pPr indent="0" marL="0">
              <a:lnSpc>
                <a:spcPct val="130000"/>
              </a:lnSpc>
              <a:buNone/>
            </a:pPr>
            <a:r>
              <a:rPr lang="en-US" sz="1350" dirty="0">
                <a:solidFill>
                  <a:srgbClr val="241C33"/>
                </a:solidFill>
                <a:latin typeface="Calibri" pitchFamily="34" charset="0"/>
                <a:ea typeface="Calibri" pitchFamily="34" charset="-122"/>
                <a:cs typeface="Calibri" pitchFamily="34" charset="-120"/>
              </a:rPr>
              <a:t>Declare each variable in </a:t>
            </a:r>
            <a:pPr indent="0" marL="0">
              <a:lnSpc>
                <a:spcPct val="130000"/>
              </a:lnSpc>
              <a:buNone/>
            </a:pPr>
            <a:r>
              <a:rPr lang="en-US" sz="1250" b="1" dirty="0">
                <a:solidFill>
                  <a:srgbClr val="4C2A85"/>
                </a:solidFill>
                <a:latin typeface="Courier New" pitchFamily="34" charset="0"/>
                <a:ea typeface="Courier New" pitchFamily="34" charset="-122"/>
                <a:cs typeface="Courier New" pitchFamily="34" charset="-120"/>
              </a:rPr>
              <a:t>variables.tf</a:t>
            </a:r>
            <a:endParaRPr lang="en-US" sz="1350" dirty="0"/>
          </a:p>
          <a:p>
            <a:pPr indent="0" marL="0">
              <a:lnSpc>
                <a:spcPct val="130000"/>
              </a:lnSpc>
              <a:buNone/>
            </a:pPr>
            <a:r>
              <a:rPr lang="en-US" sz="1350" dirty="0">
                <a:solidFill>
                  <a:srgbClr val="241C33"/>
                </a:solidFill>
                <a:latin typeface="Calibri" pitchFamily="34" charset="0"/>
                <a:ea typeface="Calibri" pitchFamily="34" charset="-122"/>
                <a:cs typeface="Calibri" pitchFamily="34" charset="-120"/>
              </a:rPr>
              <a:t>Give it a description, a type, and</a:t>
            </a:r>
            <a:endParaRPr lang="en-US" sz="1350" dirty="0"/>
          </a:p>
          <a:p>
            <a:pPr indent="0" marL="0">
              <a:lnSpc>
                <a:spcPct val="130000"/>
              </a:lnSpc>
              <a:buNone/>
            </a:pPr>
            <a:r>
              <a:rPr lang="en-US" sz="1350" dirty="0">
                <a:solidFill>
                  <a:srgbClr val="241C33"/>
                </a:solidFill>
                <a:latin typeface="Calibri" pitchFamily="34" charset="0"/>
                <a:ea typeface="Calibri" pitchFamily="34" charset="-122"/>
                <a:cs typeface="Calibri" pitchFamily="34" charset="-120"/>
              </a:rPr>
              <a:t>an optional default value</a:t>
            </a:r>
            <a:endParaRPr lang="en-US" sz="1350" dirty="0"/>
          </a:p>
        </p:txBody>
      </p:sp>
      <p:sp>
        <p:nvSpPr>
          <p:cNvPr id="4" name="Text 2"/>
          <p:cNvSpPr/>
          <p:nvPr/>
        </p:nvSpPr>
        <p:spPr>
          <a:xfrm>
            <a:off x="548640" y="2286000"/>
            <a:ext cx="3108960" cy="128016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241C33"/>
                </a:solidFill>
                <a:latin typeface="Calibri" pitchFamily="34" charset="0"/>
                <a:ea typeface="Calibri" pitchFamily="34" charset="-122"/>
                <a:cs typeface="Calibri" pitchFamily="34" charset="-120"/>
              </a:rPr>
              <a:t>String default for instance_type</a:t>
            </a:r>
            <a:endParaRPr lang="en-US" sz="1250" dirty="0"/>
          </a:p>
          <a:p>
            <a:pPr marL="342900" indent="-342900">
              <a:spcAft>
                <a:spcPts val="800"/>
              </a:spcAft>
              <a:buSzPct val="100000"/>
              <a:buChar char="•"/>
            </a:pPr>
            <a:r>
              <a:rPr lang="en-US" sz="1250" dirty="0">
                <a:solidFill>
                  <a:srgbClr val="241C33"/>
                </a:solidFill>
                <a:latin typeface="Calibri" pitchFamily="34" charset="0"/>
                <a:ea typeface="Calibri" pitchFamily="34" charset="-122"/>
                <a:cs typeface="Calibri" pitchFamily="34" charset="-120"/>
              </a:rPr>
              <a:t>List of numbers for open ports</a:t>
            </a:r>
            <a:endParaRPr lang="en-US" sz="1250" dirty="0"/>
          </a:p>
          <a:p>
            <a:pPr marL="342900" indent="-342900">
              <a:spcAft>
                <a:spcPts val="800"/>
              </a:spcAft>
              <a:buSzPct val="100000"/>
              <a:buChar char="•"/>
            </a:pPr>
            <a:r>
              <a:rPr lang="en-US" sz="1250" dirty="0">
                <a:solidFill>
                  <a:srgbClr val="241C33"/>
                </a:solidFill>
                <a:latin typeface="Calibri" pitchFamily="34" charset="0"/>
                <a:ea typeface="Calibri" pitchFamily="34" charset="-122"/>
                <a:cs typeface="Calibri" pitchFamily="34" charset="-120"/>
              </a:rPr>
              <a:t>Map of strings for resource tags</a:t>
            </a:r>
            <a:endParaRPr lang="en-US" sz="1250" dirty="0"/>
          </a:p>
        </p:txBody>
      </p:sp>
      <p:sp>
        <p:nvSpPr>
          <p:cNvPr id="5" name="Shape 3"/>
          <p:cNvSpPr/>
          <p:nvPr/>
        </p:nvSpPr>
        <p:spPr>
          <a:xfrm>
            <a:off x="3886200" y="896112"/>
            <a:ext cx="4709160" cy="3657600"/>
          </a:xfrm>
          <a:prstGeom prst="roundRect">
            <a:avLst>
              <a:gd name="adj" fmla="val 2000"/>
            </a:avLst>
          </a:prstGeom>
          <a:solidFill>
            <a:srgbClr val="1E1B2E"/>
          </a:solidFill>
          <a:ln/>
          <a:effectLst>
            <a:outerShdw sx="100000" sy="100000" kx="0" ky="0" algn="bl" rotWithShape="0" blurRad="101600" dist="38100" dir="2700000">
              <a:srgbClr val="000000">
                <a:alpha val="12000"/>
              </a:srgbClr>
            </a:outerShdw>
          </a:effectLst>
        </p:spPr>
      </p:sp>
      <p:sp>
        <p:nvSpPr>
          <p:cNvPr id="6" name="Shape 4"/>
          <p:cNvSpPr/>
          <p:nvPr/>
        </p:nvSpPr>
        <p:spPr>
          <a:xfrm>
            <a:off x="4050792" y="1042416"/>
            <a:ext cx="91440" cy="91440"/>
          </a:xfrm>
          <a:prstGeom prst="ellipse">
            <a:avLst/>
          </a:prstGeom>
          <a:solidFill>
            <a:srgbClr val="FF5F56"/>
          </a:solidFill>
          <a:ln/>
        </p:spPr>
      </p:sp>
      <p:sp>
        <p:nvSpPr>
          <p:cNvPr id="7" name="Shape 5"/>
          <p:cNvSpPr/>
          <p:nvPr/>
        </p:nvSpPr>
        <p:spPr>
          <a:xfrm>
            <a:off x="4224528" y="1042416"/>
            <a:ext cx="91440" cy="91440"/>
          </a:xfrm>
          <a:prstGeom prst="ellipse">
            <a:avLst/>
          </a:prstGeom>
          <a:solidFill>
            <a:srgbClr val="FFBD2E"/>
          </a:solidFill>
          <a:ln/>
        </p:spPr>
      </p:sp>
      <p:sp>
        <p:nvSpPr>
          <p:cNvPr id="8" name="Shape 6"/>
          <p:cNvSpPr/>
          <p:nvPr/>
        </p:nvSpPr>
        <p:spPr>
          <a:xfrm>
            <a:off x="4398264" y="1042416"/>
            <a:ext cx="91440" cy="91440"/>
          </a:xfrm>
          <a:prstGeom prst="ellipse">
            <a:avLst/>
          </a:prstGeom>
          <a:solidFill>
            <a:srgbClr val="27C93F"/>
          </a:solidFill>
          <a:ln/>
        </p:spPr>
      </p:sp>
      <p:sp>
        <p:nvSpPr>
          <p:cNvPr id="9" name="Text 7"/>
          <p:cNvSpPr/>
          <p:nvPr/>
        </p:nvSpPr>
        <p:spPr>
          <a:xfrm>
            <a:off x="4617720" y="1014984"/>
            <a:ext cx="3611880" cy="164592"/>
          </a:xfrm>
          <a:prstGeom prst="rect">
            <a:avLst/>
          </a:prstGeom>
          <a:noFill/>
          <a:ln/>
        </p:spPr>
        <p:txBody>
          <a:bodyPr wrap="square" lIns="0" tIns="0" rIns="0" bIns="0" rtlCol="0" anchor="ctr"/>
          <a:lstStyle/>
          <a:p>
            <a:pPr algn="l" indent="0" marL="0">
              <a:buNone/>
            </a:pPr>
            <a:r>
              <a:rPr lang="en-US" sz="1000" dirty="0">
                <a:solidFill>
                  <a:srgbClr val="9A93B5"/>
                </a:solidFill>
                <a:latin typeface="Courier New" pitchFamily="34" charset="0"/>
                <a:ea typeface="Courier New" pitchFamily="34" charset="-122"/>
                <a:cs typeface="Courier New" pitchFamily="34" charset="-120"/>
              </a:rPr>
              <a:t>variables.tf</a:t>
            </a:r>
            <a:endParaRPr lang="en-US" sz="1000" dirty="0"/>
          </a:p>
        </p:txBody>
      </p:sp>
      <p:sp>
        <p:nvSpPr>
          <p:cNvPr id="10" name="Text 8"/>
          <p:cNvSpPr/>
          <p:nvPr/>
        </p:nvSpPr>
        <p:spPr>
          <a:xfrm>
            <a:off x="4142232" y="1280160"/>
            <a:ext cx="4197096" cy="3108960"/>
          </a:xfrm>
          <a:prstGeom prst="rect">
            <a:avLst/>
          </a:prstGeom>
          <a:noFill/>
          <a:ln/>
        </p:spPr>
        <p:txBody>
          <a:bodyPr wrap="square" lIns="0" tIns="0" rIns="0" bIns="0" rtlCol="0" anchor="t"/>
          <a:lstStyle/>
          <a:p>
            <a:pPr indent="0" marL="0">
              <a:lnSpc>
                <a:spcPct val="112000"/>
              </a:lnSpc>
              <a:buNone/>
            </a:pPr>
            <a:r>
              <a:rPr lang="en-US" sz="1130" dirty="0">
                <a:solidFill>
                  <a:srgbClr val="C792EA"/>
                </a:solidFill>
                <a:latin typeface="Courier New" pitchFamily="34" charset="0"/>
                <a:ea typeface="Courier New" pitchFamily="34" charset="-122"/>
                <a:cs typeface="Courier New" pitchFamily="34" charset="-120"/>
              </a:rPr>
              <a:t>variable </a:t>
            </a:r>
            <a:pPr indent="0" marL="0">
              <a:lnSpc>
                <a:spcPct val="112000"/>
              </a:lnSpc>
              <a:buNone/>
            </a:pPr>
            <a:r>
              <a:rPr lang="en-US" sz="1130" dirty="0">
                <a:solidFill>
                  <a:srgbClr val="9CDCB4"/>
                </a:solidFill>
                <a:latin typeface="Courier New" pitchFamily="34" charset="0"/>
                <a:ea typeface="Courier New" pitchFamily="34" charset="-122"/>
                <a:cs typeface="Courier New" pitchFamily="34" charset="-120"/>
              </a:rPr>
              <a:t>"instance_type"</a:t>
            </a:r>
            <a:pPr indent="0" marL="0">
              <a:lnSpc>
                <a:spcPct val="112000"/>
              </a:lnSpc>
              <a:buNone/>
            </a:pPr>
            <a:r>
              <a:rPr lang="en-US" sz="1130" dirty="0">
                <a:solidFill>
                  <a:srgbClr val="E4E1F0"/>
                </a:solidFill>
                <a:latin typeface="Courier New" pitchFamily="34" charset="0"/>
                <a:ea typeface="Courier New" pitchFamily="34" charset="-122"/>
                <a:cs typeface="Courier New" pitchFamily="34" charset="-120"/>
              </a:rPr>
              <a:t> {</a:t>
            </a:r>
            <a:endParaRPr lang="en-US" sz="1130" dirty="0"/>
          </a:p>
          <a:p>
            <a:pPr indent="0" marL="0">
              <a:lnSpc>
                <a:spcPct val="112000"/>
              </a:lnSpc>
              <a:buNone/>
            </a:pPr>
            <a:r>
              <a:rPr lang="en-US" sz="1130" dirty="0">
                <a:solidFill>
                  <a:srgbClr val="7FB3E8"/>
                </a:solidFill>
                <a:latin typeface="Courier New" pitchFamily="34" charset="0"/>
                <a:ea typeface="Courier New" pitchFamily="34" charset="-122"/>
                <a:cs typeface="Courier New" pitchFamily="34" charset="-120"/>
              </a:rPr>
              <a:t>  description</a:t>
            </a:r>
            <a:pPr indent="0" marL="0">
              <a:lnSpc>
                <a:spcPct val="112000"/>
              </a:lnSpc>
              <a:buNone/>
            </a:pPr>
            <a:r>
              <a:rPr lang="en-US" sz="1130" dirty="0">
                <a:solidFill>
                  <a:srgbClr val="9CDCB4"/>
                </a:solidFill>
                <a:latin typeface="Courier New" pitchFamily="34" charset="0"/>
                <a:ea typeface="Courier New" pitchFamily="34" charset="-122"/>
                <a:cs typeface="Courier New" pitchFamily="34" charset="-120"/>
              </a:rPr>
              <a:t> = "Type of EC2 instance"</a:t>
            </a:r>
            <a:endParaRPr lang="en-US" sz="1130" dirty="0"/>
          </a:p>
          <a:p>
            <a:pPr indent="0" marL="0">
              <a:lnSpc>
                <a:spcPct val="112000"/>
              </a:lnSpc>
              <a:buNone/>
            </a:pPr>
            <a:r>
              <a:rPr lang="en-US" sz="1130" dirty="0">
                <a:solidFill>
                  <a:srgbClr val="7FB3E8"/>
                </a:solidFill>
                <a:latin typeface="Courier New" pitchFamily="34" charset="0"/>
                <a:ea typeface="Courier New" pitchFamily="34" charset="-122"/>
                <a:cs typeface="Courier New" pitchFamily="34" charset="-120"/>
              </a:rPr>
              <a:t>  type       </a:t>
            </a:r>
            <a:pPr indent="0" marL="0">
              <a:lnSpc>
                <a:spcPct val="112000"/>
              </a:lnSpc>
              <a:buNone/>
            </a:pPr>
            <a:r>
              <a:rPr lang="en-US" sz="1130" dirty="0">
                <a:solidFill>
                  <a:srgbClr val="E4E1F0"/>
                </a:solidFill>
                <a:latin typeface="Courier New" pitchFamily="34" charset="0"/>
                <a:ea typeface="Courier New" pitchFamily="34" charset="-122"/>
                <a:cs typeface="Courier New" pitchFamily="34" charset="-120"/>
              </a:rPr>
              <a:t> = string</a:t>
            </a:r>
            <a:endParaRPr lang="en-US" sz="1130" dirty="0"/>
          </a:p>
          <a:p>
            <a:pPr indent="0" marL="0">
              <a:lnSpc>
                <a:spcPct val="112000"/>
              </a:lnSpc>
              <a:buNone/>
            </a:pPr>
            <a:r>
              <a:rPr lang="en-US" sz="1130" dirty="0">
                <a:solidFill>
                  <a:srgbClr val="7FB3E8"/>
                </a:solidFill>
                <a:latin typeface="Courier New" pitchFamily="34" charset="0"/>
                <a:ea typeface="Courier New" pitchFamily="34" charset="-122"/>
                <a:cs typeface="Courier New" pitchFamily="34" charset="-120"/>
              </a:rPr>
              <a:t>  default    </a:t>
            </a:r>
            <a:pPr indent="0" marL="0">
              <a:lnSpc>
                <a:spcPct val="112000"/>
              </a:lnSpc>
              <a:buNone/>
            </a:pPr>
            <a:r>
              <a:rPr lang="en-US" sz="1130" dirty="0">
                <a:solidFill>
                  <a:srgbClr val="9CDCB4"/>
                </a:solidFill>
                <a:latin typeface="Courier New" pitchFamily="34" charset="0"/>
                <a:ea typeface="Courier New" pitchFamily="34" charset="-122"/>
                <a:cs typeface="Courier New" pitchFamily="34" charset="-120"/>
              </a:rPr>
              <a:t> = "t2.micro"</a:t>
            </a:r>
            <a:endParaRPr lang="en-US" sz="1130" dirty="0"/>
          </a:p>
          <a:p>
            <a:pPr indent="0" marL="0">
              <a:lnSpc>
                <a:spcPct val="112000"/>
              </a:lnSpc>
              <a:buNone/>
            </a:pPr>
            <a:r>
              <a:rPr lang="en-US" sz="1130" dirty="0">
                <a:solidFill>
                  <a:srgbClr val="E4E1F0"/>
                </a:solidFill>
                <a:latin typeface="Courier New" pitchFamily="34" charset="0"/>
                <a:ea typeface="Courier New" pitchFamily="34" charset="-122"/>
                <a:cs typeface="Courier New" pitchFamily="34" charset="-120"/>
              </a:rPr>
              <a:t>}</a:t>
            </a:r>
            <a:endParaRPr lang="en-US" sz="1130" dirty="0"/>
          </a:p>
          <a:p>
            <a:pPr indent="0" marL="0">
              <a:lnSpc>
                <a:spcPct val="112000"/>
              </a:lnSpc>
              <a:buNone/>
            </a:pPr>
            <a:endParaRPr lang="en-US" sz="1130" dirty="0"/>
          </a:p>
          <a:p>
            <a:pPr indent="0" marL="0">
              <a:lnSpc>
                <a:spcPct val="112000"/>
              </a:lnSpc>
              <a:buNone/>
            </a:pPr>
            <a:r>
              <a:rPr lang="en-US" sz="1130" dirty="0">
                <a:solidFill>
                  <a:srgbClr val="C792EA"/>
                </a:solidFill>
                <a:latin typeface="Courier New" pitchFamily="34" charset="0"/>
                <a:ea typeface="Courier New" pitchFamily="34" charset="-122"/>
                <a:cs typeface="Courier New" pitchFamily="34" charset="-120"/>
              </a:rPr>
              <a:t>variable </a:t>
            </a:r>
            <a:pPr indent="0" marL="0">
              <a:lnSpc>
                <a:spcPct val="112000"/>
              </a:lnSpc>
              <a:buNone/>
            </a:pPr>
            <a:r>
              <a:rPr lang="en-US" sz="1130" dirty="0">
                <a:solidFill>
                  <a:srgbClr val="9CDCB4"/>
                </a:solidFill>
                <a:latin typeface="Courier New" pitchFamily="34" charset="0"/>
                <a:ea typeface="Courier New" pitchFamily="34" charset="-122"/>
                <a:cs typeface="Courier New" pitchFamily="34" charset="-120"/>
              </a:rPr>
              <a:t>"port_numbers"</a:t>
            </a:r>
            <a:pPr indent="0" marL="0">
              <a:lnSpc>
                <a:spcPct val="112000"/>
              </a:lnSpc>
              <a:buNone/>
            </a:pPr>
            <a:r>
              <a:rPr lang="en-US" sz="1130" dirty="0">
                <a:solidFill>
                  <a:srgbClr val="E4E1F0"/>
                </a:solidFill>
                <a:latin typeface="Courier New" pitchFamily="34" charset="0"/>
                <a:ea typeface="Courier New" pitchFamily="34" charset="-122"/>
                <a:cs typeface="Courier New" pitchFamily="34" charset="-120"/>
              </a:rPr>
              <a:t> {</a:t>
            </a:r>
            <a:endParaRPr lang="en-US" sz="1130" dirty="0"/>
          </a:p>
          <a:p>
            <a:pPr indent="0" marL="0">
              <a:lnSpc>
                <a:spcPct val="112000"/>
              </a:lnSpc>
              <a:buNone/>
            </a:pPr>
            <a:r>
              <a:rPr lang="en-US" sz="1130" dirty="0">
                <a:solidFill>
                  <a:srgbClr val="7FB3E8"/>
                </a:solidFill>
                <a:latin typeface="Courier New" pitchFamily="34" charset="0"/>
                <a:ea typeface="Courier New" pitchFamily="34" charset="-122"/>
                <a:cs typeface="Courier New" pitchFamily="34" charset="-120"/>
              </a:rPr>
              <a:t>  type    </a:t>
            </a:r>
            <a:pPr indent="0" marL="0">
              <a:lnSpc>
                <a:spcPct val="112000"/>
              </a:lnSpc>
              <a:buNone/>
            </a:pPr>
            <a:r>
              <a:rPr lang="en-US" sz="1130" dirty="0">
                <a:solidFill>
                  <a:srgbClr val="E4E1F0"/>
                </a:solidFill>
                <a:latin typeface="Courier New" pitchFamily="34" charset="0"/>
                <a:ea typeface="Courier New" pitchFamily="34" charset="-122"/>
                <a:cs typeface="Courier New" pitchFamily="34" charset="-120"/>
              </a:rPr>
              <a:t> = list(number)</a:t>
            </a:r>
            <a:endParaRPr lang="en-US" sz="1130" dirty="0"/>
          </a:p>
          <a:p>
            <a:pPr indent="0" marL="0">
              <a:lnSpc>
                <a:spcPct val="112000"/>
              </a:lnSpc>
              <a:buNone/>
            </a:pPr>
            <a:r>
              <a:rPr lang="en-US" sz="1130" dirty="0">
                <a:solidFill>
                  <a:srgbClr val="7FB3E8"/>
                </a:solidFill>
                <a:latin typeface="Courier New" pitchFamily="34" charset="0"/>
                <a:ea typeface="Courier New" pitchFamily="34" charset="-122"/>
                <a:cs typeface="Courier New" pitchFamily="34" charset="-120"/>
              </a:rPr>
              <a:t>  default</a:t>
            </a:r>
            <a:pPr indent="0" marL="0">
              <a:lnSpc>
                <a:spcPct val="112000"/>
              </a:lnSpc>
              <a:buNone/>
            </a:pPr>
            <a:r>
              <a:rPr lang="en-US" sz="1130" dirty="0">
                <a:solidFill>
                  <a:srgbClr val="E4E1F0"/>
                </a:solidFill>
                <a:latin typeface="Courier New" pitchFamily="34" charset="0"/>
                <a:ea typeface="Courier New" pitchFamily="34" charset="-122"/>
                <a:cs typeface="Courier New" pitchFamily="34" charset="-120"/>
              </a:rPr>
              <a:t> = [80, 443, 22]</a:t>
            </a:r>
            <a:endParaRPr lang="en-US" sz="1130" dirty="0"/>
          </a:p>
          <a:p>
            <a:pPr indent="0" marL="0">
              <a:lnSpc>
                <a:spcPct val="112000"/>
              </a:lnSpc>
              <a:buNone/>
            </a:pPr>
            <a:r>
              <a:rPr lang="en-US" sz="1130" dirty="0">
                <a:solidFill>
                  <a:srgbClr val="E4E1F0"/>
                </a:solidFill>
                <a:latin typeface="Courier New" pitchFamily="34" charset="0"/>
                <a:ea typeface="Courier New" pitchFamily="34" charset="-122"/>
                <a:cs typeface="Courier New" pitchFamily="34" charset="-120"/>
              </a:rPr>
              <a:t>}</a:t>
            </a:r>
            <a:endParaRPr lang="en-US" sz="1130" dirty="0"/>
          </a:p>
          <a:p>
            <a:pPr indent="0" marL="0">
              <a:lnSpc>
                <a:spcPct val="112000"/>
              </a:lnSpc>
              <a:buNone/>
            </a:pPr>
            <a:endParaRPr lang="en-US" sz="1130" dirty="0"/>
          </a:p>
          <a:p>
            <a:pPr indent="0" marL="0">
              <a:lnSpc>
                <a:spcPct val="112000"/>
              </a:lnSpc>
              <a:buNone/>
            </a:pPr>
            <a:r>
              <a:rPr lang="en-US" sz="1130" dirty="0">
                <a:solidFill>
                  <a:srgbClr val="C792EA"/>
                </a:solidFill>
                <a:latin typeface="Courier New" pitchFamily="34" charset="0"/>
                <a:ea typeface="Courier New" pitchFamily="34" charset="-122"/>
                <a:cs typeface="Courier New" pitchFamily="34" charset="-120"/>
              </a:rPr>
              <a:t>variable </a:t>
            </a:r>
            <a:pPr indent="0" marL="0">
              <a:lnSpc>
                <a:spcPct val="112000"/>
              </a:lnSpc>
              <a:buNone/>
            </a:pPr>
            <a:r>
              <a:rPr lang="en-US" sz="1130" dirty="0">
                <a:solidFill>
                  <a:srgbClr val="9CDCB4"/>
                </a:solidFill>
                <a:latin typeface="Courier New" pitchFamily="34" charset="0"/>
                <a:ea typeface="Courier New" pitchFamily="34" charset="-122"/>
                <a:cs typeface="Courier New" pitchFamily="34" charset="-120"/>
              </a:rPr>
              <a:t>"instance_tags"</a:t>
            </a:r>
            <a:pPr indent="0" marL="0">
              <a:lnSpc>
                <a:spcPct val="112000"/>
              </a:lnSpc>
              <a:buNone/>
            </a:pPr>
            <a:r>
              <a:rPr lang="en-US" sz="1130" dirty="0">
                <a:solidFill>
                  <a:srgbClr val="E4E1F0"/>
                </a:solidFill>
                <a:latin typeface="Courier New" pitchFamily="34" charset="0"/>
                <a:ea typeface="Courier New" pitchFamily="34" charset="-122"/>
                <a:cs typeface="Courier New" pitchFamily="34" charset="-120"/>
              </a:rPr>
              <a:t> {</a:t>
            </a:r>
            <a:endParaRPr lang="en-US" sz="1130" dirty="0"/>
          </a:p>
          <a:p>
            <a:pPr indent="0" marL="0">
              <a:lnSpc>
                <a:spcPct val="112000"/>
              </a:lnSpc>
              <a:buNone/>
            </a:pPr>
            <a:r>
              <a:rPr lang="en-US" sz="1130" dirty="0">
                <a:solidFill>
                  <a:srgbClr val="E4E1F0"/>
                </a:solidFill>
                <a:latin typeface="Courier New" pitchFamily="34" charset="0"/>
                <a:ea typeface="Courier New" pitchFamily="34" charset="-122"/>
                <a:cs typeface="Courier New" pitchFamily="34" charset="-120"/>
              </a:rPr>
              <a:t>  type = map(string)</a:t>
            </a:r>
            <a:endParaRPr lang="en-US" sz="1130" dirty="0"/>
          </a:p>
          <a:p>
            <a:pPr indent="0" marL="0">
              <a:lnSpc>
                <a:spcPct val="112000"/>
              </a:lnSpc>
              <a:buNone/>
            </a:pPr>
            <a:r>
              <a:rPr lang="en-US" sz="1130" dirty="0">
                <a:solidFill>
                  <a:srgbClr val="E4E1F0"/>
                </a:solidFill>
                <a:latin typeface="Courier New" pitchFamily="34" charset="0"/>
                <a:ea typeface="Courier New" pitchFamily="34" charset="-122"/>
                <a:cs typeface="Courier New" pitchFamily="34" charset="-120"/>
              </a:rPr>
              <a:t>  default = {</a:t>
            </a:r>
            <a:endParaRPr lang="en-US" sz="1130" dirty="0"/>
          </a:p>
          <a:p>
            <a:pPr indent="0" marL="0">
              <a:lnSpc>
                <a:spcPct val="112000"/>
              </a:lnSpc>
              <a:buNone/>
            </a:pPr>
            <a:r>
              <a:rPr lang="en-US" sz="1130" dirty="0">
                <a:solidFill>
                  <a:srgbClr val="9CDCB4"/>
                </a:solidFill>
                <a:latin typeface="Courier New" pitchFamily="34" charset="0"/>
                <a:ea typeface="Courier New" pitchFamily="34" charset="-122"/>
                <a:cs typeface="Courier New" pitchFamily="34" charset="-120"/>
              </a:rPr>
              <a:t>    Name  = "WebServer"</a:t>
            </a:r>
            <a:endParaRPr lang="en-US" sz="1130" dirty="0"/>
          </a:p>
          <a:p>
            <a:pPr indent="0" marL="0">
              <a:lnSpc>
                <a:spcPct val="112000"/>
              </a:lnSpc>
              <a:buNone/>
            </a:pPr>
            <a:r>
              <a:rPr lang="en-US" sz="1130" dirty="0">
                <a:solidFill>
                  <a:srgbClr val="9CDCB4"/>
                </a:solidFill>
                <a:latin typeface="Courier New" pitchFamily="34" charset="0"/>
                <a:ea typeface="Courier New" pitchFamily="34" charset="-122"/>
                <a:cs typeface="Courier New" pitchFamily="34" charset="-120"/>
              </a:rPr>
              <a:t>    Env   = "staging"</a:t>
            </a:r>
            <a:endParaRPr lang="en-US" sz="1130" dirty="0"/>
          </a:p>
          <a:p>
            <a:pPr indent="0" marL="0">
              <a:lnSpc>
                <a:spcPct val="112000"/>
              </a:lnSpc>
              <a:buNone/>
            </a:pPr>
            <a:r>
              <a:rPr lang="en-US" sz="1130" dirty="0">
                <a:solidFill>
                  <a:srgbClr val="E4E1F0"/>
                </a:solidFill>
                <a:latin typeface="Courier New" pitchFamily="34" charset="0"/>
                <a:ea typeface="Courier New" pitchFamily="34" charset="-122"/>
                <a:cs typeface="Courier New" pitchFamily="34" charset="-120"/>
              </a:rPr>
              <a:t>  }</a:t>
            </a:r>
            <a:endParaRPr lang="en-US" sz="1130" dirty="0"/>
          </a:p>
          <a:p>
            <a:pPr indent="0" marL="0">
              <a:lnSpc>
                <a:spcPct val="112000"/>
              </a:lnSpc>
              <a:buNone/>
            </a:pPr>
            <a:r>
              <a:rPr lang="en-US" sz="1130" dirty="0">
                <a:solidFill>
                  <a:srgbClr val="E4E1F0"/>
                </a:solidFill>
                <a:latin typeface="Courier New" pitchFamily="34" charset="0"/>
                <a:ea typeface="Courier New" pitchFamily="34" charset="-122"/>
                <a:cs typeface="Courier New" pitchFamily="34" charset="-120"/>
              </a:rPr>
              <a:t>}</a:t>
            </a:r>
            <a:endParaRPr lang="en-US" sz="113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772400" cy="502920"/>
          </a:xfrm>
          <a:prstGeom prst="rect">
            <a:avLst/>
          </a:prstGeom>
          <a:noFill/>
          <a:ln/>
        </p:spPr>
        <p:txBody>
          <a:bodyPr wrap="square" lIns="0" tIns="0" rIns="0" bIns="0" rtlCol="0" anchor="ctr"/>
          <a:lstStyle/>
          <a:p>
            <a:pPr indent="0" marL="0">
              <a:buNone/>
            </a:pPr>
            <a:r>
              <a:rPr lang="en-US" sz="2600" b="1" dirty="0">
                <a:solidFill>
                  <a:srgbClr val="241C33"/>
                </a:solidFill>
                <a:latin typeface="Cambria" pitchFamily="34" charset="0"/>
                <a:ea typeface="Cambria" pitchFamily="34" charset="-122"/>
                <a:cs typeface="Cambria" pitchFamily="34" charset="-120"/>
              </a:rPr>
              <a:t>Using Variables in main.tf</a:t>
            </a:r>
            <a:endParaRPr lang="en-US" sz="2600" dirty="0"/>
          </a:p>
        </p:txBody>
      </p:sp>
      <p:sp>
        <p:nvSpPr>
          <p:cNvPr id="3" name="Text 1"/>
          <p:cNvSpPr/>
          <p:nvPr/>
        </p:nvSpPr>
        <p:spPr>
          <a:xfrm>
            <a:off x="548640" y="841248"/>
            <a:ext cx="7772400" cy="320040"/>
          </a:xfrm>
          <a:prstGeom prst="rect">
            <a:avLst/>
          </a:prstGeom>
          <a:noFill/>
          <a:ln/>
        </p:spPr>
        <p:txBody>
          <a:bodyPr wrap="square" lIns="0" tIns="0" rIns="0" bIns="0" rtlCol="0" anchor="ctr"/>
          <a:lstStyle/>
          <a:p>
            <a:pPr indent="0" marL="0">
              <a:buNone/>
            </a:pPr>
            <a:r>
              <a:rPr lang="en-US" sz="1300" dirty="0">
                <a:solidFill>
                  <a:srgbClr val="6B6480"/>
                </a:solidFill>
                <a:latin typeface="Calibri" pitchFamily="34" charset="0"/>
                <a:ea typeface="Calibri" pitchFamily="34" charset="-122"/>
                <a:cs typeface="Calibri" pitchFamily="34" charset="-120"/>
              </a:rPr>
              <a:t>Reference any declared variable with the var. prefix</a:t>
            </a:r>
            <a:endParaRPr lang="en-US" sz="1300" dirty="0"/>
          </a:p>
        </p:txBody>
      </p:sp>
      <p:sp>
        <p:nvSpPr>
          <p:cNvPr id="4" name="Shape 2"/>
          <p:cNvSpPr/>
          <p:nvPr/>
        </p:nvSpPr>
        <p:spPr>
          <a:xfrm>
            <a:off x="548640" y="1325880"/>
            <a:ext cx="8046720" cy="1600200"/>
          </a:xfrm>
          <a:prstGeom prst="roundRect">
            <a:avLst>
              <a:gd name="adj" fmla="val 4571"/>
            </a:avLst>
          </a:prstGeom>
          <a:solidFill>
            <a:srgbClr val="1E1B2E"/>
          </a:solidFill>
          <a:ln/>
          <a:effectLst>
            <a:outerShdw sx="100000" sy="100000" kx="0" ky="0" algn="bl" rotWithShape="0" blurRad="101600" dist="38100" dir="2700000">
              <a:srgbClr val="000000">
                <a:alpha val="12000"/>
              </a:srgbClr>
            </a:outerShdw>
          </a:effectLst>
        </p:spPr>
      </p:sp>
      <p:sp>
        <p:nvSpPr>
          <p:cNvPr id="5" name="Shape 3"/>
          <p:cNvSpPr/>
          <p:nvPr/>
        </p:nvSpPr>
        <p:spPr>
          <a:xfrm>
            <a:off x="713232" y="1472184"/>
            <a:ext cx="91440" cy="91440"/>
          </a:xfrm>
          <a:prstGeom prst="ellipse">
            <a:avLst/>
          </a:prstGeom>
          <a:solidFill>
            <a:srgbClr val="FF5F56"/>
          </a:solidFill>
          <a:ln/>
        </p:spPr>
      </p:sp>
      <p:sp>
        <p:nvSpPr>
          <p:cNvPr id="6" name="Shape 4"/>
          <p:cNvSpPr/>
          <p:nvPr/>
        </p:nvSpPr>
        <p:spPr>
          <a:xfrm>
            <a:off x="886968" y="1472184"/>
            <a:ext cx="91440" cy="91440"/>
          </a:xfrm>
          <a:prstGeom prst="ellipse">
            <a:avLst/>
          </a:prstGeom>
          <a:solidFill>
            <a:srgbClr val="FFBD2E"/>
          </a:solidFill>
          <a:ln/>
        </p:spPr>
      </p:sp>
      <p:sp>
        <p:nvSpPr>
          <p:cNvPr id="7" name="Shape 5"/>
          <p:cNvSpPr/>
          <p:nvPr/>
        </p:nvSpPr>
        <p:spPr>
          <a:xfrm>
            <a:off x="1060704" y="1472184"/>
            <a:ext cx="91440" cy="91440"/>
          </a:xfrm>
          <a:prstGeom prst="ellipse">
            <a:avLst/>
          </a:prstGeom>
          <a:solidFill>
            <a:srgbClr val="27C93F"/>
          </a:solidFill>
          <a:ln/>
        </p:spPr>
      </p:sp>
      <p:sp>
        <p:nvSpPr>
          <p:cNvPr id="8" name="Text 6"/>
          <p:cNvSpPr/>
          <p:nvPr/>
        </p:nvSpPr>
        <p:spPr>
          <a:xfrm>
            <a:off x="1280160" y="1444752"/>
            <a:ext cx="6949440" cy="164592"/>
          </a:xfrm>
          <a:prstGeom prst="rect">
            <a:avLst/>
          </a:prstGeom>
          <a:noFill/>
          <a:ln/>
        </p:spPr>
        <p:txBody>
          <a:bodyPr wrap="square" lIns="0" tIns="0" rIns="0" bIns="0" rtlCol="0" anchor="ctr"/>
          <a:lstStyle/>
          <a:p>
            <a:pPr algn="l" indent="0" marL="0">
              <a:buNone/>
            </a:pPr>
            <a:r>
              <a:rPr lang="en-US" sz="1000" dirty="0">
                <a:solidFill>
                  <a:srgbClr val="9A93B5"/>
                </a:solidFill>
                <a:latin typeface="Courier New" pitchFamily="34" charset="0"/>
                <a:ea typeface="Courier New" pitchFamily="34" charset="-122"/>
                <a:cs typeface="Courier New" pitchFamily="34" charset="-120"/>
              </a:rPr>
              <a:t>main.tf</a:t>
            </a:r>
            <a:endParaRPr lang="en-US" sz="1000" dirty="0"/>
          </a:p>
        </p:txBody>
      </p:sp>
      <p:sp>
        <p:nvSpPr>
          <p:cNvPr id="9" name="Text 7"/>
          <p:cNvSpPr/>
          <p:nvPr/>
        </p:nvSpPr>
        <p:spPr>
          <a:xfrm>
            <a:off x="804672" y="1709928"/>
            <a:ext cx="7534656" cy="1051560"/>
          </a:xfrm>
          <a:prstGeom prst="rect">
            <a:avLst/>
          </a:prstGeom>
          <a:noFill/>
          <a:ln/>
        </p:spPr>
        <p:txBody>
          <a:bodyPr wrap="square" lIns="0" tIns="0" rIns="0" bIns="0" rtlCol="0" anchor="t"/>
          <a:lstStyle/>
          <a:p>
            <a:pPr indent="0" marL="0">
              <a:lnSpc>
                <a:spcPct val="112000"/>
              </a:lnSpc>
              <a:buNone/>
            </a:pPr>
            <a:r>
              <a:rPr lang="en-US" sz="1250" dirty="0">
                <a:solidFill>
                  <a:srgbClr val="C792EA"/>
                </a:solidFill>
                <a:latin typeface="Courier New" pitchFamily="34" charset="0"/>
                <a:ea typeface="Courier New" pitchFamily="34" charset="-122"/>
                <a:cs typeface="Courier New" pitchFamily="34" charset="-120"/>
              </a:rPr>
              <a:t>resource </a:t>
            </a:r>
            <a:pPr indent="0" marL="0">
              <a:lnSpc>
                <a:spcPct val="112000"/>
              </a:lnSpc>
              <a:buNone/>
            </a:pPr>
            <a:r>
              <a:rPr lang="en-US" sz="1250" dirty="0">
                <a:solidFill>
                  <a:srgbClr val="9CDCB4"/>
                </a:solidFill>
                <a:latin typeface="Courier New" pitchFamily="34" charset="0"/>
                <a:ea typeface="Courier New" pitchFamily="34" charset="-122"/>
                <a:cs typeface="Courier New" pitchFamily="34" charset="-120"/>
              </a:rPr>
              <a:t>"aws_instance" </a:t>
            </a:r>
            <a:pPr indent="0" marL="0">
              <a:lnSpc>
                <a:spcPct val="112000"/>
              </a:lnSpc>
              <a:buNone/>
            </a:pPr>
            <a:r>
              <a:rPr lang="en-US" sz="1250" dirty="0">
                <a:solidFill>
                  <a:srgbClr val="9CDCB4"/>
                </a:solidFill>
                <a:latin typeface="Courier New" pitchFamily="34" charset="0"/>
                <a:ea typeface="Courier New" pitchFamily="34" charset="-122"/>
                <a:cs typeface="Courier New" pitchFamily="34" charset="-120"/>
              </a:rPr>
              <a:t>"example"</a:t>
            </a:r>
            <a:pPr indent="0" marL="0">
              <a:lnSpc>
                <a:spcPct val="112000"/>
              </a:lnSpc>
              <a:buNone/>
            </a:pPr>
            <a:r>
              <a:rPr lang="en-US" sz="1250" dirty="0">
                <a:solidFill>
                  <a:srgbClr val="E4E1F0"/>
                </a:solidFill>
                <a:latin typeface="Courier New" pitchFamily="34" charset="0"/>
                <a:ea typeface="Courier New" pitchFamily="34" charset="-122"/>
                <a:cs typeface="Courier New" pitchFamily="34" charset="-120"/>
              </a:rPr>
              <a:t> {</a:t>
            </a:r>
            <a:endParaRPr lang="en-US" sz="1250" dirty="0"/>
          </a:p>
          <a:p>
            <a:pPr indent="0" marL="0">
              <a:lnSpc>
                <a:spcPct val="112000"/>
              </a:lnSpc>
              <a:buNone/>
            </a:pPr>
            <a:r>
              <a:rPr lang="en-US" sz="1250" dirty="0">
                <a:solidFill>
                  <a:srgbClr val="7FB3E8"/>
                </a:solidFill>
                <a:latin typeface="Courier New" pitchFamily="34" charset="0"/>
                <a:ea typeface="Courier New" pitchFamily="34" charset="-122"/>
                <a:cs typeface="Courier New" pitchFamily="34" charset="-120"/>
              </a:rPr>
              <a:t>  ami          </a:t>
            </a:r>
            <a:pPr indent="0" marL="0">
              <a:lnSpc>
                <a:spcPct val="112000"/>
              </a:lnSpc>
              <a:buNone/>
            </a:pPr>
            <a:r>
              <a:rPr lang="en-US" sz="1250" dirty="0">
                <a:solidFill>
                  <a:srgbClr val="9CDCB4"/>
                </a:solidFill>
                <a:latin typeface="Courier New" pitchFamily="34" charset="0"/>
                <a:ea typeface="Courier New" pitchFamily="34" charset="-122"/>
                <a:cs typeface="Courier New" pitchFamily="34" charset="-120"/>
              </a:rPr>
              <a:t> = "ami-0c55b159cbfafe1f0"</a:t>
            </a:r>
            <a:endParaRPr lang="en-US" sz="1250" dirty="0"/>
          </a:p>
          <a:p>
            <a:pPr indent="0" marL="0">
              <a:lnSpc>
                <a:spcPct val="112000"/>
              </a:lnSpc>
              <a:buNone/>
            </a:pPr>
            <a:r>
              <a:rPr lang="en-US" sz="1250" dirty="0">
                <a:solidFill>
                  <a:srgbClr val="7FB3E8"/>
                </a:solidFill>
                <a:latin typeface="Courier New" pitchFamily="34" charset="0"/>
                <a:ea typeface="Courier New" pitchFamily="34" charset="-122"/>
                <a:cs typeface="Courier New" pitchFamily="34" charset="-120"/>
              </a:rPr>
              <a:t>  instance_type</a:t>
            </a:r>
            <a:pPr indent="0" marL="0">
              <a:lnSpc>
                <a:spcPct val="112000"/>
              </a:lnSpc>
              <a:buNone/>
            </a:pPr>
            <a:r>
              <a:rPr lang="en-US" sz="1250" dirty="0">
                <a:solidFill>
                  <a:srgbClr val="E4E1F0"/>
                </a:solidFill>
                <a:latin typeface="Courier New" pitchFamily="34" charset="0"/>
                <a:ea typeface="Courier New" pitchFamily="34" charset="-122"/>
                <a:cs typeface="Courier New" pitchFamily="34" charset="-120"/>
              </a:rPr>
              <a:t> = var.instance_type</a:t>
            </a:r>
            <a:endParaRPr lang="en-US" sz="1250" dirty="0"/>
          </a:p>
          <a:p>
            <a:pPr indent="0" marL="0">
              <a:lnSpc>
                <a:spcPct val="112000"/>
              </a:lnSpc>
              <a:buNone/>
            </a:pPr>
            <a:r>
              <a:rPr lang="en-US" sz="1250" dirty="0">
                <a:solidFill>
                  <a:srgbClr val="7FB3E8"/>
                </a:solidFill>
                <a:latin typeface="Courier New" pitchFamily="34" charset="0"/>
                <a:ea typeface="Courier New" pitchFamily="34" charset="-122"/>
                <a:cs typeface="Courier New" pitchFamily="34" charset="-120"/>
              </a:rPr>
              <a:t>  tags         </a:t>
            </a:r>
            <a:pPr indent="0" marL="0">
              <a:lnSpc>
                <a:spcPct val="112000"/>
              </a:lnSpc>
              <a:buNone/>
            </a:pPr>
            <a:r>
              <a:rPr lang="en-US" sz="1250" dirty="0">
                <a:solidFill>
                  <a:srgbClr val="E4E1F0"/>
                </a:solidFill>
                <a:latin typeface="Courier New" pitchFamily="34" charset="0"/>
                <a:ea typeface="Courier New" pitchFamily="34" charset="-122"/>
                <a:cs typeface="Courier New" pitchFamily="34" charset="-120"/>
              </a:rPr>
              <a:t> = var.instance_tags</a:t>
            </a:r>
            <a:endParaRPr lang="en-US" sz="1250" dirty="0"/>
          </a:p>
          <a:p>
            <a:pPr indent="0" marL="0">
              <a:lnSpc>
                <a:spcPct val="112000"/>
              </a:lnSpc>
              <a:buNone/>
            </a:pPr>
            <a:r>
              <a:rPr lang="en-US" sz="1250" dirty="0">
                <a:solidFill>
                  <a:srgbClr val="E4E1F0"/>
                </a:solidFill>
                <a:latin typeface="Courier New" pitchFamily="34" charset="0"/>
                <a:ea typeface="Courier New" pitchFamily="34" charset="-122"/>
                <a:cs typeface="Courier New" pitchFamily="34" charset="-120"/>
              </a:rPr>
              <a:t>}</a:t>
            </a:r>
            <a:endParaRPr lang="en-US" sz="1250" dirty="0"/>
          </a:p>
        </p:txBody>
      </p:sp>
      <p:sp>
        <p:nvSpPr>
          <p:cNvPr id="10" name="Shape 8"/>
          <p:cNvSpPr/>
          <p:nvPr/>
        </p:nvSpPr>
        <p:spPr>
          <a:xfrm>
            <a:off x="548640" y="3246120"/>
            <a:ext cx="8046720" cy="1234440"/>
          </a:xfrm>
          <a:prstGeom prst="roundRect">
            <a:avLst>
              <a:gd name="adj" fmla="val 6667"/>
            </a:avLst>
          </a:prstGeom>
          <a:solidFill>
            <a:srgbClr val="EDE7FA"/>
          </a:solidFill>
          <a:ln/>
          <a:effectLst>
            <a:outerShdw sx="100000" sy="100000" kx="0" ky="0" algn="bl" rotWithShape="0" blurRad="101600" dist="38100" dir="2700000">
              <a:srgbClr val="000000">
                <a:alpha val="12000"/>
              </a:srgbClr>
            </a:outerShdw>
          </a:effectLst>
        </p:spPr>
      </p:sp>
      <p:sp>
        <p:nvSpPr>
          <p:cNvPr id="11" name="Shape 9"/>
          <p:cNvSpPr/>
          <p:nvPr/>
        </p:nvSpPr>
        <p:spPr>
          <a:xfrm>
            <a:off x="777240" y="3465576"/>
            <a:ext cx="502920" cy="502920"/>
          </a:xfrm>
          <a:prstGeom prst="ellipse">
            <a:avLst/>
          </a:prstGeom>
          <a:solidFill>
            <a:srgbClr val="4C2A85"/>
          </a:solidFill>
          <a:ln/>
        </p:spPr>
      </p:sp>
      <p:pic>
        <p:nvPicPr>
          <p:cNvPr id="12" name="Image 0" descr="preencoded.png">    </p:cNvPr>
          <p:cNvPicPr>
            <a:picLocks noChangeAspect="1"/>
          </p:cNvPicPr>
          <p:nvPr/>
        </p:nvPicPr>
        <p:blipFill>
          <a:blip r:embed="rId1"/>
          <a:stretch>
            <a:fillRect/>
          </a:stretch>
        </p:blipFill>
        <p:spPr>
          <a:xfrm>
            <a:off x="913028" y="3601364"/>
            <a:ext cx="231343" cy="231343"/>
          </a:xfrm>
          <a:prstGeom prst="rect">
            <a:avLst/>
          </a:prstGeom>
        </p:spPr>
      </p:pic>
      <p:sp>
        <p:nvSpPr>
          <p:cNvPr id="13" name="Text 10"/>
          <p:cNvSpPr/>
          <p:nvPr/>
        </p:nvSpPr>
        <p:spPr>
          <a:xfrm>
            <a:off x="1417320" y="3429000"/>
            <a:ext cx="6949440" cy="292608"/>
          </a:xfrm>
          <a:prstGeom prst="rect">
            <a:avLst/>
          </a:prstGeom>
          <a:noFill/>
          <a:ln/>
        </p:spPr>
        <p:txBody>
          <a:bodyPr wrap="square" lIns="0" tIns="0" rIns="0" bIns="0" rtlCol="0" anchor="ctr"/>
          <a:lstStyle/>
          <a:p>
            <a:pPr indent="0" marL="0">
              <a:buNone/>
            </a:pPr>
            <a:r>
              <a:rPr lang="en-US" sz="1400" b="1" dirty="0">
                <a:solidFill>
                  <a:srgbClr val="241C33"/>
                </a:solidFill>
                <a:latin typeface="Cambria" pitchFamily="34" charset="0"/>
                <a:ea typeface="Cambria" pitchFamily="34" charset="-122"/>
                <a:cs typeface="Cambria" pitchFamily="34" charset="-120"/>
              </a:rPr>
              <a:t>Override a value at apply time</a:t>
            </a:r>
            <a:endParaRPr lang="en-US" sz="1400" dirty="0"/>
          </a:p>
        </p:txBody>
      </p:sp>
      <p:sp>
        <p:nvSpPr>
          <p:cNvPr id="14" name="Text 11"/>
          <p:cNvSpPr/>
          <p:nvPr/>
        </p:nvSpPr>
        <p:spPr>
          <a:xfrm>
            <a:off x="1417320" y="3749040"/>
            <a:ext cx="6949440" cy="457200"/>
          </a:xfrm>
          <a:prstGeom prst="rect">
            <a:avLst/>
          </a:prstGeom>
          <a:noFill/>
          <a:ln/>
        </p:spPr>
        <p:txBody>
          <a:bodyPr wrap="square" lIns="0" tIns="0" rIns="0" bIns="0" rtlCol="0" anchor="ctr"/>
          <a:lstStyle/>
          <a:p>
            <a:pPr indent="0" marL="0">
              <a:buNone/>
            </a:pPr>
            <a:r>
              <a:rPr lang="en-US" sz="1300" dirty="0">
                <a:solidFill>
                  <a:srgbClr val="241C33"/>
                </a:solidFill>
                <a:latin typeface="Courier New" pitchFamily="34" charset="0"/>
                <a:ea typeface="Courier New" pitchFamily="34" charset="-122"/>
                <a:cs typeface="Courier New" pitchFamily="34" charset="-120"/>
              </a:rPr>
              <a:t>$ terraform apply </a:t>
            </a:r>
            <a:pPr indent="0" marL="0">
              <a:buNone/>
            </a:pPr>
            <a:r>
              <a:rPr lang="en-US" sz="1300" b="1" dirty="0">
                <a:solidFill>
                  <a:srgbClr val="4C2A85"/>
                </a:solidFill>
                <a:latin typeface="Courier New" pitchFamily="34" charset="0"/>
                <a:ea typeface="Courier New" pitchFamily="34" charset="-122"/>
                <a:cs typeface="Courier New" pitchFamily="34" charset="-120"/>
              </a:rPr>
              <a:t>-var="instance_type=t3.medium"</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046720" cy="502920"/>
          </a:xfrm>
          <a:prstGeom prst="rect">
            <a:avLst/>
          </a:prstGeom>
          <a:noFill/>
          <a:ln/>
        </p:spPr>
        <p:txBody>
          <a:bodyPr wrap="square" lIns="0" tIns="0" rIns="0" bIns="0" rtlCol="0" anchor="ctr"/>
          <a:lstStyle/>
          <a:p>
            <a:pPr indent="0" marL="0">
              <a:buNone/>
            </a:pPr>
            <a:r>
              <a:rPr lang="en-US" sz="2400" b="1" dirty="0">
                <a:solidFill>
                  <a:srgbClr val="241C33"/>
                </a:solidFill>
                <a:latin typeface="Cambria" pitchFamily="34" charset="0"/>
                <a:ea typeface="Cambria" pitchFamily="34" charset="-122"/>
                <a:cs typeface="Cambria" pitchFamily="34" charset="-120"/>
              </a:rPr>
              <a:t>5.2  Input Variables — Defaults &amp; Overrides</a:t>
            </a:r>
            <a:endParaRPr lang="en-US" sz="2400" dirty="0"/>
          </a:p>
        </p:txBody>
      </p:sp>
      <p:sp>
        <p:nvSpPr>
          <p:cNvPr id="3" name="Shape 1"/>
          <p:cNvSpPr/>
          <p:nvPr/>
        </p:nvSpPr>
        <p:spPr>
          <a:xfrm>
            <a:off x="548640" y="1143000"/>
            <a:ext cx="3886200" cy="3566160"/>
          </a:xfrm>
          <a:prstGeom prst="roundRect">
            <a:avLst>
              <a:gd name="adj" fmla="val 2308"/>
            </a:avLst>
          </a:prstGeom>
          <a:solidFill>
            <a:srgbClr val="EDE7FA"/>
          </a:solidFill>
          <a:ln/>
          <a:effectLst>
            <a:outerShdw sx="100000" sy="100000" kx="0" ky="0" algn="bl" rotWithShape="0" blurRad="101600" dist="38100" dir="2700000">
              <a:srgbClr val="000000">
                <a:alpha val="12000"/>
              </a:srgbClr>
            </a:outerShdw>
          </a:effectLst>
        </p:spPr>
      </p:sp>
      <p:sp>
        <p:nvSpPr>
          <p:cNvPr id="4" name="Shape 2"/>
          <p:cNvSpPr/>
          <p:nvPr/>
        </p:nvSpPr>
        <p:spPr>
          <a:xfrm>
            <a:off x="822960" y="1399032"/>
            <a:ext cx="502920" cy="502920"/>
          </a:xfrm>
          <a:prstGeom prst="ellipse">
            <a:avLst/>
          </a:prstGeom>
          <a:solidFill>
            <a:srgbClr val="4C2A85"/>
          </a:solidFill>
          <a:ln/>
        </p:spPr>
      </p:sp>
      <p:pic>
        <p:nvPicPr>
          <p:cNvPr id="5" name="Image 0" descr="preencoded.png">    </p:cNvPr>
          <p:cNvPicPr>
            <a:picLocks noChangeAspect="1"/>
          </p:cNvPicPr>
          <p:nvPr/>
        </p:nvPicPr>
        <p:blipFill>
          <a:blip r:embed="rId1"/>
          <a:stretch>
            <a:fillRect/>
          </a:stretch>
        </p:blipFill>
        <p:spPr>
          <a:xfrm>
            <a:off x="958748" y="1534820"/>
            <a:ext cx="231343" cy="231343"/>
          </a:xfrm>
          <a:prstGeom prst="rect">
            <a:avLst/>
          </a:prstGeom>
        </p:spPr>
      </p:pic>
      <p:sp>
        <p:nvSpPr>
          <p:cNvPr id="6" name="Text 3"/>
          <p:cNvSpPr/>
          <p:nvPr/>
        </p:nvSpPr>
        <p:spPr>
          <a:xfrm>
            <a:off x="1463040" y="1417320"/>
            <a:ext cx="2834640" cy="457200"/>
          </a:xfrm>
          <a:prstGeom prst="rect">
            <a:avLst/>
          </a:prstGeom>
          <a:noFill/>
          <a:ln/>
        </p:spPr>
        <p:txBody>
          <a:bodyPr wrap="square" lIns="0" tIns="0" rIns="0" bIns="0" rtlCol="0" anchor="ctr"/>
          <a:lstStyle/>
          <a:p>
            <a:pPr indent="0" marL="0">
              <a:buNone/>
            </a:pPr>
            <a:r>
              <a:rPr lang="en-US" sz="1600" b="1" dirty="0">
                <a:solidFill>
                  <a:srgbClr val="241C33"/>
                </a:solidFill>
                <a:latin typeface="Cambria" pitchFamily="34" charset="0"/>
                <a:ea typeface="Cambria" pitchFamily="34" charset="-122"/>
                <a:cs typeface="Cambria" pitchFamily="34" charset="-120"/>
              </a:rPr>
              <a:t>Has a Default Value</a:t>
            </a:r>
            <a:endParaRPr lang="en-US" sz="1600" dirty="0"/>
          </a:p>
        </p:txBody>
      </p:sp>
      <p:sp>
        <p:nvSpPr>
          <p:cNvPr id="7" name="Text 4"/>
          <p:cNvSpPr/>
          <p:nvPr/>
        </p:nvSpPr>
        <p:spPr>
          <a:xfrm>
            <a:off x="822960" y="2103120"/>
            <a:ext cx="3337560" cy="822960"/>
          </a:xfrm>
          <a:prstGeom prst="rect">
            <a:avLst/>
          </a:prstGeom>
          <a:noFill/>
          <a:ln/>
        </p:spPr>
        <p:txBody>
          <a:bodyPr wrap="square" lIns="0" tIns="0" rIns="0" bIns="0" rtlCol="0" anchor="ctr"/>
          <a:lstStyle/>
          <a:p>
            <a:pPr indent="0" marL="0">
              <a:lnSpc>
                <a:spcPct val="125000"/>
              </a:lnSpc>
              <a:buNone/>
            </a:pPr>
            <a:r>
              <a:rPr lang="en-US" sz="1250" dirty="0">
                <a:solidFill>
                  <a:srgbClr val="241C33"/>
                </a:solidFill>
                <a:latin typeface="Calibri" pitchFamily="34" charset="0"/>
                <a:ea typeface="Calibri" pitchFamily="34" charset="-122"/>
                <a:cs typeface="Calibri" pitchFamily="34" charset="-120"/>
              </a:rPr>
              <a:t>Optional at apply time — Terraform</a:t>
            </a:r>
            <a:endParaRPr lang="en-US" sz="1250" dirty="0"/>
          </a:p>
          <a:p>
            <a:pPr indent="0" marL="0">
              <a:lnSpc>
                <a:spcPct val="125000"/>
              </a:lnSpc>
              <a:buNone/>
            </a:pPr>
            <a:r>
              <a:rPr lang="en-US" sz="1250" dirty="0">
                <a:solidFill>
                  <a:srgbClr val="241C33"/>
                </a:solidFill>
                <a:latin typeface="Calibri" pitchFamily="34" charset="0"/>
                <a:ea typeface="Calibri" pitchFamily="34" charset="-122"/>
                <a:cs typeface="Calibri" pitchFamily="34" charset="-120"/>
              </a:rPr>
              <a:t>uses the default unless told otherwise.</a:t>
            </a:r>
            <a:endParaRPr lang="en-US" sz="1250" dirty="0"/>
          </a:p>
        </p:txBody>
      </p:sp>
      <p:sp>
        <p:nvSpPr>
          <p:cNvPr id="8" name="Shape 5"/>
          <p:cNvSpPr/>
          <p:nvPr/>
        </p:nvSpPr>
        <p:spPr>
          <a:xfrm>
            <a:off x="822960" y="3017520"/>
            <a:ext cx="3337560" cy="1417320"/>
          </a:xfrm>
          <a:prstGeom prst="roundRect">
            <a:avLst>
              <a:gd name="adj" fmla="val 3871"/>
            </a:avLst>
          </a:prstGeom>
          <a:solidFill>
            <a:srgbClr val="1E1B2E"/>
          </a:solidFill>
          <a:ln/>
        </p:spPr>
      </p:sp>
      <p:sp>
        <p:nvSpPr>
          <p:cNvPr id="9" name="Text 6"/>
          <p:cNvSpPr/>
          <p:nvPr/>
        </p:nvSpPr>
        <p:spPr>
          <a:xfrm>
            <a:off x="960120" y="3136392"/>
            <a:ext cx="3063240" cy="1188720"/>
          </a:xfrm>
          <a:prstGeom prst="rect">
            <a:avLst/>
          </a:prstGeom>
          <a:noFill/>
          <a:ln/>
        </p:spPr>
        <p:txBody>
          <a:bodyPr wrap="square" lIns="0" tIns="0" rIns="0" bIns="0" rtlCol="0" anchor="ctr"/>
          <a:lstStyle/>
          <a:p>
            <a:pPr indent="0" marL="0">
              <a:lnSpc>
                <a:spcPct val="115000"/>
              </a:lnSpc>
              <a:buNone/>
            </a:pPr>
            <a:r>
              <a:rPr lang="en-US" sz="1080" dirty="0">
                <a:solidFill>
                  <a:srgbClr val="C792EA"/>
                </a:solidFill>
                <a:latin typeface="Courier New" pitchFamily="34" charset="0"/>
                <a:ea typeface="Courier New" pitchFamily="34" charset="-122"/>
                <a:cs typeface="Courier New" pitchFamily="34" charset="-120"/>
              </a:rPr>
              <a:t>variable </a:t>
            </a:r>
            <a:pPr indent="0" marL="0">
              <a:lnSpc>
                <a:spcPct val="115000"/>
              </a:lnSpc>
              <a:buNone/>
            </a:pPr>
            <a:r>
              <a:rPr lang="en-US" sz="1080" dirty="0">
                <a:solidFill>
                  <a:srgbClr val="9CDCB4"/>
                </a:solidFill>
                <a:latin typeface="Courier New" pitchFamily="34" charset="0"/>
                <a:ea typeface="Courier New" pitchFamily="34" charset="-122"/>
                <a:cs typeface="Courier New" pitchFamily="34" charset="-120"/>
              </a:rPr>
              <a:t>"instance_type"</a:t>
            </a:r>
            <a:pPr indent="0" marL="0">
              <a:lnSpc>
                <a:spcPct val="115000"/>
              </a:lnSpc>
              <a:buNone/>
            </a:pPr>
            <a:r>
              <a:rPr lang="en-US" sz="1080" dirty="0">
                <a:solidFill>
                  <a:srgbClr val="E4E1F0"/>
                </a:solidFill>
                <a:latin typeface="Courier New" pitchFamily="34" charset="0"/>
                <a:ea typeface="Courier New" pitchFamily="34" charset="-122"/>
                <a:cs typeface="Courier New" pitchFamily="34" charset="-120"/>
              </a:rPr>
              <a:t> {</a:t>
            </a:r>
            <a:pPr indent="0" marL="0">
              <a:lnSpc>
                <a:spcPct val="115000"/>
              </a:lnSpc>
              <a:buNone/>
            </a:pPr>
            <a:r>
              <a:rPr lang="en-US" sz="1080" dirty="0">
                <a:solidFill>
                  <a:srgbClr val="E4E1F0"/>
                </a:solidFill>
                <a:latin typeface="Courier New" pitchFamily="34" charset="0"/>
                <a:ea typeface="Courier New" pitchFamily="34" charset="-122"/>
                <a:cs typeface="Courier New" pitchFamily="34" charset="-120"/>
              </a:rPr>
              <a:t>  type    = string</a:t>
            </a:r>
            <a:pPr indent="0" marL="0">
              <a:lnSpc>
                <a:spcPct val="115000"/>
              </a:lnSpc>
              <a:buNone/>
            </a:pPr>
            <a:r>
              <a:rPr lang="en-US" sz="1080" dirty="0">
                <a:solidFill>
                  <a:srgbClr val="7FB3E8"/>
                </a:solidFill>
                <a:latin typeface="Courier New" pitchFamily="34" charset="0"/>
                <a:ea typeface="Courier New" pitchFamily="34" charset="-122"/>
                <a:cs typeface="Courier New" pitchFamily="34" charset="-120"/>
              </a:rPr>
              <a:t>  default</a:t>
            </a:r>
            <a:pPr indent="0" marL="0">
              <a:lnSpc>
                <a:spcPct val="115000"/>
              </a:lnSpc>
              <a:buNone/>
            </a:pPr>
            <a:r>
              <a:rPr lang="en-US" sz="1080" dirty="0">
                <a:solidFill>
                  <a:srgbClr val="9CDCB4"/>
                </a:solidFill>
                <a:latin typeface="Courier New" pitchFamily="34" charset="0"/>
                <a:ea typeface="Courier New" pitchFamily="34" charset="-122"/>
                <a:cs typeface="Courier New" pitchFamily="34" charset="-120"/>
              </a:rPr>
              <a:t> = "t2.micro"</a:t>
            </a:r>
            <a:pPr indent="0" marL="0">
              <a:lnSpc>
                <a:spcPct val="115000"/>
              </a:lnSpc>
              <a:buNone/>
            </a:pPr>
            <a:r>
              <a:rPr lang="en-US" sz="1080" dirty="0">
                <a:solidFill>
                  <a:srgbClr val="E4E1F0"/>
                </a:solidFill>
                <a:latin typeface="Courier New" pitchFamily="34" charset="0"/>
                <a:ea typeface="Courier New" pitchFamily="34" charset="-122"/>
                <a:cs typeface="Courier New" pitchFamily="34" charset="-120"/>
              </a:rPr>
              <a:t>}</a:t>
            </a:r>
            <a:endParaRPr lang="en-US" sz="1080" dirty="0"/>
          </a:p>
        </p:txBody>
      </p:sp>
      <p:sp>
        <p:nvSpPr>
          <p:cNvPr id="10" name="Shape 7"/>
          <p:cNvSpPr/>
          <p:nvPr/>
        </p:nvSpPr>
        <p:spPr>
          <a:xfrm>
            <a:off x="4709160" y="1143000"/>
            <a:ext cx="3886200" cy="3566160"/>
          </a:xfrm>
          <a:prstGeom prst="roundRect">
            <a:avLst>
              <a:gd name="adj" fmla="val 2308"/>
            </a:avLst>
          </a:prstGeom>
          <a:solidFill>
            <a:srgbClr val="4C2A85"/>
          </a:solidFill>
          <a:ln/>
          <a:effectLst>
            <a:outerShdw sx="100000" sy="100000" kx="0" ky="0" algn="bl" rotWithShape="0" blurRad="101600" dist="38100" dir="2700000">
              <a:srgbClr val="000000">
                <a:alpha val="12000"/>
              </a:srgbClr>
            </a:outerShdw>
          </a:effectLst>
        </p:spPr>
      </p:sp>
      <p:sp>
        <p:nvSpPr>
          <p:cNvPr id="11" name="Shape 8"/>
          <p:cNvSpPr/>
          <p:nvPr/>
        </p:nvSpPr>
        <p:spPr>
          <a:xfrm>
            <a:off x="4983480" y="1399032"/>
            <a:ext cx="502920" cy="502920"/>
          </a:xfrm>
          <a:prstGeom prst="ellipse">
            <a:avLst/>
          </a:prstGeom>
          <a:solidFill>
            <a:srgbClr val="F0A430"/>
          </a:solidFill>
          <a:ln/>
        </p:spPr>
      </p:sp>
      <p:pic>
        <p:nvPicPr>
          <p:cNvPr id="12" name="Image 1" descr="preencoded.png">    </p:cNvPr>
          <p:cNvPicPr>
            <a:picLocks noChangeAspect="1"/>
          </p:cNvPicPr>
          <p:nvPr/>
        </p:nvPicPr>
        <p:blipFill>
          <a:blip r:embed="rId2"/>
          <a:stretch>
            <a:fillRect/>
          </a:stretch>
        </p:blipFill>
        <p:spPr>
          <a:xfrm>
            <a:off x="5119268" y="1534820"/>
            <a:ext cx="231343" cy="231343"/>
          </a:xfrm>
          <a:prstGeom prst="rect">
            <a:avLst/>
          </a:prstGeom>
        </p:spPr>
      </p:pic>
      <p:sp>
        <p:nvSpPr>
          <p:cNvPr id="13" name="Text 9"/>
          <p:cNvSpPr/>
          <p:nvPr/>
        </p:nvSpPr>
        <p:spPr>
          <a:xfrm>
            <a:off x="5623560" y="1417320"/>
            <a:ext cx="2834640"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Override with .tfvars</a:t>
            </a:r>
            <a:endParaRPr lang="en-US" sz="1600" dirty="0"/>
          </a:p>
        </p:txBody>
      </p:sp>
      <p:sp>
        <p:nvSpPr>
          <p:cNvPr id="14" name="Text 10"/>
          <p:cNvSpPr/>
          <p:nvPr/>
        </p:nvSpPr>
        <p:spPr>
          <a:xfrm>
            <a:off x="4983480" y="2103120"/>
            <a:ext cx="3337560" cy="548640"/>
          </a:xfrm>
          <a:prstGeom prst="rect">
            <a:avLst/>
          </a:prstGeom>
          <a:noFill/>
          <a:ln/>
        </p:spPr>
        <p:txBody>
          <a:bodyPr wrap="square" lIns="0" tIns="0" rIns="0" bIns="0" rtlCol="0" anchor="ctr"/>
          <a:lstStyle/>
          <a:p>
            <a:pPr indent="0" marL="0">
              <a:lnSpc>
                <a:spcPct val="125000"/>
              </a:lnSpc>
              <a:buNone/>
            </a:pPr>
            <a:r>
              <a:rPr lang="en-US" sz="1250" dirty="0">
                <a:solidFill>
                  <a:srgbClr val="E4E1F0"/>
                </a:solidFill>
                <a:latin typeface="Calibri" pitchFamily="34" charset="0"/>
                <a:ea typeface="Calibri" pitchFamily="34" charset="-122"/>
                <a:cs typeface="Calibri" pitchFamily="34" charset="-120"/>
              </a:rPr>
              <a:t>Create terraform.tfvars to set values without touching code:</a:t>
            </a:r>
            <a:endParaRPr lang="en-US" sz="1250" dirty="0"/>
          </a:p>
        </p:txBody>
      </p:sp>
      <p:sp>
        <p:nvSpPr>
          <p:cNvPr id="15" name="Shape 11"/>
          <p:cNvSpPr/>
          <p:nvPr/>
        </p:nvSpPr>
        <p:spPr>
          <a:xfrm>
            <a:off x="4983480" y="2651760"/>
            <a:ext cx="3337560" cy="502920"/>
          </a:xfrm>
          <a:prstGeom prst="roundRect">
            <a:avLst>
              <a:gd name="adj" fmla="val 10909"/>
            </a:avLst>
          </a:prstGeom>
          <a:solidFill>
            <a:srgbClr val="1E1B2E"/>
          </a:solidFill>
          <a:ln/>
        </p:spPr>
      </p:sp>
      <p:sp>
        <p:nvSpPr>
          <p:cNvPr id="16" name="Text 12"/>
          <p:cNvSpPr/>
          <p:nvPr/>
        </p:nvSpPr>
        <p:spPr>
          <a:xfrm>
            <a:off x="5093208" y="2651760"/>
            <a:ext cx="3118104" cy="502920"/>
          </a:xfrm>
          <a:prstGeom prst="rect">
            <a:avLst/>
          </a:prstGeom>
          <a:noFill/>
          <a:ln/>
        </p:spPr>
        <p:txBody>
          <a:bodyPr wrap="square" lIns="0" tIns="0" rIns="0" bIns="0" rtlCol="0" anchor="ctr"/>
          <a:lstStyle/>
          <a:p>
            <a:pPr indent="0" marL="0">
              <a:buNone/>
            </a:pPr>
            <a:r>
              <a:rPr lang="en-US" sz="1150" dirty="0">
                <a:solidFill>
                  <a:srgbClr val="9CDCB4"/>
                </a:solidFill>
                <a:latin typeface="Courier New" pitchFamily="34" charset="0"/>
                <a:ea typeface="Courier New" pitchFamily="34" charset="-122"/>
                <a:cs typeface="Courier New" pitchFamily="34" charset="-120"/>
              </a:rPr>
              <a:t>instance_type = "t3.medium"</a:t>
            </a:r>
            <a:endParaRPr lang="en-US" sz="1150" dirty="0"/>
          </a:p>
        </p:txBody>
      </p:sp>
      <p:sp>
        <p:nvSpPr>
          <p:cNvPr id="17" name="Shape 13"/>
          <p:cNvSpPr/>
          <p:nvPr/>
        </p:nvSpPr>
        <p:spPr>
          <a:xfrm>
            <a:off x="4983480" y="3291840"/>
            <a:ext cx="3337560" cy="640080"/>
          </a:xfrm>
          <a:prstGeom prst="roundRect">
            <a:avLst>
              <a:gd name="adj" fmla="val 8571"/>
            </a:avLst>
          </a:prstGeom>
          <a:solidFill>
            <a:srgbClr val="1E1B2E"/>
          </a:solidFill>
          <a:ln/>
        </p:spPr>
      </p:sp>
      <p:sp>
        <p:nvSpPr>
          <p:cNvPr id="18" name="Text 14"/>
          <p:cNvSpPr/>
          <p:nvPr/>
        </p:nvSpPr>
        <p:spPr>
          <a:xfrm>
            <a:off x="5093208" y="3291840"/>
            <a:ext cx="3118104" cy="640080"/>
          </a:xfrm>
          <a:prstGeom prst="rect">
            <a:avLst/>
          </a:prstGeom>
          <a:noFill/>
          <a:ln/>
        </p:spPr>
        <p:txBody>
          <a:bodyPr wrap="square" lIns="0" tIns="0" rIns="0" bIns="0" rtlCol="0" anchor="ctr"/>
          <a:lstStyle/>
          <a:p>
            <a:pPr indent="0" marL="0">
              <a:buNone/>
            </a:pPr>
            <a:r>
              <a:rPr lang="en-US" sz="1050" dirty="0">
                <a:solidFill>
                  <a:srgbClr val="E4E1F0"/>
                </a:solidFill>
                <a:latin typeface="Courier New" pitchFamily="34" charset="0"/>
                <a:ea typeface="Courier New" pitchFamily="34" charset="-122"/>
                <a:cs typeface="Courier New" pitchFamily="34" charset="-120"/>
              </a:rPr>
              <a:t>$ terraform apply </a:t>
            </a:r>
            <a:pPr indent="0" marL="0">
              <a:buNone/>
            </a:pPr>
            <a:r>
              <a:rPr lang="en-US" sz="1050" b="1" dirty="0">
                <a:solidFill>
                  <a:srgbClr val="F0A430"/>
                </a:solidFill>
                <a:latin typeface="Courier New" pitchFamily="34" charset="0"/>
                <a:ea typeface="Courier New" pitchFamily="34" charset="-122"/>
                <a:cs typeface="Courier New" pitchFamily="34" charset="-120"/>
              </a:rPr>
              <a:t>-var-file="terraform.tfvars"</a:t>
            </a:r>
            <a:endParaRPr lang="en-US" sz="1050" dirty="0"/>
          </a:p>
        </p:txBody>
      </p:sp>
      <p:sp>
        <p:nvSpPr>
          <p:cNvPr id="19" name="Text 15"/>
          <p:cNvSpPr/>
          <p:nvPr/>
        </p:nvSpPr>
        <p:spPr>
          <a:xfrm>
            <a:off x="4983480" y="4023360"/>
            <a:ext cx="3337560" cy="594360"/>
          </a:xfrm>
          <a:prstGeom prst="rect">
            <a:avLst/>
          </a:prstGeom>
          <a:noFill/>
          <a:ln/>
        </p:spPr>
        <p:txBody>
          <a:bodyPr wrap="square" lIns="0" tIns="0" rIns="0" bIns="0" rtlCol="0" anchor="ctr"/>
          <a:lstStyle/>
          <a:p>
            <a:pPr indent="0" marL="0">
              <a:buNone/>
            </a:pPr>
            <a:r>
              <a:rPr lang="en-US" sz="1100" i="1" dirty="0">
                <a:solidFill>
                  <a:srgbClr val="C9BEEA"/>
                </a:solidFill>
                <a:latin typeface="Calibri" pitchFamily="34" charset="0"/>
                <a:ea typeface="Calibri" pitchFamily="34" charset="-122"/>
                <a:cs typeface="Calibri" pitchFamily="34" charset="-120"/>
              </a:rPr>
              <a:t>No default set? Terraform requires an explicit value before it will apply.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046720" cy="502920"/>
          </a:xfrm>
          <a:prstGeom prst="rect">
            <a:avLst/>
          </a:prstGeom>
          <a:noFill/>
          <a:ln/>
        </p:spPr>
        <p:txBody>
          <a:bodyPr wrap="square" lIns="0" tIns="0" rIns="0" bIns="0" rtlCol="0" anchor="ctr"/>
          <a:lstStyle/>
          <a:p>
            <a:pPr indent="0" marL="0">
              <a:buNone/>
            </a:pPr>
            <a:r>
              <a:rPr lang="en-US" sz="2600" b="1" dirty="0">
                <a:solidFill>
                  <a:srgbClr val="241C33"/>
                </a:solidFill>
                <a:latin typeface="Cambria" pitchFamily="34" charset="0"/>
                <a:ea typeface="Cambria" pitchFamily="34" charset="-122"/>
                <a:cs typeface="Cambria" pitchFamily="34" charset="-120"/>
              </a:rPr>
              <a:t>5.3  Using Output Variables</a:t>
            </a:r>
            <a:endParaRPr lang="en-US" sz="2600" dirty="0"/>
          </a:p>
        </p:txBody>
      </p:sp>
      <p:sp>
        <p:nvSpPr>
          <p:cNvPr id="3" name="Text 1"/>
          <p:cNvSpPr/>
          <p:nvPr/>
        </p:nvSpPr>
        <p:spPr>
          <a:xfrm>
            <a:off x="548640" y="841248"/>
            <a:ext cx="8046720" cy="320040"/>
          </a:xfrm>
          <a:prstGeom prst="rect">
            <a:avLst/>
          </a:prstGeom>
          <a:noFill/>
          <a:ln/>
        </p:spPr>
        <p:txBody>
          <a:bodyPr wrap="square" lIns="0" tIns="0" rIns="0" bIns="0" rtlCol="0" anchor="ctr"/>
          <a:lstStyle/>
          <a:p>
            <a:pPr indent="0" marL="0">
              <a:buNone/>
            </a:pPr>
            <a:r>
              <a:rPr lang="en-US" sz="1300" dirty="0">
                <a:solidFill>
                  <a:srgbClr val="6B6480"/>
                </a:solidFill>
                <a:latin typeface="Calibri" pitchFamily="34" charset="0"/>
                <a:ea typeface="Calibri" pitchFamily="34" charset="-122"/>
                <a:cs typeface="Calibri" pitchFamily="34" charset="-120"/>
              </a:rPr>
              <a:t>Outputs return important resource details after a deployment finishes</a:t>
            </a:r>
            <a:endParaRPr lang="en-US" sz="1300" dirty="0"/>
          </a:p>
        </p:txBody>
      </p:sp>
      <p:sp>
        <p:nvSpPr>
          <p:cNvPr id="4" name="Shape 2"/>
          <p:cNvSpPr/>
          <p:nvPr/>
        </p:nvSpPr>
        <p:spPr>
          <a:xfrm>
            <a:off x="548640" y="1325880"/>
            <a:ext cx="3977640" cy="1691640"/>
          </a:xfrm>
          <a:prstGeom prst="roundRect">
            <a:avLst>
              <a:gd name="adj" fmla="val 4324"/>
            </a:avLst>
          </a:prstGeom>
          <a:solidFill>
            <a:srgbClr val="1E1B2E"/>
          </a:solidFill>
          <a:ln/>
          <a:effectLst>
            <a:outerShdw sx="100000" sy="100000" kx="0" ky="0" algn="bl" rotWithShape="0" blurRad="101600" dist="38100" dir="2700000">
              <a:srgbClr val="000000">
                <a:alpha val="12000"/>
              </a:srgbClr>
            </a:outerShdw>
          </a:effectLst>
        </p:spPr>
      </p:sp>
      <p:sp>
        <p:nvSpPr>
          <p:cNvPr id="5" name="Shape 3"/>
          <p:cNvSpPr/>
          <p:nvPr/>
        </p:nvSpPr>
        <p:spPr>
          <a:xfrm>
            <a:off x="713232" y="1472184"/>
            <a:ext cx="91440" cy="91440"/>
          </a:xfrm>
          <a:prstGeom prst="ellipse">
            <a:avLst/>
          </a:prstGeom>
          <a:solidFill>
            <a:srgbClr val="FF5F56"/>
          </a:solidFill>
          <a:ln/>
        </p:spPr>
      </p:sp>
      <p:sp>
        <p:nvSpPr>
          <p:cNvPr id="6" name="Shape 4"/>
          <p:cNvSpPr/>
          <p:nvPr/>
        </p:nvSpPr>
        <p:spPr>
          <a:xfrm>
            <a:off x="886968" y="1472184"/>
            <a:ext cx="91440" cy="91440"/>
          </a:xfrm>
          <a:prstGeom prst="ellipse">
            <a:avLst/>
          </a:prstGeom>
          <a:solidFill>
            <a:srgbClr val="FFBD2E"/>
          </a:solidFill>
          <a:ln/>
        </p:spPr>
      </p:sp>
      <p:sp>
        <p:nvSpPr>
          <p:cNvPr id="7" name="Shape 5"/>
          <p:cNvSpPr/>
          <p:nvPr/>
        </p:nvSpPr>
        <p:spPr>
          <a:xfrm>
            <a:off x="1060704" y="1472184"/>
            <a:ext cx="91440" cy="91440"/>
          </a:xfrm>
          <a:prstGeom prst="ellipse">
            <a:avLst/>
          </a:prstGeom>
          <a:solidFill>
            <a:srgbClr val="27C93F"/>
          </a:solidFill>
          <a:ln/>
        </p:spPr>
      </p:sp>
      <p:sp>
        <p:nvSpPr>
          <p:cNvPr id="8" name="Text 6"/>
          <p:cNvSpPr/>
          <p:nvPr/>
        </p:nvSpPr>
        <p:spPr>
          <a:xfrm>
            <a:off x="1280160" y="1444752"/>
            <a:ext cx="2880360" cy="164592"/>
          </a:xfrm>
          <a:prstGeom prst="rect">
            <a:avLst/>
          </a:prstGeom>
          <a:noFill/>
          <a:ln/>
        </p:spPr>
        <p:txBody>
          <a:bodyPr wrap="square" lIns="0" tIns="0" rIns="0" bIns="0" rtlCol="0" anchor="ctr"/>
          <a:lstStyle/>
          <a:p>
            <a:pPr algn="l" indent="0" marL="0">
              <a:buNone/>
            </a:pPr>
            <a:r>
              <a:rPr lang="en-US" sz="1000" dirty="0">
                <a:solidFill>
                  <a:srgbClr val="9A93B5"/>
                </a:solidFill>
                <a:latin typeface="Courier New" pitchFamily="34" charset="0"/>
                <a:ea typeface="Courier New" pitchFamily="34" charset="-122"/>
                <a:cs typeface="Courier New" pitchFamily="34" charset="-120"/>
              </a:rPr>
              <a:t>outputs.tf</a:t>
            </a:r>
            <a:endParaRPr lang="en-US" sz="1000" dirty="0"/>
          </a:p>
        </p:txBody>
      </p:sp>
      <p:sp>
        <p:nvSpPr>
          <p:cNvPr id="9" name="Text 7"/>
          <p:cNvSpPr/>
          <p:nvPr/>
        </p:nvSpPr>
        <p:spPr>
          <a:xfrm>
            <a:off x="804672" y="1709928"/>
            <a:ext cx="3465576" cy="1143000"/>
          </a:xfrm>
          <a:prstGeom prst="rect">
            <a:avLst/>
          </a:prstGeom>
          <a:noFill/>
          <a:ln/>
        </p:spPr>
        <p:txBody>
          <a:bodyPr wrap="square" lIns="0" tIns="0" rIns="0" bIns="0" rtlCol="0" anchor="t"/>
          <a:lstStyle/>
          <a:p>
            <a:pPr indent="0" marL="0">
              <a:lnSpc>
                <a:spcPct val="112000"/>
              </a:lnSpc>
              <a:buNone/>
            </a:pPr>
            <a:r>
              <a:rPr lang="en-US" sz="1030" dirty="0">
                <a:solidFill>
                  <a:srgbClr val="C792EA"/>
                </a:solidFill>
                <a:latin typeface="Courier New" pitchFamily="34" charset="0"/>
                <a:ea typeface="Courier New" pitchFamily="34" charset="-122"/>
                <a:cs typeface="Courier New" pitchFamily="34" charset="-120"/>
              </a:rPr>
              <a:t>output </a:t>
            </a:r>
            <a:pPr indent="0" marL="0">
              <a:lnSpc>
                <a:spcPct val="112000"/>
              </a:lnSpc>
              <a:buNone/>
            </a:pPr>
            <a:r>
              <a:rPr lang="en-US" sz="1030" dirty="0">
                <a:solidFill>
                  <a:srgbClr val="9CDCB4"/>
                </a:solidFill>
                <a:latin typeface="Courier New" pitchFamily="34" charset="0"/>
                <a:ea typeface="Courier New" pitchFamily="34" charset="-122"/>
                <a:cs typeface="Courier New" pitchFamily="34" charset="-120"/>
              </a:rPr>
              <a:t>"instance_public_ip"</a:t>
            </a:r>
            <a:pPr indent="0" marL="0">
              <a:lnSpc>
                <a:spcPct val="112000"/>
              </a:lnSpc>
              <a:buNone/>
            </a:pPr>
            <a:r>
              <a:rPr lang="en-US" sz="1030" dirty="0">
                <a:solidFill>
                  <a:srgbClr val="E4E1F0"/>
                </a:solidFill>
                <a:latin typeface="Courier New" pitchFamily="34" charset="0"/>
                <a:ea typeface="Courier New" pitchFamily="34" charset="-122"/>
                <a:cs typeface="Courier New" pitchFamily="34" charset="-120"/>
              </a:rPr>
              <a:t> {</a:t>
            </a:r>
            <a:endParaRPr lang="en-US" sz="1030" dirty="0"/>
          </a:p>
          <a:p>
            <a:pPr indent="0" marL="0">
              <a:lnSpc>
                <a:spcPct val="112000"/>
              </a:lnSpc>
              <a:buNone/>
            </a:pPr>
            <a:r>
              <a:rPr lang="en-US" sz="1030" dirty="0">
                <a:solidFill>
                  <a:srgbClr val="7FB3E8"/>
                </a:solidFill>
                <a:latin typeface="Courier New" pitchFamily="34" charset="0"/>
                <a:ea typeface="Courier New" pitchFamily="34" charset="-122"/>
                <a:cs typeface="Courier New" pitchFamily="34" charset="-120"/>
              </a:rPr>
              <a:t>  description</a:t>
            </a:r>
            <a:endParaRPr lang="en-US" sz="1030" dirty="0"/>
          </a:p>
          <a:p>
            <a:pPr indent="0" marL="0">
              <a:lnSpc>
                <a:spcPct val="112000"/>
              </a:lnSpc>
              <a:buNone/>
            </a:pPr>
            <a:r>
              <a:rPr lang="en-US" sz="1030" dirty="0">
                <a:solidFill>
                  <a:srgbClr val="9CDCB4"/>
                </a:solidFill>
                <a:latin typeface="Courier New" pitchFamily="34" charset="0"/>
                <a:ea typeface="Courier New" pitchFamily="34" charset="-122"/>
                <a:cs typeface="Courier New" pitchFamily="34" charset="-120"/>
              </a:rPr>
              <a:t>    = "Public IP of instance"</a:t>
            </a:r>
            <a:endParaRPr lang="en-US" sz="1030" dirty="0"/>
          </a:p>
          <a:p>
            <a:pPr indent="0" marL="0">
              <a:lnSpc>
                <a:spcPct val="112000"/>
              </a:lnSpc>
              <a:buNone/>
            </a:pPr>
            <a:r>
              <a:rPr lang="en-US" sz="1030" dirty="0">
                <a:solidFill>
                  <a:srgbClr val="7FB3E8"/>
                </a:solidFill>
                <a:latin typeface="Courier New" pitchFamily="34" charset="0"/>
                <a:ea typeface="Courier New" pitchFamily="34" charset="-122"/>
                <a:cs typeface="Courier New" pitchFamily="34" charset="-120"/>
              </a:rPr>
              <a:t>  value</a:t>
            </a:r>
            <a:pPr indent="0" marL="0">
              <a:lnSpc>
                <a:spcPct val="112000"/>
              </a:lnSpc>
              <a:buNone/>
            </a:pPr>
            <a:r>
              <a:rPr lang="en-US" sz="1030" dirty="0">
                <a:solidFill>
                  <a:srgbClr val="E4E1F0"/>
                </a:solidFill>
                <a:latin typeface="Courier New" pitchFamily="34" charset="0"/>
                <a:ea typeface="Courier New" pitchFamily="34" charset="-122"/>
                <a:cs typeface="Courier New" pitchFamily="34" charset="-120"/>
              </a:rPr>
              <a:t> =</a:t>
            </a:r>
            <a:endParaRPr lang="en-US" sz="1030" dirty="0"/>
          </a:p>
          <a:p>
            <a:pPr indent="0" marL="0">
              <a:lnSpc>
                <a:spcPct val="112000"/>
              </a:lnSpc>
              <a:buNone/>
            </a:pPr>
            <a:r>
              <a:rPr lang="en-US" sz="1030" dirty="0">
                <a:solidFill>
                  <a:srgbClr val="E4E1F0"/>
                </a:solidFill>
                <a:latin typeface="Courier New" pitchFamily="34" charset="0"/>
                <a:ea typeface="Courier New" pitchFamily="34" charset="-122"/>
                <a:cs typeface="Courier New" pitchFamily="34" charset="-120"/>
              </a:rPr>
              <a:t>    aws_instance.example.public_ip</a:t>
            </a:r>
            <a:endParaRPr lang="en-US" sz="1030" dirty="0"/>
          </a:p>
          <a:p>
            <a:pPr indent="0" marL="0">
              <a:lnSpc>
                <a:spcPct val="112000"/>
              </a:lnSpc>
              <a:buNone/>
            </a:pPr>
            <a:r>
              <a:rPr lang="en-US" sz="1030" dirty="0">
                <a:solidFill>
                  <a:srgbClr val="E4E1F0"/>
                </a:solidFill>
                <a:latin typeface="Courier New" pitchFamily="34" charset="0"/>
                <a:ea typeface="Courier New" pitchFamily="34" charset="-122"/>
                <a:cs typeface="Courier New" pitchFamily="34" charset="-120"/>
              </a:rPr>
              <a:t>}</a:t>
            </a:r>
            <a:endParaRPr lang="en-US" sz="1030" dirty="0"/>
          </a:p>
        </p:txBody>
      </p:sp>
      <p:sp>
        <p:nvSpPr>
          <p:cNvPr id="10" name="Shape 8"/>
          <p:cNvSpPr/>
          <p:nvPr/>
        </p:nvSpPr>
        <p:spPr>
          <a:xfrm>
            <a:off x="4754880" y="1325880"/>
            <a:ext cx="457200" cy="457200"/>
          </a:xfrm>
          <a:prstGeom prst="ellipse">
            <a:avLst/>
          </a:prstGeom>
          <a:solidFill>
            <a:srgbClr val="4C2A85"/>
          </a:solidFill>
          <a:ln/>
        </p:spPr>
      </p:sp>
      <p:pic>
        <p:nvPicPr>
          <p:cNvPr id="11" name="Image 0" descr="preencoded.png">    </p:cNvPr>
          <p:cNvPicPr>
            <a:picLocks noChangeAspect="1"/>
          </p:cNvPicPr>
          <p:nvPr/>
        </p:nvPicPr>
        <p:blipFill>
          <a:blip r:embed="rId1"/>
          <a:stretch>
            <a:fillRect/>
          </a:stretch>
        </p:blipFill>
        <p:spPr>
          <a:xfrm>
            <a:off x="4878324" y="1449324"/>
            <a:ext cx="210312" cy="210312"/>
          </a:xfrm>
          <a:prstGeom prst="rect">
            <a:avLst/>
          </a:prstGeom>
        </p:spPr>
      </p:pic>
      <p:sp>
        <p:nvSpPr>
          <p:cNvPr id="12" name="Text 9"/>
          <p:cNvSpPr/>
          <p:nvPr/>
        </p:nvSpPr>
        <p:spPr>
          <a:xfrm>
            <a:off x="5349240" y="1298448"/>
            <a:ext cx="3246120" cy="292608"/>
          </a:xfrm>
          <a:prstGeom prst="rect">
            <a:avLst/>
          </a:prstGeom>
          <a:noFill/>
          <a:ln/>
        </p:spPr>
        <p:txBody>
          <a:bodyPr wrap="square" lIns="0" tIns="0" rIns="0" bIns="0" rtlCol="0" anchor="ctr"/>
          <a:lstStyle/>
          <a:p>
            <a:pPr indent="0" marL="0">
              <a:buNone/>
            </a:pPr>
            <a:r>
              <a:rPr lang="en-US" sz="1350" b="1" dirty="0">
                <a:solidFill>
                  <a:srgbClr val="241C33"/>
                </a:solidFill>
                <a:latin typeface="Cambria" pitchFamily="34" charset="0"/>
                <a:ea typeface="Cambria" pitchFamily="34" charset="-122"/>
                <a:cs typeface="Cambria" pitchFamily="34" charset="-120"/>
              </a:rPr>
              <a:t>Expose Resource Data</a:t>
            </a:r>
            <a:endParaRPr lang="en-US" sz="1350" dirty="0"/>
          </a:p>
        </p:txBody>
      </p:sp>
      <p:sp>
        <p:nvSpPr>
          <p:cNvPr id="13" name="Text 10"/>
          <p:cNvSpPr/>
          <p:nvPr/>
        </p:nvSpPr>
        <p:spPr>
          <a:xfrm>
            <a:off x="5349240" y="1581912"/>
            <a:ext cx="3246120" cy="320040"/>
          </a:xfrm>
          <a:prstGeom prst="rect">
            <a:avLst/>
          </a:prstGeom>
          <a:noFill/>
          <a:ln/>
        </p:spPr>
        <p:txBody>
          <a:bodyPr wrap="square" lIns="0" tIns="0" rIns="0" bIns="0" rtlCol="0" anchor="ctr"/>
          <a:lstStyle/>
          <a:p>
            <a:pPr indent="0" marL="0">
              <a:buNone/>
            </a:pPr>
            <a:r>
              <a:rPr lang="en-US" sz="1080" dirty="0">
                <a:solidFill>
                  <a:srgbClr val="6B6480"/>
                </a:solidFill>
                <a:latin typeface="Calibri" pitchFamily="34" charset="0"/>
                <a:ea typeface="Calibri" pitchFamily="34" charset="-122"/>
                <a:cs typeface="Calibri" pitchFamily="34" charset="-120"/>
              </a:rPr>
              <a:t>Share IDs, IPs, or ARNs across modules</a:t>
            </a:r>
            <a:endParaRPr lang="en-US" sz="1080" dirty="0"/>
          </a:p>
        </p:txBody>
      </p:sp>
      <p:sp>
        <p:nvSpPr>
          <p:cNvPr id="14" name="Shape 11"/>
          <p:cNvSpPr/>
          <p:nvPr/>
        </p:nvSpPr>
        <p:spPr>
          <a:xfrm>
            <a:off x="4754880" y="2011680"/>
            <a:ext cx="457200" cy="457200"/>
          </a:xfrm>
          <a:prstGeom prst="ellipse">
            <a:avLst/>
          </a:prstGeom>
          <a:solidFill>
            <a:srgbClr val="4C2A85"/>
          </a:solidFill>
          <a:ln/>
        </p:spPr>
      </p:sp>
      <p:pic>
        <p:nvPicPr>
          <p:cNvPr id="15" name="Image 1" descr="preencoded.png">    </p:cNvPr>
          <p:cNvPicPr>
            <a:picLocks noChangeAspect="1"/>
          </p:cNvPicPr>
          <p:nvPr/>
        </p:nvPicPr>
        <p:blipFill>
          <a:blip r:embed="rId2"/>
          <a:stretch>
            <a:fillRect/>
          </a:stretch>
        </p:blipFill>
        <p:spPr>
          <a:xfrm>
            <a:off x="4878324" y="2135124"/>
            <a:ext cx="210312" cy="210312"/>
          </a:xfrm>
          <a:prstGeom prst="rect">
            <a:avLst/>
          </a:prstGeom>
        </p:spPr>
      </p:pic>
      <p:sp>
        <p:nvSpPr>
          <p:cNvPr id="16" name="Text 12"/>
          <p:cNvSpPr/>
          <p:nvPr/>
        </p:nvSpPr>
        <p:spPr>
          <a:xfrm>
            <a:off x="5349240" y="1984248"/>
            <a:ext cx="3246120" cy="292608"/>
          </a:xfrm>
          <a:prstGeom prst="rect">
            <a:avLst/>
          </a:prstGeom>
          <a:noFill/>
          <a:ln/>
        </p:spPr>
        <p:txBody>
          <a:bodyPr wrap="square" lIns="0" tIns="0" rIns="0" bIns="0" rtlCol="0" anchor="ctr"/>
          <a:lstStyle/>
          <a:p>
            <a:pPr indent="0" marL="0">
              <a:buNone/>
            </a:pPr>
            <a:r>
              <a:rPr lang="en-US" sz="1350" b="1" dirty="0">
                <a:solidFill>
                  <a:srgbClr val="241C33"/>
                </a:solidFill>
                <a:latin typeface="Cambria" pitchFamily="34" charset="0"/>
                <a:ea typeface="Cambria" pitchFamily="34" charset="-122"/>
                <a:cs typeface="Cambria" pitchFamily="34" charset="-120"/>
              </a:rPr>
              <a:t>Query Anytime</a:t>
            </a:r>
            <a:endParaRPr lang="en-US" sz="1350" dirty="0"/>
          </a:p>
        </p:txBody>
      </p:sp>
      <p:sp>
        <p:nvSpPr>
          <p:cNvPr id="17" name="Text 13"/>
          <p:cNvSpPr/>
          <p:nvPr/>
        </p:nvSpPr>
        <p:spPr>
          <a:xfrm>
            <a:off x="5349240" y="2267712"/>
            <a:ext cx="3246120" cy="320040"/>
          </a:xfrm>
          <a:prstGeom prst="rect">
            <a:avLst/>
          </a:prstGeom>
          <a:noFill/>
          <a:ln/>
        </p:spPr>
        <p:txBody>
          <a:bodyPr wrap="square" lIns="0" tIns="0" rIns="0" bIns="0" rtlCol="0" anchor="ctr"/>
          <a:lstStyle/>
          <a:p>
            <a:pPr indent="0" marL="0">
              <a:buNone/>
            </a:pPr>
            <a:r>
              <a:rPr lang="en-US" sz="1080" dirty="0">
                <a:solidFill>
                  <a:srgbClr val="6B6480"/>
                </a:solidFill>
                <a:latin typeface="Calibri" pitchFamily="34" charset="0"/>
                <a:ea typeface="Calibri" pitchFamily="34" charset="-122"/>
                <a:cs typeface="Calibri" pitchFamily="34" charset="-120"/>
              </a:rPr>
              <a:t>Run terraform output to view results</a:t>
            </a:r>
            <a:endParaRPr lang="en-US" sz="1080" dirty="0"/>
          </a:p>
        </p:txBody>
      </p:sp>
      <p:sp>
        <p:nvSpPr>
          <p:cNvPr id="18" name="Shape 14"/>
          <p:cNvSpPr/>
          <p:nvPr/>
        </p:nvSpPr>
        <p:spPr>
          <a:xfrm>
            <a:off x="4754880" y="2697480"/>
            <a:ext cx="457200" cy="457200"/>
          </a:xfrm>
          <a:prstGeom prst="ellipse">
            <a:avLst/>
          </a:prstGeom>
          <a:solidFill>
            <a:srgbClr val="4C2A85"/>
          </a:solidFill>
          <a:ln/>
        </p:spPr>
      </p:sp>
      <p:pic>
        <p:nvPicPr>
          <p:cNvPr id="19" name="Image 2" descr="preencoded.png">    </p:cNvPr>
          <p:cNvPicPr>
            <a:picLocks noChangeAspect="1"/>
          </p:cNvPicPr>
          <p:nvPr/>
        </p:nvPicPr>
        <p:blipFill>
          <a:blip r:embed="rId3"/>
          <a:stretch>
            <a:fillRect/>
          </a:stretch>
        </p:blipFill>
        <p:spPr>
          <a:xfrm>
            <a:off x="4878324" y="2820924"/>
            <a:ext cx="210312" cy="210312"/>
          </a:xfrm>
          <a:prstGeom prst="rect">
            <a:avLst/>
          </a:prstGeom>
        </p:spPr>
      </p:pic>
      <p:sp>
        <p:nvSpPr>
          <p:cNvPr id="20" name="Text 15"/>
          <p:cNvSpPr/>
          <p:nvPr/>
        </p:nvSpPr>
        <p:spPr>
          <a:xfrm>
            <a:off x="5349240" y="2670048"/>
            <a:ext cx="3246120" cy="292608"/>
          </a:xfrm>
          <a:prstGeom prst="rect">
            <a:avLst/>
          </a:prstGeom>
          <a:noFill/>
          <a:ln/>
        </p:spPr>
        <p:txBody>
          <a:bodyPr wrap="square" lIns="0" tIns="0" rIns="0" bIns="0" rtlCol="0" anchor="ctr"/>
          <a:lstStyle/>
          <a:p>
            <a:pPr indent="0" marL="0">
              <a:buNone/>
            </a:pPr>
            <a:r>
              <a:rPr lang="en-US" sz="1350" b="1" dirty="0">
                <a:solidFill>
                  <a:srgbClr val="241C33"/>
                </a:solidFill>
                <a:latin typeface="Cambria" pitchFamily="34" charset="0"/>
                <a:ea typeface="Cambria" pitchFamily="34" charset="-122"/>
                <a:cs typeface="Cambria" pitchFamily="34" charset="-120"/>
              </a:rPr>
              <a:t>Chain Configurations</a:t>
            </a:r>
            <a:endParaRPr lang="en-US" sz="1350" dirty="0"/>
          </a:p>
        </p:txBody>
      </p:sp>
      <p:sp>
        <p:nvSpPr>
          <p:cNvPr id="21" name="Text 16"/>
          <p:cNvSpPr/>
          <p:nvPr/>
        </p:nvSpPr>
        <p:spPr>
          <a:xfrm>
            <a:off x="5349240" y="2953512"/>
            <a:ext cx="3246120" cy="320040"/>
          </a:xfrm>
          <a:prstGeom prst="rect">
            <a:avLst/>
          </a:prstGeom>
          <a:noFill/>
          <a:ln/>
        </p:spPr>
        <p:txBody>
          <a:bodyPr wrap="square" lIns="0" tIns="0" rIns="0" bIns="0" rtlCol="0" anchor="ctr"/>
          <a:lstStyle/>
          <a:p>
            <a:pPr indent="0" marL="0">
              <a:buNone/>
            </a:pPr>
            <a:r>
              <a:rPr lang="en-US" sz="1080" dirty="0">
                <a:solidFill>
                  <a:srgbClr val="6B6480"/>
                </a:solidFill>
                <a:latin typeface="Calibri" pitchFamily="34" charset="0"/>
                <a:ea typeface="Calibri" pitchFamily="34" charset="-122"/>
                <a:cs typeface="Calibri" pitchFamily="34" charset="-120"/>
              </a:rPr>
              <a:t>Feed one module's output into another</a:t>
            </a:r>
            <a:endParaRPr lang="en-US" sz="1080" dirty="0"/>
          </a:p>
        </p:txBody>
      </p:sp>
      <p:sp>
        <p:nvSpPr>
          <p:cNvPr id="22" name="Shape 17"/>
          <p:cNvSpPr/>
          <p:nvPr/>
        </p:nvSpPr>
        <p:spPr>
          <a:xfrm>
            <a:off x="548640" y="3246120"/>
            <a:ext cx="8046720" cy="1234440"/>
          </a:xfrm>
          <a:prstGeom prst="roundRect">
            <a:avLst>
              <a:gd name="adj" fmla="val 6667"/>
            </a:avLst>
          </a:prstGeom>
          <a:solidFill>
            <a:srgbClr val="EDE7FA"/>
          </a:solidFill>
          <a:ln/>
          <a:effectLst>
            <a:outerShdw sx="100000" sy="100000" kx="0" ky="0" algn="bl" rotWithShape="0" blurRad="101600" dist="38100" dir="2700000">
              <a:srgbClr val="000000">
                <a:alpha val="12000"/>
              </a:srgbClr>
            </a:outerShdw>
          </a:effectLst>
        </p:spPr>
      </p:sp>
      <p:sp>
        <p:nvSpPr>
          <p:cNvPr id="23" name="Shape 18"/>
          <p:cNvSpPr/>
          <p:nvPr/>
        </p:nvSpPr>
        <p:spPr>
          <a:xfrm>
            <a:off x="777240" y="3465576"/>
            <a:ext cx="502920" cy="502920"/>
          </a:xfrm>
          <a:prstGeom prst="ellipse">
            <a:avLst/>
          </a:prstGeom>
          <a:solidFill>
            <a:srgbClr val="4C2A85"/>
          </a:solidFill>
          <a:ln/>
        </p:spPr>
      </p:sp>
      <p:pic>
        <p:nvPicPr>
          <p:cNvPr id="24" name="Image 3" descr="preencoded.png">    </p:cNvPr>
          <p:cNvPicPr>
            <a:picLocks noChangeAspect="1"/>
          </p:cNvPicPr>
          <p:nvPr/>
        </p:nvPicPr>
        <p:blipFill>
          <a:blip r:embed="rId4"/>
          <a:stretch>
            <a:fillRect/>
          </a:stretch>
        </p:blipFill>
        <p:spPr>
          <a:xfrm>
            <a:off x="913028" y="3601364"/>
            <a:ext cx="231343" cy="231343"/>
          </a:xfrm>
          <a:prstGeom prst="rect">
            <a:avLst/>
          </a:prstGeom>
        </p:spPr>
      </p:pic>
      <p:sp>
        <p:nvSpPr>
          <p:cNvPr id="25" name="Text 19"/>
          <p:cNvSpPr/>
          <p:nvPr/>
        </p:nvSpPr>
        <p:spPr>
          <a:xfrm>
            <a:off x="1417320" y="3429000"/>
            <a:ext cx="6949440" cy="292608"/>
          </a:xfrm>
          <a:prstGeom prst="rect">
            <a:avLst/>
          </a:prstGeom>
          <a:noFill/>
          <a:ln/>
        </p:spPr>
        <p:txBody>
          <a:bodyPr wrap="square" lIns="0" tIns="0" rIns="0" bIns="0" rtlCol="0" anchor="ctr"/>
          <a:lstStyle/>
          <a:p>
            <a:pPr indent="0" marL="0">
              <a:buNone/>
            </a:pPr>
            <a:r>
              <a:rPr lang="en-US" sz="1400" b="1" dirty="0">
                <a:solidFill>
                  <a:srgbClr val="241C33"/>
                </a:solidFill>
                <a:latin typeface="Cambria" pitchFamily="34" charset="0"/>
                <a:ea typeface="Cambria" pitchFamily="34" charset="-122"/>
                <a:cs typeface="Cambria" pitchFamily="34" charset="-120"/>
              </a:rPr>
              <a:t>Fetch outputs after deployment</a:t>
            </a:r>
            <a:endParaRPr lang="en-US" sz="1400" dirty="0"/>
          </a:p>
        </p:txBody>
      </p:sp>
      <p:sp>
        <p:nvSpPr>
          <p:cNvPr id="26" name="Text 20"/>
          <p:cNvSpPr/>
          <p:nvPr/>
        </p:nvSpPr>
        <p:spPr>
          <a:xfrm>
            <a:off x="1417320" y="3749040"/>
            <a:ext cx="6949440" cy="457200"/>
          </a:xfrm>
          <a:prstGeom prst="rect">
            <a:avLst/>
          </a:prstGeom>
          <a:noFill/>
          <a:ln/>
        </p:spPr>
        <p:txBody>
          <a:bodyPr wrap="square" lIns="0" tIns="0" rIns="0" bIns="0" rtlCol="0" anchor="ctr"/>
          <a:lstStyle/>
          <a:p>
            <a:pPr indent="0" marL="0">
              <a:buNone/>
            </a:pPr>
            <a:r>
              <a:rPr lang="en-US" sz="1300" b="1" dirty="0">
                <a:solidFill>
                  <a:srgbClr val="4C2A85"/>
                </a:solidFill>
                <a:latin typeface="Courier New" pitchFamily="34" charset="0"/>
                <a:ea typeface="Courier New" pitchFamily="34" charset="-122"/>
                <a:cs typeface="Courier New" pitchFamily="34" charset="-120"/>
              </a:rPr>
              <a:t>$ terraform output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B1A4A"/>
        </a:solidFill>
      </p:bgPr>
    </p:bg>
    <p:spTree>
      <p:nvGrpSpPr>
        <p:cNvPr id="1" name=""/>
        <p:cNvGrpSpPr/>
        <p:nvPr/>
      </p:nvGrpSpPr>
      <p:grpSpPr>
        <a:xfrm>
          <a:off x="0" y="0"/>
          <a:ext cx="0" cy="0"/>
          <a:chOff x="0" y="0"/>
          <a:chExt cx="0" cy="0"/>
        </a:xfrm>
      </p:grpSpPr>
      <p:sp>
        <p:nvSpPr>
          <p:cNvPr id="2" name="Shape 0"/>
          <p:cNvSpPr/>
          <p:nvPr/>
        </p:nvSpPr>
        <p:spPr>
          <a:xfrm>
            <a:off x="6675120" y="3108960"/>
            <a:ext cx="3657600" cy="3657600"/>
          </a:xfrm>
          <a:prstGeom prst="ellipse">
            <a:avLst/>
          </a:prstGeom>
          <a:solidFill>
            <a:srgbClr val="6C41B8">
              <a:alpha val="40000"/>
            </a:srgbClr>
          </a:solidFill>
          <a:ln/>
        </p:spPr>
      </p:sp>
      <p:sp>
        <p:nvSpPr>
          <p:cNvPr id="3" name="Shape 1"/>
          <p:cNvSpPr/>
          <p:nvPr/>
        </p:nvSpPr>
        <p:spPr>
          <a:xfrm>
            <a:off x="548640" y="411480"/>
            <a:ext cx="594360" cy="594360"/>
          </a:xfrm>
          <a:prstGeom prst="ellipse">
            <a:avLst/>
          </a:prstGeom>
          <a:solidFill>
            <a:srgbClr val="6C41B8"/>
          </a:solidFill>
          <a:ln/>
        </p:spPr>
      </p:sp>
      <p:pic>
        <p:nvPicPr>
          <p:cNvPr id="4" name="Image 0" descr="preencoded.png">    </p:cNvPr>
          <p:cNvPicPr>
            <a:picLocks noChangeAspect="1"/>
          </p:cNvPicPr>
          <p:nvPr/>
        </p:nvPicPr>
        <p:blipFill>
          <a:blip r:embed="rId1"/>
          <a:stretch>
            <a:fillRect/>
          </a:stretch>
        </p:blipFill>
        <p:spPr>
          <a:xfrm>
            <a:off x="709117" y="571957"/>
            <a:ext cx="273406" cy="273406"/>
          </a:xfrm>
          <a:prstGeom prst="rect">
            <a:avLst/>
          </a:prstGeom>
        </p:spPr>
      </p:pic>
      <p:sp>
        <p:nvSpPr>
          <p:cNvPr id="5" name="Text 2"/>
          <p:cNvSpPr/>
          <p:nvPr/>
        </p:nvSpPr>
        <p:spPr>
          <a:xfrm>
            <a:off x="1280160" y="411480"/>
            <a:ext cx="6400800" cy="59436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5.4  Sensitive Variables</a:t>
            </a:r>
            <a:endParaRPr lang="en-US" sz="2600" dirty="0"/>
          </a:p>
        </p:txBody>
      </p:sp>
      <p:sp>
        <p:nvSpPr>
          <p:cNvPr id="6" name="Text 3"/>
          <p:cNvSpPr/>
          <p:nvPr/>
        </p:nvSpPr>
        <p:spPr>
          <a:xfrm>
            <a:off x="548640" y="1051560"/>
            <a:ext cx="8046720" cy="457200"/>
          </a:xfrm>
          <a:prstGeom prst="rect">
            <a:avLst/>
          </a:prstGeom>
          <a:noFill/>
          <a:ln/>
        </p:spPr>
        <p:txBody>
          <a:bodyPr wrap="square" lIns="0" tIns="0" rIns="0" bIns="0" rtlCol="0" anchor="ctr"/>
          <a:lstStyle/>
          <a:p>
            <a:pPr indent="0" marL="0">
              <a:buNone/>
            </a:pPr>
            <a:r>
              <a:rPr lang="en-US" sz="1300" i="1" dirty="0">
                <a:solidFill>
                  <a:srgbClr val="C9BEEA"/>
                </a:solidFill>
                <a:latin typeface="Calibri" pitchFamily="34" charset="0"/>
                <a:ea typeface="Calibri" pitchFamily="34" charset="-122"/>
                <a:cs typeface="Calibri" pitchFamily="34" charset="-120"/>
              </a:rPr>
              <a:t>By default Terraform prints variable values in logs — mark secrets sensitive to hide them from CLI output.</a:t>
            </a:r>
            <a:endParaRPr lang="en-US" sz="1300" dirty="0"/>
          </a:p>
        </p:txBody>
      </p:sp>
      <p:sp>
        <p:nvSpPr>
          <p:cNvPr id="7" name="Shape 4"/>
          <p:cNvSpPr/>
          <p:nvPr/>
        </p:nvSpPr>
        <p:spPr>
          <a:xfrm>
            <a:off x="548640" y="1691640"/>
            <a:ext cx="3977640" cy="1417320"/>
          </a:xfrm>
          <a:prstGeom prst="roundRect">
            <a:avLst>
              <a:gd name="adj" fmla="val 5161"/>
            </a:avLst>
          </a:prstGeom>
          <a:solidFill>
            <a:srgbClr val="1E1B2E"/>
          </a:solidFill>
          <a:ln/>
          <a:effectLst>
            <a:outerShdw sx="100000" sy="100000" kx="0" ky="0" algn="bl" rotWithShape="0" blurRad="101600" dist="38100" dir="2700000">
              <a:srgbClr val="000000">
                <a:alpha val="12000"/>
              </a:srgbClr>
            </a:outerShdw>
          </a:effectLst>
        </p:spPr>
      </p:sp>
      <p:sp>
        <p:nvSpPr>
          <p:cNvPr id="8" name="Shape 5"/>
          <p:cNvSpPr/>
          <p:nvPr/>
        </p:nvSpPr>
        <p:spPr>
          <a:xfrm>
            <a:off x="713232" y="1837944"/>
            <a:ext cx="91440" cy="91440"/>
          </a:xfrm>
          <a:prstGeom prst="ellipse">
            <a:avLst/>
          </a:prstGeom>
          <a:solidFill>
            <a:srgbClr val="FF5F56"/>
          </a:solidFill>
          <a:ln/>
        </p:spPr>
      </p:sp>
      <p:sp>
        <p:nvSpPr>
          <p:cNvPr id="9" name="Shape 6"/>
          <p:cNvSpPr/>
          <p:nvPr/>
        </p:nvSpPr>
        <p:spPr>
          <a:xfrm>
            <a:off x="886968" y="1837944"/>
            <a:ext cx="91440" cy="91440"/>
          </a:xfrm>
          <a:prstGeom prst="ellipse">
            <a:avLst/>
          </a:prstGeom>
          <a:solidFill>
            <a:srgbClr val="FFBD2E"/>
          </a:solidFill>
          <a:ln/>
        </p:spPr>
      </p:sp>
      <p:sp>
        <p:nvSpPr>
          <p:cNvPr id="10" name="Shape 7"/>
          <p:cNvSpPr/>
          <p:nvPr/>
        </p:nvSpPr>
        <p:spPr>
          <a:xfrm>
            <a:off x="1060704" y="1837944"/>
            <a:ext cx="91440" cy="91440"/>
          </a:xfrm>
          <a:prstGeom prst="ellipse">
            <a:avLst/>
          </a:prstGeom>
          <a:solidFill>
            <a:srgbClr val="27C93F"/>
          </a:solidFill>
          <a:ln/>
        </p:spPr>
      </p:sp>
      <p:sp>
        <p:nvSpPr>
          <p:cNvPr id="11" name="Text 8"/>
          <p:cNvSpPr/>
          <p:nvPr/>
        </p:nvSpPr>
        <p:spPr>
          <a:xfrm>
            <a:off x="1280160" y="1810512"/>
            <a:ext cx="2880360" cy="164592"/>
          </a:xfrm>
          <a:prstGeom prst="rect">
            <a:avLst/>
          </a:prstGeom>
          <a:noFill/>
          <a:ln/>
        </p:spPr>
        <p:txBody>
          <a:bodyPr wrap="square" lIns="0" tIns="0" rIns="0" bIns="0" rtlCol="0" anchor="ctr"/>
          <a:lstStyle/>
          <a:p>
            <a:pPr algn="l" indent="0" marL="0">
              <a:buNone/>
            </a:pPr>
            <a:r>
              <a:rPr lang="en-US" sz="1000" dirty="0">
                <a:solidFill>
                  <a:srgbClr val="9A93B5"/>
                </a:solidFill>
                <a:latin typeface="Courier New" pitchFamily="34" charset="0"/>
                <a:ea typeface="Courier New" pitchFamily="34" charset="-122"/>
                <a:cs typeface="Courier New" pitchFamily="34" charset="-120"/>
              </a:rPr>
              <a:t>variables.tf</a:t>
            </a:r>
            <a:endParaRPr lang="en-US" sz="1000" dirty="0"/>
          </a:p>
        </p:txBody>
      </p:sp>
      <p:sp>
        <p:nvSpPr>
          <p:cNvPr id="12" name="Text 9"/>
          <p:cNvSpPr/>
          <p:nvPr/>
        </p:nvSpPr>
        <p:spPr>
          <a:xfrm>
            <a:off x="804672" y="2075688"/>
            <a:ext cx="3465576" cy="868680"/>
          </a:xfrm>
          <a:prstGeom prst="rect">
            <a:avLst/>
          </a:prstGeom>
          <a:noFill/>
          <a:ln/>
        </p:spPr>
        <p:txBody>
          <a:bodyPr wrap="square" lIns="0" tIns="0" rIns="0" bIns="0" rtlCol="0" anchor="t"/>
          <a:lstStyle/>
          <a:p>
            <a:pPr indent="0" marL="0">
              <a:lnSpc>
                <a:spcPct val="112000"/>
              </a:lnSpc>
              <a:buNone/>
            </a:pPr>
            <a:r>
              <a:rPr lang="en-US" sz="1150" dirty="0">
                <a:solidFill>
                  <a:srgbClr val="C792EA"/>
                </a:solidFill>
                <a:latin typeface="Courier New" pitchFamily="34" charset="0"/>
                <a:ea typeface="Courier New" pitchFamily="34" charset="-122"/>
                <a:cs typeface="Courier New" pitchFamily="34" charset="-120"/>
              </a:rPr>
              <a:t>variable </a:t>
            </a:r>
            <a:pPr indent="0" marL="0">
              <a:lnSpc>
                <a:spcPct val="112000"/>
              </a:lnSpc>
              <a:buNone/>
            </a:pPr>
            <a:r>
              <a:rPr lang="en-US" sz="1150" dirty="0">
                <a:solidFill>
                  <a:srgbClr val="9CDCB4"/>
                </a:solidFill>
                <a:latin typeface="Courier New" pitchFamily="34" charset="0"/>
                <a:ea typeface="Courier New" pitchFamily="34" charset="-122"/>
                <a:cs typeface="Courier New" pitchFamily="34" charset="-120"/>
              </a:rPr>
              <a:t>"db_password"</a:t>
            </a:r>
            <a:pPr indent="0" marL="0">
              <a:lnSpc>
                <a:spcPct val="112000"/>
              </a:lnSpc>
              <a:buNone/>
            </a:pPr>
            <a:r>
              <a:rPr lang="en-US" sz="1150" dirty="0">
                <a:solidFill>
                  <a:srgbClr val="E4E1F0"/>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7FB3E8"/>
                </a:solidFill>
                <a:latin typeface="Courier New" pitchFamily="34" charset="0"/>
                <a:ea typeface="Courier New" pitchFamily="34" charset="-122"/>
                <a:cs typeface="Courier New" pitchFamily="34" charset="-120"/>
              </a:rPr>
              <a:t>  type     </a:t>
            </a:r>
            <a:pPr indent="0" marL="0">
              <a:lnSpc>
                <a:spcPct val="112000"/>
              </a:lnSpc>
              <a:buNone/>
            </a:pPr>
            <a:r>
              <a:rPr lang="en-US" sz="1150" dirty="0">
                <a:solidFill>
                  <a:srgbClr val="E4E1F0"/>
                </a:solidFill>
                <a:latin typeface="Courier New" pitchFamily="34" charset="0"/>
                <a:ea typeface="Courier New" pitchFamily="34" charset="-122"/>
                <a:cs typeface="Courier New" pitchFamily="34" charset="-120"/>
              </a:rPr>
              <a:t> = string</a:t>
            </a:r>
            <a:endParaRPr lang="en-US" sz="1150" dirty="0"/>
          </a:p>
          <a:p>
            <a:pPr indent="0" marL="0">
              <a:lnSpc>
                <a:spcPct val="112000"/>
              </a:lnSpc>
              <a:buNone/>
            </a:pPr>
            <a:r>
              <a:rPr lang="en-US" sz="1150" dirty="0">
                <a:solidFill>
                  <a:srgbClr val="7FB3E8"/>
                </a:solidFill>
                <a:latin typeface="Courier New" pitchFamily="34" charset="0"/>
                <a:ea typeface="Courier New" pitchFamily="34" charset="-122"/>
                <a:cs typeface="Courier New" pitchFamily="34" charset="-120"/>
              </a:rPr>
              <a:t>  sensitive</a:t>
            </a:r>
            <a:pPr indent="0" marL="0">
              <a:lnSpc>
                <a:spcPct val="112000"/>
              </a:lnSpc>
              <a:buNone/>
            </a:pPr>
            <a:r>
              <a:rPr lang="en-US" sz="1150" dirty="0">
                <a:solidFill>
                  <a:srgbClr val="E4E1F0"/>
                </a:solidFill>
                <a:latin typeface="Courier New" pitchFamily="34" charset="0"/>
                <a:ea typeface="Courier New" pitchFamily="34" charset="-122"/>
                <a:cs typeface="Courier New" pitchFamily="34" charset="-120"/>
              </a:rPr>
              <a:t> = true</a:t>
            </a:r>
            <a:endParaRPr lang="en-US" sz="1150" dirty="0"/>
          </a:p>
          <a:p>
            <a:pPr indent="0" marL="0">
              <a:lnSpc>
                <a:spcPct val="112000"/>
              </a:lnSpc>
              <a:buNone/>
            </a:pPr>
            <a:r>
              <a:rPr lang="en-US" sz="1150" dirty="0">
                <a:solidFill>
                  <a:srgbClr val="E4E1F0"/>
                </a:solidFill>
                <a:latin typeface="Courier New" pitchFamily="34" charset="0"/>
                <a:ea typeface="Courier New" pitchFamily="34" charset="-122"/>
                <a:cs typeface="Courier New" pitchFamily="34" charset="-120"/>
              </a:rPr>
              <a:t>}</a:t>
            </a:r>
            <a:endParaRPr lang="en-US" sz="1150" dirty="0"/>
          </a:p>
        </p:txBody>
      </p:sp>
      <p:sp>
        <p:nvSpPr>
          <p:cNvPr id="13" name="Shape 10"/>
          <p:cNvSpPr/>
          <p:nvPr/>
        </p:nvSpPr>
        <p:spPr>
          <a:xfrm>
            <a:off x="4617720" y="1691640"/>
            <a:ext cx="3977640" cy="1417320"/>
          </a:xfrm>
          <a:prstGeom prst="roundRect">
            <a:avLst>
              <a:gd name="adj" fmla="val 5161"/>
            </a:avLst>
          </a:prstGeom>
          <a:solidFill>
            <a:srgbClr val="1E1B2E"/>
          </a:solidFill>
          <a:ln/>
          <a:effectLst>
            <a:outerShdw sx="100000" sy="100000" kx="0" ky="0" algn="bl" rotWithShape="0" blurRad="101600" dist="38100" dir="2700000">
              <a:srgbClr val="000000">
                <a:alpha val="12000"/>
              </a:srgbClr>
            </a:outerShdw>
          </a:effectLst>
        </p:spPr>
      </p:sp>
      <p:sp>
        <p:nvSpPr>
          <p:cNvPr id="14" name="Shape 11"/>
          <p:cNvSpPr/>
          <p:nvPr/>
        </p:nvSpPr>
        <p:spPr>
          <a:xfrm>
            <a:off x="4782312" y="1837944"/>
            <a:ext cx="91440" cy="91440"/>
          </a:xfrm>
          <a:prstGeom prst="ellipse">
            <a:avLst/>
          </a:prstGeom>
          <a:solidFill>
            <a:srgbClr val="FF5F56"/>
          </a:solidFill>
          <a:ln/>
        </p:spPr>
      </p:sp>
      <p:sp>
        <p:nvSpPr>
          <p:cNvPr id="15" name="Shape 12"/>
          <p:cNvSpPr/>
          <p:nvPr/>
        </p:nvSpPr>
        <p:spPr>
          <a:xfrm>
            <a:off x="4956048" y="1837944"/>
            <a:ext cx="91440" cy="91440"/>
          </a:xfrm>
          <a:prstGeom prst="ellipse">
            <a:avLst/>
          </a:prstGeom>
          <a:solidFill>
            <a:srgbClr val="FFBD2E"/>
          </a:solidFill>
          <a:ln/>
        </p:spPr>
      </p:sp>
      <p:sp>
        <p:nvSpPr>
          <p:cNvPr id="16" name="Shape 13"/>
          <p:cNvSpPr/>
          <p:nvPr/>
        </p:nvSpPr>
        <p:spPr>
          <a:xfrm>
            <a:off x="5129784" y="1837944"/>
            <a:ext cx="91440" cy="91440"/>
          </a:xfrm>
          <a:prstGeom prst="ellipse">
            <a:avLst/>
          </a:prstGeom>
          <a:solidFill>
            <a:srgbClr val="27C93F"/>
          </a:solidFill>
          <a:ln/>
        </p:spPr>
      </p:sp>
      <p:sp>
        <p:nvSpPr>
          <p:cNvPr id="17" name="Text 14"/>
          <p:cNvSpPr/>
          <p:nvPr/>
        </p:nvSpPr>
        <p:spPr>
          <a:xfrm>
            <a:off x="5349240" y="1810512"/>
            <a:ext cx="2880360" cy="164592"/>
          </a:xfrm>
          <a:prstGeom prst="rect">
            <a:avLst/>
          </a:prstGeom>
          <a:noFill/>
          <a:ln/>
        </p:spPr>
        <p:txBody>
          <a:bodyPr wrap="square" lIns="0" tIns="0" rIns="0" bIns="0" rtlCol="0" anchor="ctr"/>
          <a:lstStyle/>
          <a:p>
            <a:pPr algn="l" indent="0" marL="0">
              <a:buNone/>
            </a:pPr>
            <a:r>
              <a:rPr lang="en-US" sz="1000" dirty="0">
                <a:solidFill>
                  <a:srgbClr val="9A93B5"/>
                </a:solidFill>
                <a:latin typeface="Courier New" pitchFamily="34" charset="0"/>
                <a:ea typeface="Courier New" pitchFamily="34" charset="-122"/>
                <a:cs typeface="Courier New" pitchFamily="34" charset="-120"/>
              </a:rPr>
              <a:t>outputs.tf</a:t>
            </a:r>
            <a:endParaRPr lang="en-US" sz="1000" dirty="0"/>
          </a:p>
        </p:txBody>
      </p:sp>
      <p:sp>
        <p:nvSpPr>
          <p:cNvPr id="18" name="Text 15"/>
          <p:cNvSpPr/>
          <p:nvPr/>
        </p:nvSpPr>
        <p:spPr>
          <a:xfrm>
            <a:off x="4873752" y="2075688"/>
            <a:ext cx="3465576" cy="868680"/>
          </a:xfrm>
          <a:prstGeom prst="rect">
            <a:avLst/>
          </a:prstGeom>
          <a:noFill/>
          <a:ln/>
        </p:spPr>
        <p:txBody>
          <a:bodyPr wrap="square" lIns="0" tIns="0" rIns="0" bIns="0" rtlCol="0" anchor="t"/>
          <a:lstStyle/>
          <a:p>
            <a:pPr indent="0" marL="0">
              <a:lnSpc>
                <a:spcPct val="112000"/>
              </a:lnSpc>
              <a:buNone/>
            </a:pPr>
            <a:r>
              <a:rPr lang="en-US" sz="1150" dirty="0">
                <a:solidFill>
                  <a:srgbClr val="C792EA"/>
                </a:solidFill>
                <a:latin typeface="Courier New" pitchFamily="34" charset="0"/>
                <a:ea typeface="Courier New" pitchFamily="34" charset="-122"/>
                <a:cs typeface="Courier New" pitchFamily="34" charset="-120"/>
              </a:rPr>
              <a:t>output </a:t>
            </a:r>
            <a:pPr indent="0" marL="0">
              <a:lnSpc>
                <a:spcPct val="112000"/>
              </a:lnSpc>
              <a:buNone/>
            </a:pPr>
            <a:r>
              <a:rPr lang="en-US" sz="1150" dirty="0">
                <a:solidFill>
                  <a:srgbClr val="9CDCB4"/>
                </a:solidFill>
                <a:latin typeface="Courier New" pitchFamily="34" charset="0"/>
                <a:ea typeface="Courier New" pitchFamily="34" charset="-122"/>
                <a:cs typeface="Courier New" pitchFamily="34" charset="-120"/>
              </a:rPr>
              <a:t>"database_password"</a:t>
            </a:r>
            <a:pPr indent="0" marL="0">
              <a:lnSpc>
                <a:spcPct val="112000"/>
              </a:lnSpc>
              <a:buNone/>
            </a:pPr>
            <a:r>
              <a:rPr lang="en-US" sz="1150" dirty="0">
                <a:solidFill>
                  <a:srgbClr val="E4E1F0"/>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7FB3E8"/>
                </a:solidFill>
                <a:latin typeface="Courier New" pitchFamily="34" charset="0"/>
                <a:ea typeface="Courier New" pitchFamily="34" charset="-122"/>
                <a:cs typeface="Courier New" pitchFamily="34" charset="-120"/>
              </a:rPr>
              <a:t>  value    </a:t>
            </a:r>
            <a:pPr indent="0" marL="0">
              <a:lnSpc>
                <a:spcPct val="112000"/>
              </a:lnSpc>
              <a:buNone/>
            </a:pPr>
            <a:r>
              <a:rPr lang="en-US" sz="1150" dirty="0">
                <a:solidFill>
                  <a:srgbClr val="E4E1F0"/>
                </a:solidFill>
                <a:latin typeface="Courier New" pitchFamily="34" charset="0"/>
                <a:ea typeface="Courier New" pitchFamily="34" charset="-122"/>
                <a:cs typeface="Courier New" pitchFamily="34" charset="-120"/>
              </a:rPr>
              <a:t> = var.db_password</a:t>
            </a:r>
            <a:endParaRPr lang="en-US" sz="1150" dirty="0"/>
          </a:p>
          <a:p>
            <a:pPr indent="0" marL="0">
              <a:lnSpc>
                <a:spcPct val="112000"/>
              </a:lnSpc>
              <a:buNone/>
            </a:pPr>
            <a:r>
              <a:rPr lang="en-US" sz="1150" dirty="0">
                <a:solidFill>
                  <a:srgbClr val="7FB3E8"/>
                </a:solidFill>
                <a:latin typeface="Courier New" pitchFamily="34" charset="0"/>
                <a:ea typeface="Courier New" pitchFamily="34" charset="-122"/>
                <a:cs typeface="Courier New" pitchFamily="34" charset="-120"/>
              </a:rPr>
              <a:t>  sensitive</a:t>
            </a:r>
            <a:pPr indent="0" marL="0">
              <a:lnSpc>
                <a:spcPct val="112000"/>
              </a:lnSpc>
              <a:buNone/>
            </a:pPr>
            <a:r>
              <a:rPr lang="en-US" sz="1150" dirty="0">
                <a:solidFill>
                  <a:srgbClr val="E4E1F0"/>
                </a:solidFill>
                <a:latin typeface="Courier New" pitchFamily="34" charset="0"/>
                <a:ea typeface="Courier New" pitchFamily="34" charset="-122"/>
                <a:cs typeface="Courier New" pitchFamily="34" charset="-120"/>
              </a:rPr>
              <a:t> = true</a:t>
            </a:r>
            <a:endParaRPr lang="en-US" sz="1150" dirty="0"/>
          </a:p>
          <a:p>
            <a:pPr indent="0" marL="0">
              <a:lnSpc>
                <a:spcPct val="112000"/>
              </a:lnSpc>
              <a:buNone/>
            </a:pPr>
            <a:r>
              <a:rPr lang="en-US" sz="1150" dirty="0">
                <a:solidFill>
                  <a:srgbClr val="E4E1F0"/>
                </a:solidFill>
                <a:latin typeface="Courier New" pitchFamily="34" charset="0"/>
                <a:ea typeface="Courier New" pitchFamily="34" charset="-122"/>
                <a:cs typeface="Courier New" pitchFamily="34" charset="-120"/>
              </a:rPr>
              <a:t>}</a:t>
            </a:r>
            <a:endParaRPr lang="en-US" sz="1150" dirty="0"/>
          </a:p>
        </p:txBody>
      </p:sp>
      <p:sp>
        <p:nvSpPr>
          <p:cNvPr id="19" name="Shape 16"/>
          <p:cNvSpPr/>
          <p:nvPr/>
        </p:nvSpPr>
        <p:spPr>
          <a:xfrm>
            <a:off x="548640" y="3291840"/>
            <a:ext cx="8046720" cy="1234440"/>
          </a:xfrm>
          <a:prstGeom prst="roundRect">
            <a:avLst>
              <a:gd name="adj" fmla="val 6667"/>
            </a:avLst>
          </a:prstGeom>
          <a:solidFill>
            <a:srgbClr val="6C41B8">
              <a:alpha val="85000"/>
            </a:srgbClr>
          </a:solidFill>
          <a:ln/>
        </p:spPr>
      </p:sp>
      <p:sp>
        <p:nvSpPr>
          <p:cNvPr id="20" name="Shape 17"/>
          <p:cNvSpPr/>
          <p:nvPr/>
        </p:nvSpPr>
        <p:spPr>
          <a:xfrm>
            <a:off x="777240" y="3520440"/>
            <a:ext cx="502920" cy="502920"/>
          </a:xfrm>
          <a:prstGeom prst="ellipse">
            <a:avLst/>
          </a:prstGeom>
          <a:solidFill>
            <a:srgbClr val="F0A430"/>
          </a:solidFill>
          <a:ln/>
        </p:spPr>
      </p:sp>
      <p:pic>
        <p:nvPicPr>
          <p:cNvPr id="21" name="Image 1" descr="preencoded.png">    </p:cNvPr>
          <p:cNvPicPr>
            <a:picLocks noChangeAspect="1"/>
          </p:cNvPicPr>
          <p:nvPr/>
        </p:nvPicPr>
        <p:blipFill>
          <a:blip r:embed="rId2"/>
          <a:stretch>
            <a:fillRect/>
          </a:stretch>
        </p:blipFill>
        <p:spPr>
          <a:xfrm>
            <a:off x="913028" y="3656228"/>
            <a:ext cx="231343" cy="231343"/>
          </a:xfrm>
          <a:prstGeom prst="rect">
            <a:avLst/>
          </a:prstGeom>
        </p:spPr>
      </p:pic>
      <p:sp>
        <p:nvSpPr>
          <p:cNvPr id="22" name="Text 18"/>
          <p:cNvSpPr/>
          <p:nvPr/>
        </p:nvSpPr>
        <p:spPr>
          <a:xfrm>
            <a:off x="1417320" y="3429000"/>
            <a:ext cx="6949440" cy="914400"/>
          </a:xfrm>
          <a:prstGeom prst="rect">
            <a:avLst/>
          </a:prstGeom>
          <a:noFill/>
          <a:ln/>
        </p:spPr>
        <p:txBody>
          <a:bodyPr wrap="square" lIns="0" tIns="0" rIns="0" bIns="0" rtlCol="0" anchor="ctr"/>
          <a:lstStyle/>
          <a:p>
            <a:pPr indent="0" marL="0">
              <a:lnSpc>
                <a:spcPct val="125000"/>
              </a:lnSpc>
              <a:buNone/>
            </a:pPr>
            <a:r>
              <a:rPr lang="en-US" sz="1250" dirty="0">
                <a:solidFill>
                  <a:srgbClr val="FFFFFF"/>
                </a:solidFill>
                <a:latin typeface="Calibri" pitchFamily="34" charset="0"/>
                <a:ea typeface="Calibri" pitchFamily="34" charset="-122"/>
                <a:cs typeface="Calibri" pitchFamily="34" charset="-120"/>
              </a:rPr>
              <a:t>Terraform hides sensitive values in CLI output — plans, applies, and terraform output all show (sensitive value) instead of the real secret.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02920" cy="502920"/>
          </a:xfrm>
          <a:prstGeom prst="ellipse">
            <a:avLst/>
          </a:prstGeom>
          <a:solidFill>
            <a:srgbClr val="4C2A85"/>
          </a:solidFill>
          <a:ln/>
        </p:spPr>
      </p:sp>
      <p:pic>
        <p:nvPicPr>
          <p:cNvPr id="3" name="Image 0" descr="preencoded.png">    </p:cNvPr>
          <p:cNvPicPr>
            <a:picLocks noChangeAspect="1"/>
          </p:cNvPicPr>
          <p:nvPr/>
        </p:nvPicPr>
        <p:blipFill>
          <a:blip r:embed="rId1"/>
          <a:stretch>
            <a:fillRect/>
          </a:stretch>
        </p:blipFill>
        <p:spPr>
          <a:xfrm>
            <a:off x="684428" y="519836"/>
            <a:ext cx="231343" cy="231343"/>
          </a:xfrm>
          <a:prstGeom prst="rect">
            <a:avLst/>
          </a:prstGeom>
        </p:spPr>
      </p:pic>
      <p:sp>
        <p:nvSpPr>
          <p:cNvPr id="4" name="Text 1"/>
          <p:cNvSpPr/>
          <p:nvPr/>
        </p:nvSpPr>
        <p:spPr>
          <a:xfrm>
            <a:off x="1234440" y="365760"/>
            <a:ext cx="7132320" cy="548640"/>
          </a:xfrm>
          <a:prstGeom prst="rect">
            <a:avLst/>
          </a:prstGeom>
          <a:noFill/>
          <a:ln/>
        </p:spPr>
        <p:txBody>
          <a:bodyPr wrap="square" lIns="0" tIns="0" rIns="0" bIns="0" rtlCol="0" anchor="ctr"/>
          <a:lstStyle/>
          <a:p>
            <a:pPr indent="0" marL="0">
              <a:buNone/>
            </a:pPr>
            <a:r>
              <a:rPr lang="en-US" sz="2400" b="1" dirty="0">
                <a:solidFill>
                  <a:srgbClr val="241C33"/>
                </a:solidFill>
                <a:latin typeface="Cambria" pitchFamily="34" charset="0"/>
                <a:ea typeface="Cambria" pitchFamily="34" charset="-122"/>
                <a:cs typeface="Cambria" pitchFamily="34" charset="-120"/>
              </a:rPr>
              <a:t>Walkthrough — Dynamic VPC CIDR Block</a:t>
            </a:r>
            <a:endParaRPr lang="en-US" sz="2400" dirty="0"/>
          </a:p>
        </p:txBody>
      </p:sp>
      <p:sp>
        <p:nvSpPr>
          <p:cNvPr id="5" name="Text 2"/>
          <p:cNvSpPr/>
          <p:nvPr/>
        </p:nvSpPr>
        <p:spPr>
          <a:xfrm>
            <a:off x="548640" y="914400"/>
            <a:ext cx="8046720" cy="320040"/>
          </a:xfrm>
          <a:prstGeom prst="rect">
            <a:avLst/>
          </a:prstGeom>
          <a:noFill/>
          <a:ln/>
        </p:spPr>
        <p:txBody>
          <a:bodyPr wrap="square" lIns="0" tIns="0" rIns="0" bIns="0" rtlCol="0" anchor="ctr"/>
          <a:lstStyle/>
          <a:p>
            <a:pPr indent="0" marL="0">
              <a:buNone/>
            </a:pPr>
            <a:r>
              <a:rPr lang="en-US" sz="1300" dirty="0">
                <a:solidFill>
                  <a:srgbClr val="6B6480"/>
                </a:solidFill>
                <a:latin typeface="Calibri" pitchFamily="34" charset="0"/>
                <a:ea typeface="Calibri" pitchFamily="34" charset="-122"/>
                <a:cs typeface="Calibri" pitchFamily="34" charset="-120"/>
              </a:rPr>
              <a:t>Putting variables and outputs together to build a VPC with a configurable CIDR range</a:t>
            </a:r>
            <a:endParaRPr lang="en-US" sz="1300" dirty="0"/>
          </a:p>
        </p:txBody>
      </p:sp>
      <p:sp>
        <p:nvSpPr>
          <p:cNvPr id="6" name="Shape 3"/>
          <p:cNvSpPr/>
          <p:nvPr/>
        </p:nvSpPr>
        <p:spPr>
          <a:xfrm>
            <a:off x="548640" y="1417320"/>
            <a:ext cx="365760" cy="365760"/>
          </a:xfrm>
          <a:prstGeom prst="ellipse">
            <a:avLst/>
          </a:prstGeom>
          <a:solidFill>
            <a:srgbClr val="F0A430"/>
          </a:solidFill>
          <a:ln/>
        </p:spPr>
      </p:sp>
      <p:sp>
        <p:nvSpPr>
          <p:cNvPr id="7" name="Text 4"/>
          <p:cNvSpPr/>
          <p:nvPr/>
        </p:nvSpPr>
        <p:spPr>
          <a:xfrm>
            <a:off x="548640" y="1417320"/>
            <a:ext cx="365760" cy="365760"/>
          </a:xfrm>
          <a:prstGeom prst="rect">
            <a:avLst/>
          </a:prstGeom>
          <a:noFill/>
          <a:ln/>
        </p:spPr>
        <p:txBody>
          <a:bodyPr wrap="square" lIns="0" tIns="0" rIns="0" bIns="0" rtlCol="0" anchor="ctr"/>
          <a:lstStyle/>
          <a:p>
            <a:pPr algn="ctr" indent="0" marL="0">
              <a:buNone/>
            </a:pPr>
            <a:r>
              <a:rPr lang="en-US" sz="1400" b="1" dirty="0">
                <a:solidFill>
                  <a:srgbClr val="2B1A4A"/>
                </a:solidFill>
                <a:latin typeface="Cambria" pitchFamily="34" charset="0"/>
                <a:ea typeface="Cambria" pitchFamily="34" charset="-122"/>
                <a:cs typeface="Cambria" pitchFamily="34" charset="-120"/>
              </a:rPr>
              <a:t>1</a:t>
            </a:r>
            <a:endParaRPr lang="en-US" sz="1400" dirty="0"/>
          </a:p>
        </p:txBody>
      </p:sp>
      <p:sp>
        <p:nvSpPr>
          <p:cNvPr id="8" name="Text 5"/>
          <p:cNvSpPr/>
          <p:nvPr/>
        </p:nvSpPr>
        <p:spPr>
          <a:xfrm>
            <a:off x="1005840" y="1417320"/>
            <a:ext cx="3657600" cy="365760"/>
          </a:xfrm>
          <a:prstGeom prst="rect">
            <a:avLst/>
          </a:prstGeom>
          <a:noFill/>
          <a:ln/>
        </p:spPr>
        <p:txBody>
          <a:bodyPr wrap="square" lIns="0" tIns="0" rIns="0" bIns="0" rtlCol="0" anchor="ctr"/>
          <a:lstStyle/>
          <a:p>
            <a:pPr indent="0" marL="0">
              <a:buNone/>
            </a:pPr>
            <a:r>
              <a:rPr lang="en-US" sz="1400" b="1" dirty="0">
                <a:solidFill>
                  <a:srgbClr val="241C33"/>
                </a:solidFill>
                <a:latin typeface="Cambria" pitchFamily="34" charset="0"/>
                <a:ea typeface="Cambria" pitchFamily="34" charset="-122"/>
                <a:cs typeface="Cambria" pitchFamily="34" charset="-120"/>
              </a:rPr>
              <a:t>Define Variables — variables.tf</a:t>
            </a:r>
            <a:endParaRPr lang="en-US" sz="1400" dirty="0"/>
          </a:p>
        </p:txBody>
      </p:sp>
      <p:sp>
        <p:nvSpPr>
          <p:cNvPr id="9" name="Shape 6"/>
          <p:cNvSpPr/>
          <p:nvPr/>
        </p:nvSpPr>
        <p:spPr>
          <a:xfrm>
            <a:off x="548640" y="1828800"/>
            <a:ext cx="3977640" cy="1417320"/>
          </a:xfrm>
          <a:prstGeom prst="roundRect">
            <a:avLst>
              <a:gd name="adj" fmla="val 5161"/>
            </a:avLst>
          </a:prstGeom>
          <a:solidFill>
            <a:srgbClr val="1E1B2E"/>
          </a:solidFill>
          <a:ln/>
          <a:effectLst>
            <a:outerShdw sx="100000" sy="100000" kx="0" ky="0" algn="bl" rotWithShape="0" blurRad="101600" dist="38100" dir="2700000">
              <a:srgbClr val="000000">
                <a:alpha val="12000"/>
              </a:srgbClr>
            </a:outerShdw>
          </a:effectLst>
        </p:spPr>
      </p:sp>
      <p:sp>
        <p:nvSpPr>
          <p:cNvPr id="10" name="Shape 7"/>
          <p:cNvSpPr/>
          <p:nvPr/>
        </p:nvSpPr>
        <p:spPr>
          <a:xfrm>
            <a:off x="713232" y="1975104"/>
            <a:ext cx="91440" cy="91440"/>
          </a:xfrm>
          <a:prstGeom prst="ellipse">
            <a:avLst/>
          </a:prstGeom>
          <a:solidFill>
            <a:srgbClr val="FF5F56"/>
          </a:solidFill>
          <a:ln/>
        </p:spPr>
      </p:sp>
      <p:sp>
        <p:nvSpPr>
          <p:cNvPr id="11" name="Shape 8"/>
          <p:cNvSpPr/>
          <p:nvPr/>
        </p:nvSpPr>
        <p:spPr>
          <a:xfrm>
            <a:off x="886968" y="1975104"/>
            <a:ext cx="91440" cy="91440"/>
          </a:xfrm>
          <a:prstGeom prst="ellipse">
            <a:avLst/>
          </a:prstGeom>
          <a:solidFill>
            <a:srgbClr val="FFBD2E"/>
          </a:solidFill>
          <a:ln/>
        </p:spPr>
      </p:sp>
      <p:sp>
        <p:nvSpPr>
          <p:cNvPr id="12" name="Shape 9"/>
          <p:cNvSpPr/>
          <p:nvPr/>
        </p:nvSpPr>
        <p:spPr>
          <a:xfrm>
            <a:off x="1060704" y="1975104"/>
            <a:ext cx="91440" cy="91440"/>
          </a:xfrm>
          <a:prstGeom prst="ellipse">
            <a:avLst/>
          </a:prstGeom>
          <a:solidFill>
            <a:srgbClr val="27C93F"/>
          </a:solidFill>
          <a:ln/>
        </p:spPr>
      </p:sp>
      <p:sp>
        <p:nvSpPr>
          <p:cNvPr id="13" name="Text 10"/>
          <p:cNvSpPr/>
          <p:nvPr/>
        </p:nvSpPr>
        <p:spPr>
          <a:xfrm>
            <a:off x="804672" y="2212848"/>
            <a:ext cx="3465576" cy="868680"/>
          </a:xfrm>
          <a:prstGeom prst="rect">
            <a:avLst/>
          </a:prstGeom>
          <a:noFill/>
          <a:ln/>
        </p:spPr>
        <p:txBody>
          <a:bodyPr wrap="square" lIns="0" tIns="0" rIns="0" bIns="0" rtlCol="0" anchor="t"/>
          <a:lstStyle/>
          <a:p>
            <a:pPr indent="0" marL="0">
              <a:lnSpc>
                <a:spcPct val="112000"/>
              </a:lnSpc>
              <a:buNone/>
            </a:pPr>
            <a:r>
              <a:rPr lang="en-US" sz="1050" dirty="0">
                <a:solidFill>
                  <a:srgbClr val="C792EA"/>
                </a:solidFill>
                <a:latin typeface="Courier New" pitchFamily="34" charset="0"/>
                <a:ea typeface="Courier New" pitchFamily="34" charset="-122"/>
                <a:cs typeface="Courier New" pitchFamily="34" charset="-120"/>
              </a:rPr>
              <a:t>variable </a:t>
            </a:r>
            <a:pPr indent="0" marL="0">
              <a:lnSpc>
                <a:spcPct val="112000"/>
              </a:lnSpc>
              <a:buNone/>
            </a:pPr>
            <a:r>
              <a:rPr lang="en-US" sz="1050" dirty="0">
                <a:solidFill>
                  <a:srgbClr val="9CDCB4"/>
                </a:solidFill>
                <a:latin typeface="Courier New" pitchFamily="34" charset="0"/>
                <a:ea typeface="Courier New" pitchFamily="34" charset="-122"/>
                <a:cs typeface="Courier New" pitchFamily="34" charset="-120"/>
              </a:rPr>
              <a:t>"vpc_cidr"</a:t>
            </a:r>
            <a:pPr indent="0" marL="0">
              <a:lnSpc>
                <a:spcPct val="112000"/>
              </a:lnSpc>
              <a:buNone/>
            </a:pPr>
            <a:r>
              <a:rPr lang="en-US" sz="1050" dirty="0">
                <a:solidFill>
                  <a:srgbClr val="E4E1F0"/>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dirty="0">
                <a:solidFill>
                  <a:srgbClr val="E4E1F0"/>
                </a:solidFill>
                <a:latin typeface="Courier New" pitchFamily="34" charset="0"/>
                <a:ea typeface="Courier New" pitchFamily="34" charset="-122"/>
                <a:cs typeface="Courier New" pitchFamily="34" charset="-120"/>
              </a:rPr>
              <a:t>  type = string</a:t>
            </a:r>
            <a:endParaRPr lang="en-US" sz="1050" dirty="0"/>
          </a:p>
          <a:p>
            <a:pPr indent="0" marL="0">
              <a:lnSpc>
                <a:spcPct val="112000"/>
              </a:lnSpc>
              <a:buNone/>
            </a:pPr>
            <a:r>
              <a:rPr lang="en-US" sz="1050" dirty="0">
                <a:solidFill>
                  <a:srgbClr val="E4E1F0"/>
                </a:solidFill>
                <a:latin typeface="Courier New" pitchFamily="34" charset="0"/>
                <a:ea typeface="Courier New" pitchFamily="34" charset="-122"/>
                <a:cs typeface="Courier New" pitchFamily="34" charset="-120"/>
              </a:rPr>
              <a:t>}</a:t>
            </a:r>
            <a:endParaRPr lang="en-US" sz="1050" dirty="0"/>
          </a:p>
          <a:p>
            <a:pPr indent="0" marL="0">
              <a:lnSpc>
                <a:spcPct val="112000"/>
              </a:lnSpc>
              <a:buNone/>
            </a:pPr>
            <a:endParaRPr lang="en-US" sz="1050" dirty="0"/>
          </a:p>
          <a:p>
            <a:pPr indent="0" marL="0">
              <a:lnSpc>
                <a:spcPct val="112000"/>
              </a:lnSpc>
              <a:buNone/>
            </a:pPr>
            <a:r>
              <a:rPr lang="en-US" sz="1050" dirty="0">
                <a:solidFill>
                  <a:srgbClr val="C792EA"/>
                </a:solidFill>
                <a:latin typeface="Courier New" pitchFamily="34" charset="0"/>
                <a:ea typeface="Courier New" pitchFamily="34" charset="-122"/>
                <a:cs typeface="Courier New" pitchFamily="34" charset="-120"/>
              </a:rPr>
              <a:t>variable </a:t>
            </a:r>
            <a:pPr indent="0" marL="0">
              <a:lnSpc>
                <a:spcPct val="112000"/>
              </a:lnSpc>
              <a:buNone/>
            </a:pPr>
            <a:r>
              <a:rPr lang="en-US" sz="1050" dirty="0">
                <a:solidFill>
                  <a:srgbClr val="9CDCB4"/>
                </a:solidFill>
                <a:latin typeface="Courier New" pitchFamily="34" charset="0"/>
                <a:ea typeface="Courier New" pitchFamily="34" charset="-122"/>
                <a:cs typeface="Courier New" pitchFamily="34" charset="-120"/>
              </a:rPr>
              <a:t>"environment"</a:t>
            </a:r>
            <a:pPr indent="0" marL="0">
              <a:lnSpc>
                <a:spcPct val="112000"/>
              </a:lnSpc>
              <a:buNone/>
            </a:pPr>
            <a:r>
              <a:rPr lang="en-US" sz="1050" dirty="0">
                <a:solidFill>
                  <a:srgbClr val="E4E1F0"/>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dirty="0">
                <a:solidFill>
                  <a:srgbClr val="9CDCB4"/>
                </a:solidFill>
                <a:latin typeface="Courier New" pitchFamily="34" charset="0"/>
                <a:ea typeface="Courier New" pitchFamily="34" charset="-122"/>
                <a:cs typeface="Courier New" pitchFamily="34" charset="-120"/>
              </a:rPr>
              <a:t>  default = "staging"</a:t>
            </a:r>
            <a:endParaRPr lang="en-US" sz="1050" dirty="0"/>
          </a:p>
        </p:txBody>
      </p:sp>
      <p:sp>
        <p:nvSpPr>
          <p:cNvPr id="14" name="Shape 11"/>
          <p:cNvSpPr/>
          <p:nvPr/>
        </p:nvSpPr>
        <p:spPr>
          <a:xfrm>
            <a:off x="4617720" y="1417320"/>
            <a:ext cx="365760" cy="365760"/>
          </a:xfrm>
          <a:prstGeom prst="ellipse">
            <a:avLst/>
          </a:prstGeom>
          <a:solidFill>
            <a:srgbClr val="F0A430"/>
          </a:solidFill>
          <a:ln/>
        </p:spPr>
      </p:sp>
      <p:sp>
        <p:nvSpPr>
          <p:cNvPr id="15" name="Text 12"/>
          <p:cNvSpPr/>
          <p:nvPr/>
        </p:nvSpPr>
        <p:spPr>
          <a:xfrm>
            <a:off x="4617720" y="1417320"/>
            <a:ext cx="365760" cy="365760"/>
          </a:xfrm>
          <a:prstGeom prst="rect">
            <a:avLst/>
          </a:prstGeom>
          <a:noFill/>
          <a:ln/>
        </p:spPr>
        <p:txBody>
          <a:bodyPr wrap="square" lIns="0" tIns="0" rIns="0" bIns="0" rtlCol="0" anchor="ctr"/>
          <a:lstStyle/>
          <a:p>
            <a:pPr algn="ctr" indent="0" marL="0">
              <a:buNone/>
            </a:pPr>
            <a:r>
              <a:rPr lang="en-US" sz="1400" b="1" dirty="0">
                <a:solidFill>
                  <a:srgbClr val="2B1A4A"/>
                </a:solidFill>
                <a:latin typeface="Cambria" pitchFamily="34" charset="0"/>
                <a:ea typeface="Cambria" pitchFamily="34" charset="-122"/>
                <a:cs typeface="Cambria" pitchFamily="34" charset="-120"/>
              </a:rPr>
              <a:t>2</a:t>
            </a:r>
            <a:endParaRPr lang="en-US" sz="1400" dirty="0"/>
          </a:p>
        </p:txBody>
      </p:sp>
      <p:sp>
        <p:nvSpPr>
          <p:cNvPr id="16" name="Text 13"/>
          <p:cNvSpPr/>
          <p:nvPr/>
        </p:nvSpPr>
        <p:spPr>
          <a:xfrm>
            <a:off x="5074920" y="1417320"/>
            <a:ext cx="3657600" cy="365760"/>
          </a:xfrm>
          <a:prstGeom prst="rect">
            <a:avLst/>
          </a:prstGeom>
          <a:noFill/>
          <a:ln/>
        </p:spPr>
        <p:txBody>
          <a:bodyPr wrap="square" lIns="0" tIns="0" rIns="0" bIns="0" rtlCol="0" anchor="ctr"/>
          <a:lstStyle/>
          <a:p>
            <a:pPr indent="0" marL="0">
              <a:buNone/>
            </a:pPr>
            <a:r>
              <a:rPr lang="en-US" sz="1400" b="1" dirty="0">
                <a:solidFill>
                  <a:srgbClr val="241C33"/>
                </a:solidFill>
                <a:latin typeface="Cambria" pitchFamily="34" charset="0"/>
                <a:ea typeface="Cambria" pitchFamily="34" charset="-122"/>
                <a:cs typeface="Cambria" pitchFamily="34" charset="-120"/>
              </a:rPr>
              <a:t>Create the VPC — main.tf</a:t>
            </a:r>
            <a:endParaRPr lang="en-US" sz="1400" dirty="0"/>
          </a:p>
        </p:txBody>
      </p:sp>
      <p:sp>
        <p:nvSpPr>
          <p:cNvPr id="17" name="Shape 14"/>
          <p:cNvSpPr/>
          <p:nvPr/>
        </p:nvSpPr>
        <p:spPr>
          <a:xfrm>
            <a:off x="4617720" y="1828800"/>
            <a:ext cx="3977640" cy="3063240"/>
          </a:xfrm>
          <a:prstGeom prst="roundRect">
            <a:avLst>
              <a:gd name="adj" fmla="val 2388"/>
            </a:avLst>
          </a:prstGeom>
          <a:solidFill>
            <a:srgbClr val="1E1B2E"/>
          </a:solidFill>
          <a:ln/>
          <a:effectLst>
            <a:outerShdw sx="100000" sy="100000" kx="0" ky="0" algn="bl" rotWithShape="0" blurRad="101600" dist="38100" dir="2700000">
              <a:srgbClr val="000000">
                <a:alpha val="12000"/>
              </a:srgbClr>
            </a:outerShdw>
          </a:effectLst>
        </p:spPr>
      </p:sp>
      <p:sp>
        <p:nvSpPr>
          <p:cNvPr id="18" name="Shape 15"/>
          <p:cNvSpPr/>
          <p:nvPr/>
        </p:nvSpPr>
        <p:spPr>
          <a:xfrm>
            <a:off x="4782312" y="1975104"/>
            <a:ext cx="91440" cy="91440"/>
          </a:xfrm>
          <a:prstGeom prst="ellipse">
            <a:avLst/>
          </a:prstGeom>
          <a:solidFill>
            <a:srgbClr val="FF5F56"/>
          </a:solidFill>
          <a:ln/>
        </p:spPr>
      </p:sp>
      <p:sp>
        <p:nvSpPr>
          <p:cNvPr id="19" name="Shape 16"/>
          <p:cNvSpPr/>
          <p:nvPr/>
        </p:nvSpPr>
        <p:spPr>
          <a:xfrm>
            <a:off x="4956048" y="1975104"/>
            <a:ext cx="91440" cy="91440"/>
          </a:xfrm>
          <a:prstGeom prst="ellipse">
            <a:avLst/>
          </a:prstGeom>
          <a:solidFill>
            <a:srgbClr val="FFBD2E"/>
          </a:solidFill>
          <a:ln/>
        </p:spPr>
      </p:sp>
      <p:sp>
        <p:nvSpPr>
          <p:cNvPr id="20" name="Shape 17"/>
          <p:cNvSpPr/>
          <p:nvPr/>
        </p:nvSpPr>
        <p:spPr>
          <a:xfrm>
            <a:off x="5129784" y="1975104"/>
            <a:ext cx="91440" cy="91440"/>
          </a:xfrm>
          <a:prstGeom prst="ellipse">
            <a:avLst/>
          </a:prstGeom>
          <a:solidFill>
            <a:srgbClr val="27C93F"/>
          </a:solidFill>
          <a:ln/>
        </p:spPr>
      </p:sp>
      <p:sp>
        <p:nvSpPr>
          <p:cNvPr id="21" name="Text 18"/>
          <p:cNvSpPr/>
          <p:nvPr/>
        </p:nvSpPr>
        <p:spPr>
          <a:xfrm>
            <a:off x="4873752" y="2212848"/>
            <a:ext cx="3465576" cy="2514600"/>
          </a:xfrm>
          <a:prstGeom prst="rect">
            <a:avLst/>
          </a:prstGeom>
          <a:noFill/>
          <a:ln/>
        </p:spPr>
        <p:txBody>
          <a:bodyPr wrap="square" lIns="0" tIns="0" rIns="0" bIns="0" rtlCol="0" anchor="t"/>
          <a:lstStyle/>
          <a:p>
            <a:pPr indent="0" marL="0">
              <a:lnSpc>
                <a:spcPct val="112000"/>
              </a:lnSpc>
              <a:buNone/>
            </a:pPr>
            <a:r>
              <a:rPr lang="en-US" sz="1020" dirty="0">
                <a:solidFill>
                  <a:srgbClr val="C792EA"/>
                </a:solidFill>
                <a:latin typeface="Courier New" pitchFamily="34" charset="0"/>
                <a:ea typeface="Courier New" pitchFamily="34" charset="-122"/>
                <a:cs typeface="Courier New" pitchFamily="34" charset="-120"/>
              </a:rPr>
              <a:t>provider </a:t>
            </a:r>
            <a:pPr indent="0" marL="0">
              <a:lnSpc>
                <a:spcPct val="112000"/>
              </a:lnSpc>
              <a:buNone/>
            </a:pPr>
            <a:r>
              <a:rPr lang="en-US" sz="1020" dirty="0">
                <a:solidFill>
                  <a:srgbClr val="9CDCB4"/>
                </a:solidFill>
                <a:latin typeface="Courier New" pitchFamily="34" charset="0"/>
                <a:ea typeface="Courier New" pitchFamily="34" charset="-122"/>
                <a:cs typeface="Courier New" pitchFamily="34" charset="-120"/>
              </a:rPr>
              <a:t>"aws"</a:t>
            </a:r>
            <a:pPr indent="0" marL="0">
              <a:lnSpc>
                <a:spcPct val="112000"/>
              </a:lnSpc>
              <a:buNone/>
            </a:pPr>
            <a:r>
              <a:rPr lang="en-US" sz="1020" dirty="0">
                <a:solidFill>
                  <a:srgbClr val="E4E1F0"/>
                </a:solidFill>
                <a:latin typeface="Courier New" pitchFamily="34" charset="0"/>
                <a:ea typeface="Courier New" pitchFamily="34" charset="-122"/>
                <a:cs typeface="Courier New" pitchFamily="34" charset="-120"/>
              </a:rPr>
              <a:t> {</a:t>
            </a:r>
            <a:endParaRPr lang="en-US" sz="1020" dirty="0"/>
          </a:p>
          <a:p>
            <a:pPr indent="0" marL="0">
              <a:lnSpc>
                <a:spcPct val="112000"/>
              </a:lnSpc>
              <a:buNone/>
            </a:pPr>
            <a:r>
              <a:rPr lang="en-US" sz="1020" dirty="0">
                <a:solidFill>
                  <a:srgbClr val="9CDCB4"/>
                </a:solidFill>
                <a:latin typeface="Courier New" pitchFamily="34" charset="0"/>
                <a:ea typeface="Courier New" pitchFamily="34" charset="-122"/>
                <a:cs typeface="Courier New" pitchFamily="34" charset="-120"/>
              </a:rPr>
              <a:t>  region = "us-east-1"</a:t>
            </a:r>
            <a:endParaRPr lang="en-US" sz="1020" dirty="0"/>
          </a:p>
          <a:p>
            <a:pPr indent="0" marL="0">
              <a:lnSpc>
                <a:spcPct val="112000"/>
              </a:lnSpc>
              <a:buNone/>
            </a:pPr>
            <a:r>
              <a:rPr lang="en-US" sz="1020" dirty="0">
                <a:solidFill>
                  <a:srgbClr val="E4E1F0"/>
                </a:solidFill>
                <a:latin typeface="Courier New" pitchFamily="34" charset="0"/>
                <a:ea typeface="Courier New" pitchFamily="34" charset="-122"/>
                <a:cs typeface="Courier New" pitchFamily="34" charset="-120"/>
              </a:rPr>
              <a:t>}</a:t>
            </a:r>
            <a:endParaRPr lang="en-US" sz="1020" dirty="0"/>
          </a:p>
          <a:p>
            <a:pPr indent="0" marL="0">
              <a:lnSpc>
                <a:spcPct val="112000"/>
              </a:lnSpc>
              <a:buNone/>
            </a:pPr>
            <a:endParaRPr lang="en-US" sz="1020" dirty="0"/>
          </a:p>
          <a:p>
            <a:pPr indent="0" marL="0">
              <a:lnSpc>
                <a:spcPct val="112000"/>
              </a:lnSpc>
              <a:buNone/>
            </a:pPr>
            <a:r>
              <a:rPr lang="en-US" sz="1020" dirty="0">
                <a:solidFill>
                  <a:srgbClr val="C792EA"/>
                </a:solidFill>
                <a:latin typeface="Courier New" pitchFamily="34" charset="0"/>
                <a:ea typeface="Courier New" pitchFamily="34" charset="-122"/>
                <a:cs typeface="Courier New" pitchFamily="34" charset="-120"/>
              </a:rPr>
              <a:t>resource </a:t>
            </a:r>
            <a:pPr indent="0" marL="0">
              <a:lnSpc>
                <a:spcPct val="112000"/>
              </a:lnSpc>
              <a:buNone/>
            </a:pPr>
            <a:r>
              <a:rPr lang="en-US" sz="1020" dirty="0">
                <a:solidFill>
                  <a:srgbClr val="9CDCB4"/>
                </a:solidFill>
                <a:latin typeface="Courier New" pitchFamily="34" charset="0"/>
                <a:ea typeface="Courier New" pitchFamily="34" charset="-122"/>
                <a:cs typeface="Courier New" pitchFamily="34" charset="-120"/>
              </a:rPr>
              <a:t>"aws_vpc" </a:t>
            </a:r>
            <a:pPr indent="0" marL="0">
              <a:lnSpc>
                <a:spcPct val="112000"/>
              </a:lnSpc>
              <a:buNone/>
            </a:pPr>
            <a:r>
              <a:rPr lang="en-US" sz="1020" dirty="0">
                <a:solidFill>
                  <a:srgbClr val="9CDCB4"/>
                </a:solidFill>
                <a:latin typeface="Courier New" pitchFamily="34" charset="0"/>
                <a:ea typeface="Courier New" pitchFamily="34" charset="-122"/>
                <a:cs typeface="Courier New" pitchFamily="34" charset="-120"/>
              </a:rPr>
              <a:t>"my_vpc"</a:t>
            </a:r>
            <a:pPr indent="0" marL="0">
              <a:lnSpc>
                <a:spcPct val="112000"/>
              </a:lnSpc>
              <a:buNone/>
            </a:pPr>
            <a:r>
              <a:rPr lang="en-US" sz="1020" dirty="0">
                <a:solidFill>
                  <a:srgbClr val="E4E1F0"/>
                </a:solidFill>
                <a:latin typeface="Courier New" pitchFamily="34" charset="0"/>
                <a:ea typeface="Courier New" pitchFamily="34" charset="-122"/>
                <a:cs typeface="Courier New" pitchFamily="34" charset="-120"/>
              </a:rPr>
              <a:t> {</a:t>
            </a:r>
            <a:endParaRPr lang="en-US" sz="1020" dirty="0"/>
          </a:p>
          <a:p>
            <a:pPr indent="0" marL="0">
              <a:lnSpc>
                <a:spcPct val="112000"/>
              </a:lnSpc>
              <a:buNone/>
            </a:pPr>
            <a:r>
              <a:rPr lang="en-US" sz="1020" dirty="0">
                <a:solidFill>
                  <a:srgbClr val="7FB3E8"/>
                </a:solidFill>
                <a:latin typeface="Courier New" pitchFamily="34" charset="0"/>
                <a:ea typeface="Courier New" pitchFamily="34" charset="-122"/>
                <a:cs typeface="Courier New" pitchFamily="34" charset="-120"/>
              </a:rPr>
              <a:t>  cidr_block</a:t>
            </a:r>
            <a:pPr indent="0" marL="0">
              <a:lnSpc>
                <a:spcPct val="112000"/>
              </a:lnSpc>
              <a:buNone/>
            </a:pPr>
            <a:r>
              <a:rPr lang="en-US" sz="1020" dirty="0">
                <a:solidFill>
                  <a:srgbClr val="E4E1F0"/>
                </a:solidFill>
                <a:latin typeface="Courier New" pitchFamily="34" charset="0"/>
                <a:ea typeface="Courier New" pitchFamily="34" charset="-122"/>
                <a:cs typeface="Courier New" pitchFamily="34" charset="-120"/>
              </a:rPr>
              <a:t> = var.vpc_cidr</a:t>
            </a:r>
            <a:endParaRPr lang="en-US" sz="1020" dirty="0"/>
          </a:p>
          <a:p>
            <a:pPr indent="0" marL="0">
              <a:lnSpc>
                <a:spcPct val="112000"/>
              </a:lnSpc>
              <a:buNone/>
            </a:pPr>
            <a:endParaRPr lang="en-US" sz="1020" dirty="0"/>
          </a:p>
          <a:p>
            <a:pPr indent="0" marL="0">
              <a:lnSpc>
                <a:spcPct val="112000"/>
              </a:lnSpc>
              <a:buNone/>
            </a:pPr>
            <a:r>
              <a:rPr lang="en-US" sz="1020" dirty="0">
                <a:solidFill>
                  <a:srgbClr val="E4E1F0"/>
                </a:solidFill>
                <a:latin typeface="Courier New" pitchFamily="34" charset="0"/>
                <a:ea typeface="Courier New" pitchFamily="34" charset="-122"/>
                <a:cs typeface="Courier New" pitchFamily="34" charset="-120"/>
              </a:rPr>
              <a:t>  tags = {</a:t>
            </a:r>
            <a:endParaRPr lang="en-US" sz="1020" dirty="0"/>
          </a:p>
          <a:p>
            <a:pPr indent="0" marL="0">
              <a:lnSpc>
                <a:spcPct val="112000"/>
              </a:lnSpc>
              <a:buNone/>
            </a:pPr>
            <a:r>
              <a:rPr lang="en-US" sz="1020" dirty="0">
                <a:solidFill>
                  <a:srgbClr val="9CDCB4"/>
                </a:solidFill>
                <a:latin typeface="Courier New" pitchFamily="34" charset="0"/>
                <a:ea typeface="Courier New" pitchFamily="34" charset="-122"/>
                <a:cs typeface="Courier New" pitchFamily="34" charset="-120"/>
              </a:rPr>
              <a:t>    Name = "MyVPC-${var.environment}"</a:t>
            </a:r>
            <a:endParaRPr lang="en-US" sz="1020" dirty="0"/>
          </a:p>
          <a:p>
            <a:pPr indent="0" marL="0">
              <a:lnSpc>
                <a:spcPct val="112000"/>
              </a:lnSpc>
              <a:buNone/>
            </a:pPr>
            <a:r>
              <a:rPr lang="en-US" sz="1020" dirty="0">
                <a:solidFill>
                  <a:srgbClr val="E4E1F0"/>
                </a:solidFill>
                <a:latin typeface="Courier New" pitchFamily="34" charset="0"/>
                <a:ea typeface="Courier New" pitchFamily="34" charset="-122"/>
                <a:cs typeface="Courier New" pitchFamily="34" charset="-120"/>
              </a:rPr>
              <a:t>    Environment = var.environment</a:t>
            </a:r>
            <a:endParaRPr lang="en-US" sz="1020" dirty="0"/>
          </a:p>
          <a:p>
            <a:pPr indent="0" marL="0">
              <a:lnSpc>
                <a:spcPct val="112000"/>
              </a:lnSpc>
              <a:buNone/>
            </a:pPr>
            <a:r>
              <a:rPr lang="en-US" sz="1020" dirty="0">
                <a:solidFill>
                  <a:srgbClr val="E4E1F0"/>
                </a:solidFill>
                <a:latin typeface="Courier New" pitchFamily="34" charset="0"/>
                <a:ea typeface="Courier New" pitchFamily="34" charset="-122"/>
                <a:cs typeface="Courier New" pitchFamily="34" charset="-120"/>
              </a:rPr>
              <a:t>  }</a:t>
            </a:r>
            <a:endParaRPr lang="en-US" sz="1020" dirty="0"/>
          </a:p>
          <a:p>
            <a:pPr indent="0" marL="0">
              <a:lnSpc>
                <a:spcPct val="112000"/>
              </a:lnSpc>
              <a:buNone/>
            </a:pPr>
            <a:r>
              <a:rPr lang="en-US" sz="1020" dirty="0">
                <a:solidFill>
                  <a:srgbClr val="E4E1F0"/>
                </a:solidFill>
                <a:latin typeface="Courier New" pitchFamily="34" charset="0"/>
                <a:ea typeface="Courier New" pitchFamily="34" charset="-122"/>
                <a:cs typeface="Courier New" pitchFamily="34" charset="-120"/>
              </a:rPr>
              <a:t>}</a:t>
            </a:r>
            <a:endParaRPr lang="en-US" sz="10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02920" cy="502920"/>
          </a:xfrm>
          <a:prstGeom prst="ellipse">
            <a:avLst/>
          </a:prstGeom>
          <a:solidFill>
            <a:srgbClr val="4C2A85"/>
          </a:solidFill>
          <a:ln/>
        </p:spPr>
      </p:sp>
      <p:pic>
        <p:nvPicPr>
          <p:cNvPr id="3" name="Image 0" descr="preencoded.png">    </p:cNvPr>
          <p:cNvPicPr>
            <a:picLocks noChangeAspect="1"/>
          </p:cNvPicPr>
          <p:nvPr/>
        </p:nvPicPr>
        <p:blipFill>
          <a:blip r:embed="rId1"/>
          <a:stretch>
            <a:fillRect/>
          </a:stretch>
        </p:blipFill>
        <p:spPr>
          <a:xfrm>
            <a:off x="684428" y="519836"/>
            <a:ext cx="231343" cy="231343"/>
          </a:xfrm>
          <a:prstGeom prst="rect">
            <a:avLst/>
          </a:prstGeom>
        </p:spPr>
      </p:pic>
      <p:sp>
        <p:nvSpPr>
          <p:cNvPr id="4" name="Text 1"/>
          <p:cNvSpPr/>
          <p:nvPr/>
        </p:nvSpPr>
        <p:spPr>
          <a:xfrm>
            <a:off x="1234440" y="365760"/>
            <a:ext cx="7132320" cy="548640"/>
          </a:xfrm>
          <a:prstGeom prst="rect">
            <a:avLst/>
          </a:prstGeom>
          <a:noFill/>
          <a:ln/>
        </p:spPr>
        <p:txBody>
          <a:bodyPr wrap="square" lIns="0" tIns="0" rIns="0" bIns="0" rtlCol="0" anchor="ctr"/>
          <a:lstStyle/>
          <a:p>
            <a:pPr indent="0" marL="0">
              <a:buNone/>
            </a:pPr>
            <a:r>
              <a:rPr lang="en-US" sz="2400" b="1" dirty="0">
                <a:solidFill>
                  <a:srgbClr val="241C33"/>
                </a:solidFill>
                <a:latin typeface="Cambria" pitchFamily="34" charset="0"/>
                <a:ea typeface="Cambria" pitchFamily="34" charset="-122"/>
                <a:cs typeface="Cambria" pitchFamily="34" charset="-120"/>
              </a:rPr>
              <a:t>Walkthrough — Apply &amp; Retrieve</a:t>
            </a:r>
            <a:endParaRPr lang="en-US" sz="2400" dirty="0"/>
          </a:p>
        </p:txBody>
      </p:sp>
      <p:sp>
        <p:nvSpPr>
          <p:cNvPr id="5" name="Shape 2"/>
          <p:cNvSpPr/>
          <p:nvPr/>
        </p:nvSpPr>
        <p:spPr>
          <a:xfrm>
            <a:off x="548640" y="1051560"/>
            <a:ext cx="365760" cy="365760"/>
          </a:xfrm>
          <a:prstGeom prst="ellipse">
            <a:avLst/>
          </a:prstGeom>
          <a:solidFill>
            <a:srgbClr val="F0A430"/>
          </a:solidFill>
          <a:ln/>
        </p:spPr>
      </p:sp>
      <p:sp>
        <p:nvSpPr>
          <p:cNvPr id="6" name="Text 3"/>
          <p:cNvSpPr/>
          <p:nvPr/>
        </p:nvSpPr>
        <p:spPr>
          <a:xfrm>
            <a:off x="548640" y="1051560"/>
            <a:ext cx="365760" cy="365760"/>
          </a:xfrm>
          <a:prstGeom prst="rect">
            <a:avLst/>
          </a:prstGeom>
          <a:noFill/>
          <a:ln/>
        </p:spPr>
        <p:txBody>
          <a:bodyPr wrap="square" lIns="0" tIns="0" rIns="0" bIns="0" rtlCol="0" anchor="ctr"/>
          <a:lstStyle/>
          <a:p>
            <a:pPr algn="ctr" indent="0" marL="0">
              <a:buNone/>
            </a:pPr>
            <a:r>
              <a:rPr lang="en-US" sz="1400" b="1" dirty="0">
                <a:solidFill>
                  <a:srgbClr val="2B1A4A"/>
                </a:solidFill>
                <a:latin typeface="Cambria" pitchFamily="34" charset="0"/>
                <a:ea typeface="Cambria" pitchFamily="34" charset="-122"/>
                <a:cs typeface="Cambria" pitchFamily="34" charset="-120"/>
              </a:rPr>
              <a:t>3</a:t>
            </a:r>
            <a:endParaRPr lang="en-US" sz="1400" dirty="0"/>
          </a:p>
        </p:txBody>
      </p:sp>
      <p:sp>
        <p:nvSpPr>
          <p:cNvPr id="7" name="Text 4"/>
          <p:cNvSpPr/>
          <p:nvPr/>
        </p:nvSpPr>
        <p:spPr>
          <a:xfrm>
            <a:off x="1005840" y="1051560"/>
            <a:ext cx="4572000" cy="365760"/>
          </a:xfrm>
          <a:prstGeom prst="rect">
            <a:avLst/>
          </a:prstGeom>
          <a:noFill/>
          <a:ln/>
        </p:spPr>
        <p:txBody>
          <a:bodyPr wrap="square" lIns="0" tIns="0" rIns="0" bIns="0" rtlCol="0" anchor="ctr"/>
          <a:lstStyle/>
          <a:p>
            <a:pPr indent="0" marL="0">
              <a:buNone/>
            </a:pPr>
            <a:r>
              <a:rPr lang="en-US" sz="1400" b="1" dirty="0">
                <a:solidFill>
                  <a:srgbClr val="241C33"/>
                </a:solidFill>
                <a:latin typeface="Cambria" pitchFamily="34" charset="0"/>
                <a:ea typeface="Cambria" pitchFamily="34" charset="-122"/>
                <a:cs typeface="Cambria" pitchFamily="34" charset="-120"/>
              </a:rPr>
              <a:t>Define the Output — outputs.tf</a:t>
            </a:r>
            <a:endParaRPr lang="en-US" sz="1400" dirty="0"/>
          </a:p>
        </p:txBody>
      </p:sp>
      <p:sp>
        <p:nvSpPr>
          <p:cNvPr id="8" name="Shape 5"/>
          <p:cNvSpPr/>
          <p:nvPr/>
        </p:nvSpPr>
        <p:spPr>
          <a:xfrm>
            <a:off x="548640" y="1463040"/>
            <a:ext cx="3977640" cy="1051560"/>
          </a:xfrm>
          <a:prstGeom prst="roundRect">
            <a:avLst>
              <a:gd name="adj" fmla="val 6957"/>
            </a:avLst>
          </a:prstGeom>
          <a:solidFill>
            <a:srgbClr val="1E1B2E"/>
          </a:solidFill>
          <a:ln/>
          <a:effectLst>
            <a:outerShdw sx="100000" sy="100000" kx="0" ky="0" algn="bl" rotWithShape="0" blurRad="101600" dist="38100" dir="2700000">
              <a:srgbClr val="000000">
                <a:alpha val="12000"/>
              </a:srgbClr>
            </a:outerShdw>
          </a:effectLst>
        </p:spPr>
      </p:sp>
      <p:sp>
        <p:nvSpPr>
          <p:cNvPr id="9" name="Shape 6"/>
          <p:cNvSpPr/>
          <p:nvPr/>
        </p:nvSpPr>
        <p:spPr>
          <a:xfrm>
            <a:off x="713232" y="1609344"/>
            <a:ext cx="91440" cy="91440"/>
          </a:xfrm>
          <a:prstGeom prst="ellipse">
            <a:avLst/>
          </a:prstGeom>
          <a:solidFill>
            <a:srgbClr val="FF5F56"/>
          </a:solidFill>
          <a:ln/>
        </p:spPr>
      </p:sp>
      <p:sp>
        <p:nvSpPr>
          <p:cNvPr id="10" name="Shape 7"/>
          <p:cNvSpPr/>
          <p:nvPr/>
        </p:nvSpPr>
        <p:spPr>
          <a:xfrm>
            <a:off x="886968" y="1609344"/>
            <a:ext cx="91440" cy="91440"/>
          </a:xfrm>
          <a:prstGeom prst="ellipse">
            <a:avLst/>
          </a:prstGeom>
          <a:solidFill>
            <a:srgbClr val="FFBD2E"/>
          </a:solidFill>
          <a:ln/>
        </p:spPr>
      </p:sp>
      <p:sp>
        <p:nvSpPr>
          <p:cNvPr id="11" name="Shape 8"/>
          <p:cNvSpPr/>
          <p:nvPr/>
        </p:nvSpPr>
        <p:spPr>
          <a:xfrm>
            <a:off x="1060704" y="1609344"/>
            <a:ext cx="91440" cy="91440"/>
          </a:xfrm>
          <a:prstGeom prst="ellipse">
            <a:avLst/>
          </a:prstGeom>
          <a:solidFill>
            <a:srgbClr val="27C93F"/>
          </a:solidFill>
          <a:ln/>
        </p:spPr>
      </p:sp>
      <p:sp>
        <p:nvSpPr>
          <p:cNvPr id="12" name="Text 9"/>
          <p:cNvSpPr/>
          <p:nvPr/>
        </p:nvSpPr>
        <p:spPr>
          <a:xfrm>
            <a:off x="804672" y="1847088"/>
            <a:ext cx="3465576" cy="502920"/>
          </a:xfrm>
          <a:prstGeom prst="rect">
            <a:avLst/>
          </a:prstGeom>
          <a:noFill/>
          <a:ln/>
        </p:spPr>
        <p:txBody>
          <a:bodyPr wrap="square" lIns="0" tIns="0" rIns="0" bIns="0" rtlCol="0" anchor="t"/>
          <a:lstStyle/>
          <a:p>
            <a:pPr indent="0" marL="0">
              <a:lnSpc>
                <a:spcPct val="112000"/>
              </a:lnSpc>
              <a:buNone/>
            </a:pPr>
            <a:r>
              <a:rPr lang="en-US" sz="1100" dirty="0">
                <a:solidFill>
                  <a:srgbClr val="C792EA"/>
                </a:solidFill>
                <a:latin typeface="Courier New" pitchFamily="34" charset="0"/>
                <a:ea typeface="Courier New" pitchFamily="34" charset="-122"/>
                <a:cs typeface="Courier New" pitchFamily="34" charset="-120"/>
              </a:rPr>
              <a:t>output </a:t>
            </a:r>
            <a:pPr indent="0" marL="0">
              <a:lnSpc>
                <a:spcPct val="112000"/>
              </a:lnSpc>
              <a:buNone/>
            </a:pPr>
            <a:r>
              <a:rPr lang="en-US" sz="1100" dirty="0">
                <a:solidFill>
                  <a:srgbClr val="9CDCB4"/>
                </a:solidFill>
                <a:latin typeface="Courier New" pitchFamily="34" charset="0"/>
                <a:ea typeface="Courier New" pitchFamily="34" charset="-122"/>
                <a:cs typeface="Courier New" pitchFamily="34" charset="-120"/>
              </a:rPr>
              <a:t>"vpc_id"</a:t>
            </a:r>
            <a:pPr indent="0" marL="0">
              <a:lnSpc>
                <a:spcPct val="112000"/>
              </a:lnSpc>
              <a:buNone/>
            </a:pPr>
            <a:r>
              <a:rPr lang="en-US" sz="1100" dirty="0">
                <a:solidFill>
                  <a:srgbClr val="E4E1F0"/>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7FB3E8"/>
                </a:solidFill>
                <a:latin typeface="Courier New" pitchFamily="34" charset="0"/>
                <a:ea typeface="Courier New" pitchFamily="34" charset="-122"/>
                <a:cs typeface="Courier New" pitchFamily="34" charset="-120"/>
              </a:rPr>
              <a:t>  value</a:t>
            </a:r>
            <a:pPr indent="0" marL="0">
              <a:lnSpc>
                <a:spcPct val="112000"/>
              </a:lnSpc>
              <a:buNone/>
            </a:pPr>
            <a:r>
              <a:rPr lang="en-US" sz="1100" dirty="0">
                <a:solidFill>
                  <a:srgbClr val="E4E1F0"/>
                </a:solidFill>
                <a:latin typeface="Courier New" pitchFamily="34" charset="0"/>
                <a:ea typeface="Courier New" pitchFamily="34" charset="-122"/>
                <a:cs typeface="Courier New" pitchFamily="34" charset="-120"/>
              </a:rPr>
              <a:t> = aws_vpc.my_vpc.id</a:t>
            </a:r>
            <a:endParaRPr lang="en-US" sz="1100" dirty="0"/>
          </a:p>
          <a:p>
            <a:pPr indent="0" marL="0">
              <a:lnSpc>
                <a:spcPct val="112000"/>
              </a:lnSpc>
              <a:buNone/>
            </a:pPr>
            <a:r>
              <a:rPr lang="en-US" sz="1100" dirty="0">
                <a:solidFill>
                  <a:srgbClr val="E4E1F0"/>
                </a:solidFill>
                <a:latin typeface="Courier New" pitchFamily="34" charset="0"/>
                <a:ea typeface="Courier New" pitchFamily="34" charset="-122"/>
                <a:cs typeface="Courier New" pitchFamily="34" charset="-120"/>
              </a:rPr>
              <a:t>}</a:t>
            </a:r>
            <a:endParaRPr lang="en-US" sz="1100" dirty="0"/>
          </a:p>
        </p:txBody>
      </p:sp>
      <p:sp>
        <p:nvSpPr>
          <p:cNvPr id="13" name="Shape 10"/>
          <p:cNvSpPr/>
          <p:nvPr/>
        </p:nvSpPr>
        <p:spPr>
          <a:xfrm>
            <a:off x="4617720" y="1051560"/>
            <a:ext cx="365760" cy="365760"/>
          </a:xfrm>
          <a:prstGeom prst="ellipse">
            <a:avLst/>
          </a:prstGeom>
          <a:solidFill>
            <a:srgbClr val="F0A430"/>
          </a:solidFill>
          <a:ln/>
        </p:spPr>
      </p:sp>
      <p:sp>
        <p:nvSpPr>
          <p:cNvPr id="14" name="Text 11"/>
          <p:cNvSpPr/>
          <p:nvPr/>
        </p:nvSpPr>
        <p:spPr>
          <a:xfrm>
            <a:off x="4617720" y="1051560"/>
            <a:ext cx="365760" cy="365760"/>
          </a:xfrm>
          <a:prstGeom prst="rect">
            <a:avLst/>
          </a:prstGeom>
          <a:noFill/>
          <a:ln/>
        </p:spPr>
        <p:txBody>
          <a:bodyPr wrap="square" lIns="0" tIns="0" rIns="0" bIns="0" rtlCol="0" anchor="ctr"/>
          <a:lstStyle/>
          <a:p>
            <a:pPr algn="ctr" indent="0" marL="0">
              <a:buNone/>
            </a:pPr>
            <a:r>
              <a:rPr lang="en-US" sz="1400" b="1" dirty="0">
                <a:solidFill>
                  <a:srgbClr val="2B1A4A"/>
                </a:solidFill>
                <a:latin typeface="Cambria" pitchFamily="34" charset="0"/>
                <a:ea typeface="Cambria" pitchFamily="34" charset="-122"/>
                <a:cs typeface="Cambria" pitchFamily="34" charset="-120"/>
              </a:rPr>
              <a:t>4</a:t>
            </a:r>
            <a:endParaRPr lang="en-US" sz="1400" dirty="0"/>
          </a:p>
        </p:txBody>
      </p:sp>
      <p:sp>
        <p:nvSpPr>
          <p:cNvPr id="15" name="Text 12"/>
          <p:cNvSpPr/>
          <p:nvPr/>
        </p:nvSpPr>
        <p:spPr>
          <a:xfrm>
            <a:off x="5074920" y="1051560"/>
            <a:ext cx="3657600" cy="365760"/>
          </a:xfrm>
          <a:prstGeom prst="rect">
            <a:avLst/>
          </a:prstGeom>
          <a:noFill/>
          <a:ln/>
        </p:spPr>
        <p:txBody>
          <a:bodyPr wrap="square" lIns="0" tIns="0" rIns="0" bIns="0" rtlCol="0" anchor="ctr"/>
          <a:lstStyle/>
          <a:p>
            <a:pPr indent="0" marL="0">
              <a:buNone/>
            </a:pPr>
            <a:r>
              <a:rPr lang="en-US" sz="1400" b="1" dirty="0">
                <a:solidFill>
                  <a:srgbClr val="241C33"/>
                </a:solidFill>
                <a:latin typeface="Cambria" pitchFamily="34" charset="0"/>
                <a:ea typeface="Cambria" pitchFamily="34" charset="-122"/>
                <a:cs typeface="Cambria" pitchFamily="34" charset="-120"/>
              </a:rPr>
              <a:t>Apply with a CIDR Value</a:t>
            </a:r>
            <a:endParaRPr lang="en-US" sz="1400" dirty="0"/>
          </a:p>
        </p:txBody>
      </p:sp>
      <p:sp>
        <p:nvSpPr>
          <p:cNvPr id="16" name="Shape 13"/>
          <p:cNvSpPr/>
          <p:nvPr/>
        </p:nvSpPr>
        <p:spPr>
          <a:xfrm>
            <a:off x="4617720" y="1463040"/>
            <a:ext cx="3977640" cy="1051560"/>
          </a:xfrm>
          <a:prstGeom prst="roundRect">
            <a:avLst>
              <a:gd name="adj" fmla="val 6957"/>
            </a:avLst>
          </a:prstGeom>
          <a:solidFill>
            <a:srgbClr val="1E1B2E"/>
          </a:solidFill>
          <a:ln/>
          <a:effectLst>
            <a:outerShdw sx="100000" sy="100000" kx="0" ky="0" algn="bl" rotWithShape="0" blurRad="101600" dist="38100" dir="2700000">
              <a:srgbClr val="000000">
                <a:alpha val="12000"/>
              </a:srgbClr>
            </a:outerShdw>
          </a:effectLst>
        </p:spPr>
      </p:sp>
      <p:sp>
        <p:nvSpPr>
          <p:cNvPr id="17" name="Shape 14"/>
          <p:cNvSpPr/>
          <p:nvPr/>
        </p:nvSpPr>
        <p:spPr>
          <a:xfrm>
            <a:off x="4782312" y="1609344"/>
            <a:ext cx="91440" cy="91440"/>
          </a:xfrm>
          <a:prstGeom prst="ellipse">
            <a:avLst/>
          </a:prstGeom>
          <a:solidFill>
            <a:srgbClr val="FF5F56"/>
          </a:solidFill>
          <a:ln/>
        </p:spPr>
      </p:sp>
      <p:sp>
        <p:nvSpPr>
          <p:cNvPr id="18" name="Shape 15"/>
          <p:cNvSpPr/>
          <p:nvPr/>
        </p:nvSpPr>
        <p:spPr>
          <a:xfrm>
            <a:off x="4956048" y="1609344"/>
            <a:ext cx="91440" cy="91440"/>
          </a:xfrm>
          <a:prstGeom prst="ellipse">
            <a:avLst/>
          </a:prstGeom>
          <a:solidFill>
            <a:srgbClr val="FFBD2E"/>
          </a:solidFill>
          <a:ln/>
        </p:spPr>
      </p:sp>
      <p:sp>
        <p:nvSpPr>
          <p:cNvPr id="19" name="Shape 16"/>
          <p:cNvSpPr/>
          <p:nvPr/>
        </p:nvSpPr>
        <p:spPr>
          <a:xfrm>
            <a:off x="5129784" y="1609344"/>
            <a:ext cx="91440" cy="91440"/>
          </a:xfrm>
          <a:prstGeom prst="ellipse">
            <a:avLst/>
          </a:prstGeom>
          <a:solidFill>
            <a:srgbClr val="27C93F"/>
          </a:solidFill>
          <a:ln/>
        </p:spPr>
      </p:sp>
      <p:sp>
        <p:nvSpPr>
          <p:cNvPr id="20" name="Text 17"/>
          <p:cNvSpPr/>
          <p:nvPr/>
        </p:nvSpPr>
        <p:spPr>
          <a:xfrm>
            <a:off x="4873752" y="1847088"/>
            <a:ext cx="3465576" cy="502920"/>
          </a:xfrm>
          <a:prstGeom prst="rect">
            <a:avLst/>
          </a:prstGeom>
          <a:noFill/>
          <a:ln/>
        </p:spPr>
        <p:txBody>
          <a:bodyPr wrap="square" lIns="0" tIns="0" rIns="0" bIns="0" rtlCol="0" anchor="t"/>
          <a:lstStyle/>
          <a:p>
            <a:pPr indent="0" marL="0">
              <a:lnSpc>
                <a:spcPct val="112000"/>
              </a:lnSpc>
              <a:buNone/>
            </a:pPr>
            <a:r>
              <a:rPr lang="en-US" sz="1000" dirty="0">
                <a:solidFill>
                  <a:srgbClr val="E4E1F0"/>
                </a:solidFill>
                <a:latin typeface="Courier New" pitchFamily="34" charset="0"/>
                <a:ea typeface="Courier New" pitchFamily="34" charset="-122"/>
                <a:cs typeface="Courier New" pitchFamily="34" charset="-120"/>
              </a:rPr>
              <a:t>$ terraform init</a:t>
            </a:r>
            <a:endParaRPr lang="en-US" sz="1000" dirty="0"/>
          </a:p>
          <a:p>
            <a:pPr indent="0" marL="0">
              <a:lnSpc>
                <a:spcPct val="112000"/>
              </a:lnSpc>
              <a:buNone/>
            </a:pPr>
            <a:r>
              <a:rPr lang="en-US" sz="1000" dirty="0">
                <a:solidFill>
                  <a:srgbClr val="E4E1F0"/>
                </a:solidFill>
                <a:latin typeface="Courier New" pitchFamily="34" charset="0"/>
                <a:ea typeface="Courier New" pitchFamily="34" charset="-122"/>
                <a:cs typeface="Courier New" pitchFamily="34" charset="-120"/>
              </a:rPr>
              <a:t>$ terraform apply </a:t>
            </a:r>
            <a:pPr indent="0" marL="0">
              <a:lnSpc>
                <a:spcPct val="112000"/>
              </a:lnSpc>
              <a:buNone/>
            </a:pPr>
            <a:r>
              <a:rPr lang="en-US" sz="1000" dirty="0">
                <a:solidFill>
                  <a:srgbClr val="F0A430"/>
                </a:solidFill>
                <a:latin typeface="Courier New" pitchFamily="34" charset="0"/>
                <a:ea typeface="Courier New" pitchFamily="34" charset="-122"/>
                <a:cs typeface="Courier New" pitchFamily="34" charset="-120"/>
              </a:rPr>
              <a:t>-var="vpc_cidr=10.0.0.0/16"</a:t>
            </a:r>
            <a:pPr indent="0" marL="0">
              <a:lnSpc>
                <a:spcPct val="112000"/>
              </a:lnSpc>
              <a:buNone/>
            </a:pPr>
            <a:r>
              <a:rPr lang="en-US" sz="1000" dirty="0">
                <a:solidFill>
                  <a:srgbClr val="E4E1F0"/>
                </a:solidFill>
                <a:latin typeface="Courier New" pitchFamily="34" charset="0"/>
                <a:ea typeface="Courier New" pitchFamily="34" charset="-122"/>
                <a:cs typeface="Courier New" pitchFamily="34" charset="-120"/>
              </a:rPr>
              <a:t> \</a:t>
            </a:r>
            <a:endParaRPr lang="en-US" sz="1000" dirty="0"/>
          </a:p>
          <a:p>
            <a:pPr indent="0" marL="0">
              <a:lnSpc>
                <a:spcPct val="112000"/>
              </a:lnSpc>
              <a:buNone/>
            </a:pPr>
            <a:r>
              <a:rPr lang="en-US" sz="1000" dirty="0">
                <a:solidFill>
                  <a:srgbClr val="E4E1F0"/>
                </a:solidFill>
                <a:latin typeface="Courier New" pitchFamily="34" charset="0"/>
                <a:ea typeface="Courier New" pitchFamily="34" charset="-122"/>
                <a:cs typeface="Courier New" pitchFamily="34" charset="-120"/>
              </a:rPr>
              <a:t>    -auto-approve</a:t>
            </a:r>
            <a:endParaRPr lang="en-US" sz="1000" dirty="0"/>
          </a:p>
        </p:txBody>
      </p:sp>
      <p:sp>
        <p:nvSpPr>
          <p:cNvPr id="21" name="Shape 18"/>
          <p:cNvSpPr/>
          <p:nvPr/>
        </p:nvSpPr>
        <p:spPr>
          <a:xfrm>
            <a:off x="548640" y="2743200"/>
            <a:ext cx="365760" cy="365760"/>
          </a:xfrm>
          <a:prstGeom prst="ellipse">
            <a:avLst/>
          </a:prstGeom>
          <a:solidFill>
            <a:srgbClr val="F0A430"/>
          </a:solidFill>
          <a:ln/>
        </p:spPr>
      </p:sp>
      <p:sp>
        <p:nvSpPr>
          <p:cNvPr id="22" name="Text 19"/>
          <p:cNvSpPr/>
          <p:nvPr/>
        </p:nvSpPr>
        <p:spPr>
          <a:xfrm>
            <a:off x="548640" y="2743200"/>
            <a:ext cx="365760" cy="365760"/>
          </a:xfrm>
          <a:prstGeom prst="rect">
            <a:avLst/>
          </a:prstGeom>
          <a:noFill/>
          <a:ln/>
        </p:spPr>
        <p:txBody>
          <a:bodyPr wrap="square" lIns="0" tIns="0" rIns="0" bIns="0" rtlCol="0" anchor="ctr"/>
          <a:lstStyle/>
          <a:p>
            <a:pPr algn="ctr" indent="0" marL="0">
              <a:buNone/>
            </a:pPr>
            <a:r>
              <a:rPr lang="en-US" sz="1400" b="1" dirty="0">
                <a:solidFill>
                  <a:srgbClr val="2B1A4A"/>
                </a:solidFill>
                <a:latin typeface="Cambria" pitchFamily="34" charset="0"/>
                <a:ea typeface="Cambria" pitchFamily="34" charset="-122"/>
                <a:cs typeface="Cambria" pitchFamily="34" charset="-120"/>
              </a:rPr>
              <a:t>5</a:t>
            </a:r>
            <a:endParaRPr lang="en-US" sz="1400" dirty="0"/>
          </a:p>
        </p:txBody>
      </p:sp>
      <p:sp>
        <p:nvSpPr>
          <p:cNvPr id="23" name="Text 20"/>
          <p:cNvSpPr/>
          <p:nvPr/>
        </p:nvSpPr>
        <p:spPr>
          <a:xfrm>
            <a:off x="1005840" y="2743200"/>
            <a:ext cx="4572000" cy="365760"/>
          </a:xfrm>
          <a:prstGeom prst="rect">
            <a:avLst/>
          </a:prstGeom>
          <a:noFill/>
          <a:ln/>
        </p:spPr>
        <p:txBody>
          <a:bodyPr wrap="square" lIns="0" tIns="0" rIns="0" bIns="0" rtlCol="0" anchor="ctr"/>
          <a:lstStyle/>
          <a:p>
            <a:pPr indent="0" marL="0">
              <a:buNone/>
            </a:pPr>
            <a:r>
              <a:rPr lang="en-US" sz="1400" b="1" dirty="0">
                <a:solidFill>
                  <a:srgbClr val="241C33"/>
                </a:solidFill>
                <a:latin typeface="Cambria" pitchFamily="34" charset="0"/>
                <a:ea typeface="Cambria" pitchFamily="34" charset="-122"/>
                <a:cs typeface="Cambria" pitchFamily="34" charset="-120"/>
              </a:rPr>
              <a:t>Retrieve the VPC ID</a:t>
            </a:r>
            <a:endParaRPr lang="en-US" sz="1400" dirty="0"/>
          </a:p>
        </p:txBody>
      </p:sp>
      <p:sp>
        <p:nvSpPr>
          <p:cNvPr id="24" name="Shape 21"/>
          <p:cNvSpPr/>
          <p:nvPr/>
        </p:nvSpPr>
        <p:spPr>
          <a:xfrm>
            <a:off x="548640" y="3154680"/>
            <a:ext cx="8046720" cy="1051560"/>
          </a:xfrm>
          <a:prstGeom prst="roundRect">
            <a:avLst>
              <a:gd name="adj" fmla="val 6957"/>
            </a:avLst>
          </a:prstGeom>
          <a:solidFill>
            <a:srgbClr val="1E1B2E"/>
          </a:solidFill>
          <a:ln/>
          <a:effectLst>
            <a:outerShdw sx="100000" sy="100000" kx="0" ky="0" algn="bl" rotWithShape="0" blurRad="101600" dist="38100" dir="2700000">
              <a:srgbClr val="000000">
                <a:alpha val="12000"/>
              </a:srgbClr>
            </a:outerShdw>
          </a:effectLst>
        </p:spPr>
      </p:sp>
      <p:sp>
        <p:nvSpPr>
          <p:cNvPr id="25" name="Shape 22"/>
          <p:cNvSpPr/>
          <p:nvPr/>
        </p:nvSpPr>
        <p:spPr>
          <a:xfrm>
            <a:off x="713232" y="3300984"/>
            <a:ext cx="91440" cy="91440"/>
          </a:xfrm>
          <a:prstGeom prst="ellipse">
            <a:avLst/>
          </a:prstGeom>
          <a:solidFill>
            <a:srgbClr val="FF5F56"/>
          </a:solidFill>
          <a:ln/>
        </p:spPr>
      </p:sp>
      <p:sp>
        <p:nvSpPr>
          <p:cNvPr id="26" name="Shape 23"/>
          <p:cNvSpPr/>
          <p:nvPr/>
        </p:nvSpPr>
        <p:spPr>
          <a:xfrm>
            <a:off x="886968" y="3300984"/>
            <a:ext cx="91440" cy="91440"/>
          </a:xfrm>
          <a:prstGeom prst="ellipse">
            <a:avLst/>
          </a:prstGeom>
          <a:solidFill>
            <a:srgbClr val="FFBD2E"/>
          </a:solidFill>
          <a:ln/>
        </p:spPr>
      </p:sp>
      <p:sp>
        <p:nvSpPr>
          <p:cNvPr id="27" name="Shape 24"/>
          <p:cNvSpPr/>
          <p:nvPr/>
        </p:nvSpPr>
        <p:spPr>
          <a:xfrm>
            <a:off x="1060704" y="3300984"/>
            <a:ext cx="91440" cy="91440"/>
          </a:xfrm>
          <a:prstGeom prst="ellipse">
            <a:avLst/>
          </a:prstGeom>
          <a:solidFill>
            <a:srgbClr val="27C93F"/>
          </a:solidFill>
          <a:ln/>
        </p:spPr>
      </p:sp>
      <p:sp>
        <p:nvSpPr>
          <p:cNvPr id="28" name="Text 25"/>
          <p:cNvSpPr/>
          <p:nvPr/>
        </p:nvSpPr>
        <p:spPr>
          <a:xfrm>
            <a:off x="804672" y="3538728"/>
            <a:ext cx="7534656" cy="502920"/>
          </a:xfrm>
          <a:prstGeom prst="rect">
            <a:avLst/>
          </a:prstGeom>
          <a:noFill/>
          <a:ln/>
        </p:spPr>
        <p:txBody>
          <a:bodyPr wrap="square" lIns="0" tIns="0" rIns="0" bIns="0" rtlCol="0" anchor="t"/>
          <a:lstStyle/>
          <a:p>
            <a:pPr indent="0" marL="0">
              <a:lnSpc>
                <a:spcPct val="112000"/>
              </a:lnSpc>
              <a:buNone/>
            </a:pPr>
            <a:r>
              <a:rPr lang="en-US" sz="1200" dirty="0">
                <a:solidFill>
                  <a:srgbClr val="E4E1F0"/>
                </a:solidFill>
                <a:latin typeface="Courier New" pitchFamily="34" charset="0"/>
                <a:ea typeface="Courier New" pitchFamily="34" charset="-122"/>
                <a:cs typeface="Courier New" pitchFamily="34" charset="-120"/>
              </a:rPr>
              <a:t>$ terraform output vpc_id</a:t>
            </a:r>
            <a:endParaRPr lang="en-US" sz="1200" dirty="0"/>
          </a:p>
          <a:p>
            <a:pPr indent="0" marL="0">
              <a:lnSpc>
                <a:spcPct val="112000"/>
              </a:lnSpc>
              <a:buNone/>
            </a:pPr>
            <a:r>
              <a:rPr lang="en-US" sz="1200" dirty="0">
                <a:solidFill>
                  <a:srgbClr val="9CDCB4"/>
                </a:solidFill>
                <a:latin typeface="Courier New" pitchFamily="34" charset="0"/>
                <a:ea typeface="Courier New" pitchFamily="34" charset="-122"/>
                <a:cs typeface="Courier New" pitchFamily="34" charset="-120"/>
              </a:rPr>
              <a:t>vpc-0abc123def4567890</a:t>
            </a:r>
            <a:endParaRPr lang="en-US" sz="1200" dirty="0"/>
          </a:p>
        </p:txBody>
      </p:sp>
      <p:sp>
        <p:nvSpPr>
          <p:cNvPr id="29" name="Shape 26"/>
          <p:cNvSpPr/>
          <p:nvPr/>
        </p:nvSpPr>
        <p:spPr>
          <a:xfrm>
            <a:off x="548640" y="4343400"/>
            <a:ext cx="8046720" cy="594360"/>
          </a:xfrm>
          <a:prstGeom prst="roundRect">
            <a:avLst>
              <a:gd name="adj" fmla="val 12308"/>
            </a:avLst>
          </a:prstGeom>
          <a:solidFill>
            <a:srgbClr val="EDE7FA"/>
          </a:solidFill>
          <a:ln/>
        </p:spPr>
      </p:sp>
      <p:sp>
        <p:nvSpPr>
          <p:cNvPr id="30" name="Shape 27"/>
          <p:cNvSpPr/>
          <p:nvPr/>
        </p:nvSpPr>
        <p:spPr>
          <a:xfrm>
            <a:off x="713232" y="4407408"/>
            <a:ext cx="457200" cy="457200"/>
          </a:xfrm>
          <a:prstGeom prst="ellipse">
            <a:avLst/>
          </a:prstGeom>
          <a:solidFill>
            <a:srgbClr val="EDE7FA"/>
          </a:solidFill>
          <a:ln/>
        </p:spPr>
      </p:sp>
      <p:pic>
        <p:nvPicPr>
          <p:cNvPr id="31" name="Image 1" descr="preencoded.png">    </p:cNvPr>
          <p:cNvPicPr>
            <a:picLocks noChangeAspect="1"/>
          </p:cNvPicPr>
          <p:nvPr/>
        </p:nvPicPr>
        <p:blipFill>
          <a:blip r:embed="rId2"/>
          <a:stretch>
            <a:fillRect/>
          </a:stretch>
        </p:blipFill>
        <p:spPr>
          <a:xfrm>
            <a:off x="836676" y="4530852"/>
            <a:ext cx="210312" cy="210312"/>
          </a:xfrm>
          <a:prstGeom prst="rect">
            <a:avLst/>
          </a:prstGeom>
        </p:spPr>
      </p:pic>
      <p:sp>
        <p:nvSpPr>
          <p:cNvPr id="32" name="Text 28"/>
          <p:cNvSpPr/>
          <p:nvPr/>
        </p:nvSpPr>
        <p:spPr>
          <a:xfrm>
            <a:off x="1280160" y="4343400"/>
            <a:ext cx="7223760" cy="594360"/>
          </a:xfrm>
          <a:prstGeom prst="rect">
            <a:avLst/>
          </a:prstGeom>
          <a:noFill/>
          <a:ln/>
        </p:spPr>
        <p:txBody>
          <a:bodyPr wrap="square" lIns="0" tIns="0" rIns="0" bIns="0" rtlCol="0" anchor="ctr"/>
          <a:lstStyle/>
          <a:p>
            <a:pPr indent="0" marL="0">
              <a:buNone/>
            </a:pPr>
            <a:r>
              <a:rPr lang="en-US" sz="1250" i="1" dirty="0">
                <a:solidFill>
                  <a:srgbClr val="241C33"/>
                </a:solidFill>
                <a:latin typeface="Calibri" pitchFamily="34" charset="0"/>
                <a:ea typeface="Calibri" pitchFamily="34" charset="-122"/>
                <a:cs typeface="Calibri" pitchFamily="34" charset="-120"/>
              </a:rPr>
              <a:t>Result: the CIDR block is dynamically assigned — no hard-coded values anywhere.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B1A4A"/>
        </a:solidFill>
      </p:bgPr>
    </p:bg>
    <p:spTree>
      <p:nvGrpSpPr>
        <p:cNvPr id="1" name=""/>
        <p:cNvGrpSpPr/>
        <p:nvPr/>
      </p:nvGrpSpPr>
      <p:grpSpPr>
        <a:xfrm>
          <a:off x="0" y="0"/>
          <a:ext cx="0" cy="0"/>
          <a:chOff x="0" y="0"/>
          <a:chExt cx="0" cy="0"/>
        </a:xfrm>
      </p:grpSpPr>
      <p:sp>
        <p:nvSpPr>
          <p:cNvPr id="2" name="Shape 0"/>
          <p:cNvSpPr/>
          <p:nvPr/>
        </p:nvSpPr>
        <p:spPr>
          <a:xfrm>
            <a:off x="-1828800" y="-1828800"/>
            <a:ext cx="4572000" cy="4572000"/>
          </a:xfrm>
          <a:prstGeom prst="ellipse">
            <a:avLst/>
          </a:prstGeom>
          <a:solidFill>
            <a:srgbClr val="6C41B8">
              <a:alpha val="40000"/>
            </a:srgbClr>
          </a:solidFill>
          <a:ln/>
        </p:spPr>
      </p:sp>
      <p:sp>
        <p:nvSpPr>
          <p:cNvPr id="3" name="Shape 1"/>
          <p:cNvSpPr/>
          <p:nvPr/>
        </p:nvSpPr>
        <p:spPr>
          <a:xfrm>
            <a:off x="6858000" y="2926080"/>
            <a:ext cx="4114800" cy="4114800"/>
          </a:xfrm>
          <a:prstGeom prst="ellipse">
            <a:avLst/>
          </a:prstGeom>
          <a:solidFill>
            <a:srgbClr val="6C41B8">
              <a:alpha val="40000"/>
            </a:srgbClr>
          </a:solidFill>
          <a:ln/>
        </p:spPr>
      </p:sp>
      <p:sp>
        <p:nvSpPr>
          <p:cNvPr id="4" name="Text 2"/>
          <p:cNvSpPr/>
          <p:nvPr/>
        </p:nvSpPr>
        <p:spPr>
          <a:xfrm>
            <a:off x="548640" y="502920"/>
            <a:ext cx="73152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Chapter 5 Recap</a:t>
            </a:r>
            <a:endParaRPr lang="en-US" sz="3000" dirty="0"/>
          </a:p>
        </p:txBody>
      </p:sp>
      <p:sp>
        <p:nvSpPr>
          <p:cNvPr id="5" name="Text 3"/>
          <p:cNvSpPr/>
          <p:nvPr/>
        </p:nvSpPr>
        <p:spPr>
          <a:xfrm>
            <a:off x="548640" y="1051560"/>
            <a:ext cx="7315200" cy="365760"/>
          </a:xfrm>
          <a:prstGeom prst="rect">
            <a:avLst/>
          </a:prstGeom>
          <a:noFill/>
          <a:ln/>
        </p:spPr>
        <p:txBody>
          <a:bodyPr wrap="square" lIns="0" tIns="0" rIns="0" bIns="0" rtlCol="0" anchor="ctr"/>
          <a:lstStyle/>
          <a:p>
            <a:pPr indent="0" marL="0">
              <a:buNone/>
            </a:pPr>
            <a:r>
              <a:rPr lang="en-US" sz="1400" i="1" dirty="0">
                <a:solidFill>
                  <a:srgbClr val="C9BEEA"/>
                </a:solidFill>
                <a:latin typeface="Calibri" pitchFamily="34" charset="0"/>
                <a:ea typeface="Calibri" pitchFamily="34" charset="-122"/>
                <a:cs typeface="Calibri" pitchFamily="34" charset="-120"/>
              </a:rPr>
              <a:t>What to remember about Terraform variables and outputs</a:t>
            </a:r>
            <a:endParaRPr lang="en-US" sz="1400" dirty="0"/>
          </a:p>
        </p:txBody>
      </p:sp>
      <p:sp>
        <p:nvSpPr>
          <p:cNvPr id="6" name="Shape 4"/>
          <p:cNvSpPr/>
          <p:nvPr/>
        </p:nvSpPr>
        <p:spPr>
          <a:xfrm>
            <a:off x="548640" y="1691640"/>
            <a:ext cx="502920" cy="502920"/>
          </a:xfrm>
          <a:prstGeom prst="ellipse">
            <a:avLst/>
          </a:prstGeom>
          <a:solidFill>
            <a:srgbClr val="6C41B8"/>
          </a:solidFill>
          <a:ln/>
        </p:spPr>
      </p:sp>
      <p:pic>
        <p:nvPicPr>
          <p:cNvPr id="7" name="Image 0" descr="preencoded.png">    </p:cNvPr>
          <p:cNvPicPr>
            <a:picLocks noChangeAspect="1"/>
          </p:cNvPicPr>
          <p:nvPr/>
        </p:nvPicPr>
        <p:blipFill>
          <a:blip r:embed="rId1"/>
          <a:stretch>
            <a:fillRect/>
          </a:stretch>
        </p:blipFill>
        <p:spPr>
          <a:xfrm>
            <a:off x="684428" y="1827428"/>
            <a:ext cx="231343" cy="231343"/>
          </a:xfrm>
          <a:prstGeom prst="rect">
            <a:avLst/>
          </a:prstGeom>
        </p:spPr>
      </p:pic>
      <p:sp>
        <p:nvSpPr>
          <p:cNvPr id="8" name="Text 5"/>
          <p:cNvSpPr/>
          <p:nvPr/>
        </p:nvSpPr>
        <p:spPr>
          <a:xfrm>
            <a:off x="1234440" y="1673352"/>
            <a:ext cx="6949440" cy="3200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Seven variable types</a:t>
            </a:r>
            <a:endParaRPr lang="en-US" sz="1500" dirty="0"/>
          </a:p>
        </p:txBody>
      </p:sp>
      <p:sp>
        <p:nvSpPr>
          <p:cNvPr id="9" name="Text 6"/>
          <p:cNvSpPr/>
          <p:nvPr/>
        </p:nvSpPr>
        <p:spPr>
          <a:xfrm>
            <a:off x="1234440" y="1984248"/>
            <a:ext cx="6949440" cy="320040"/>
          </a:xfrm>
          <a:prstGeom prst="rect">
            <a:avLst/>
          </a:prstGeom>
          <a:noFill/>
          <a:ln/>
        </p:spPr>
        <p:txBody>
          <a:bodyPr wrap="square" lIns="0" tIns="0" rIns="0" bIns="0" rtlCol="0" anchor="ctr"/>
          <a:lstStyle/>
          <a:p>
            <a:pPr indent="0" marL="0">
              <a:buNone/>
            </a:pPr>
            <a:r>
              <a:rPr lang="en-US" sz="1150" dirty="0">
                <a:solidFill>
                  <a:srgbClr val="C9BEEA"/>
                </a:solidFill>
                <a:latin typeface="Calibri" pitchFamily="34" charset="0"/>
                <a:ea typeface="Calibri" pitchFamily="34" charset="-122"/>
                <a:cs typeface="Calibri" pitchFamily="34" charset="-120"/>
              </a:rPr>
              <a:t>string, number, bool, list, map, object, tuple</a:t>
            </a:r>
            <a:endParaRPr lang="en-US" sz="1150" dirty="0"/>
          </a:p>
        </p:txBody>
      </p:sp>
      <p:sp>
        <p:nvSpPr>
          <p:cNvPr id="10" name="Shape 7"/>
          <p:cNvSpPr/>
          <p:nvPr/>
        </p:nvSpPr>
        <p:spPr>
          <a:xfrm>
            <a:off x="548640" y="2532888"/>
            <a:ext cx="502920" cy="502920"/>
          </a:xfrm>
          <a:prstGeom prst="ellipse">
            <a:avLst/>
          </a:prstGeom>
          <a:solidFill>
            <a:srgbClr val="6C41B8"/>
          </a:solidFill>
          <a:ln/>
        </p:spPr>
      </p:sp>
      <p:pic>
        <p:nvPicPr>
          <p:cNvPr id="11" name="Image 1" descr="preencoded.png">    </p:cNvPr>
          <p:cNvPicPr>
            <a:picLocks noChangeAspect="1"/>
          </p:cNvPicPr>
          <p:nvPr/>
        </p:nvPicPr>
        <p:blipFill>
          <a:blip r:embed="rId2"/>
          <a:stretch>
            <a:fillRect/>
          </a:stretch>
        </p:blipFill>
        <p:spPr>
          <a:xfrm>
            <a:off x="684428" y="2668676"/>
            <a:ext cx="231343" cy="231343"/>
          </a:xfrm>
          <a:prstGeom prst="rect">
            <a:avLst/>
          </a:prstGeom>
        </p:spPr>
      </p:pic>
      <p:sp>
        <p:nvSpPr>
          <p:cNvPr id="12" name="Text 8"/>
          <p:cNvSpPr/>
          <p:nvPr/>
        </p:nvSpPr>
        <p:spPr>
          <a:xfrm>
            <a:off x="1234440" y="2514600"/>
            <a:ext cx="6949440" cy="3200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Defaults &amp; overrides</a:t>
            </a:r>
            <a:endParaRPr lang="en-US" sz="1500" dirty="0"/>
          </a:p>
        </p:txBody>
      </p:sp>
      <p:sp>
        <p:nvSpPr>
          <p:cNvPr id="13" name="Text 9"/>
          <p:cNvSpPr/>
          <p:nvPr/>
        </p:nvSpPr>
        <p:spPr>
          <a:xfrm>
            <a:off x="1234440" y="2825496"/>
            <a:ext cx="6949440" cy="320040"/>
          </a:xfrm>
          <a:prstGeom prst="rect">
            <a:avLst/>
          </a:prstGeom>
          <a:noFill/>
          <a:ln/>
        </p:spPr>
        <p:txBody>
          <a:bodyPr wrap="square" lIns="0" tIns="0" rIns="0" bIns="0" rtlCol="0" anchor="ctr"/>
          <a:lstStyle/>
          <a:p>
            <a:pPr indent="0" marL="0">
              <a:buNone/>
            </a:pPr>
            <a:r>
              <a:rPr lang="en-US" sz="1150" dirty="0">
                <a:solidFill>
                  <a:srgbClr val="C9BEEA"/>
                </a:solidFill>
                <a:latin typeface="Calibri" pitchFamily="34" charset="0"/>
                <a:ea typeface="Calibri" pitchFamily="34" charset="-122"/>
                <a:cs typeface="Calibri" pitchFamily="34" charset="-120"/>
              </a:rPr>
              <a:t>terraform.tfvars and -var keep config flexible</a:t>
            </a:r>
            <a:endParaRPr lang="en-US" sz="1150" dirty="0"/>
          </a:p>
        </p:txBody>
      </p:sp>
      <p:sp>
        <p:nvSpPr>
          <p:cNvPr id="14" name="Shape 10"/>
          <p:cNvSpPr/>
          <p:nvPr/>
        </p:nvSpPr>
        <p:spPr>
          <a:xfrm>
            <a:off x="548640" y="3374136"/>
            <a:ext cx="502920" cy="502920"/>
          </a:xfrm>
          <a:prstGeom prst="ellipse">
            <a:avLst/>
          </a:prstGeom>
          <a:solidFill>
            <a:srgbClr val="6C41B8"/>
          </a:solidFill>
          <a:ln/>
        </p:spPr>
      </p:sp>
      <p:pic>
        <p:nvPicPr>
          <p:cNvPr id="15" name="Image 2" descr="preencoded.png">    </p:cNvPr>
          <p:cNvPicPr>
            <a:picLocks noChangeAspect="1"/>
          </p:cNvPicPr>
          <p:nvPr/>
        </p:nvPicPr>
        <p:blipFill>
          <a:blip r:embed="rId3"/>
          <a:stretch>
            <a:fillRect/>
          </a:stretch>
        </p:blipFill>
        <p:spPr>
          <a:xfrm>
            <a:off x="684428" y="3509924"/>
            <a:ext cx="231343" cy="231343"/>
          </a:xfrm>
          <a:prstGeom prst="rect">
            <a:avLst/>
          </a:prstGeom>
        </p:spPr>
      </p:pic>
      <p:sp>
        <p:nvSpPr>
          <p:cNvPr id="16" name="Text 11"/>
          <p:cNvSpPr/>
          <p:nvPr/>
        </p:nvSpPr>
        <p:spPr>
          <a:xfrm>
            <a:off x="1234440" y="3355848"/>
            <a:ext cx="6949440" cy="3200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Outputs surface data</a:t>
            </a:r>
            <a:endParaRPr lang="en-US" sz="1500" dirty="0"/>
          </a:p>
        </p:txBody>
      </p:sp>
      <p:sp>
        <p:nvSpPr>
          <p:cNvPr id="17" name="Text 12"/>
          <p:cNvSpPr/>
          <p:nvPr/>
        </p:nvSpPr>
        <p:spPr>
          <a:xfrm>
            <a:off x="1234440" y="3666744"/>
            <a:ext cx="6949440" cy="320040"/>
          </a:xfrm>
          <a:prstGeom prst="rect">
            <a:avLst/>
          </a:prstGeom>
          <a:noFill/>
          <a:ln/>
        </p:spPr>
        <p:txBody>
          <a:bodyPr wrap="square" lIns="0" tIns="0" rIns="0" bIns="0" rtlCol="0" anchor="ctr"/>
          <a:lstStyle/>
          <a:p>
            <a:pPr indent="0" marL="0">
              <a:buNone/>
            </a:pPr>
            <a:r>
              <a:rPr lang="en-US" sz="1150" dirty="0">
                <a:solidFill>
                  <a:srgbClr val="C9BEEA"/>
                </a:solidFill>
                <a:latin typeface="Calibri" pitchFamily="34" charset="0"/>
                <a:ea typeface="Calibri" pitchFamily="34" charset="-122"/>
                <a:cs typeface="Calibri" pitchFamily="34" charset="-120"/>
              </a:rPr>
              <a:t>IDs, IPs, and ARNs are available right after apply</a:t>
            </a:r>
            <a:endParaRPr lang="en-US" sz="1150" dirty="0"/>
          </a:p>
        </p:txBody>
      </p:sp>
      <p:sp>
        <p:nvSpPr>
          <p:cNvPr id="18" name="Shape 13"/>
          <p:cNvSpPr/>
          <p:nvPr/>
        </p:nvSpPr>
        <p:spPr>
          <a:xfrm>
            <a:off x="548640" y="4215384"/>
            <a:ext cx="502920" cy="502920"/>
          </a:xfrm>
          <a:prstGeom prst="ellipse">
            <a:avLst/>
          </a:prstGeom>
          <a:solidFill>
            <a:srgbClr val="6C41B8"/>
          </a:solidFill>
          <a:ln/>
        </p:spPr>
      </p:sp>
      <p:pic>
        <p:nvPicPr>
          <p:cNvPr id="19" name="Image 3" descr="preencoded.png">    </p:cNvPr>
          <p:cNvPicPr>
            <a:picLocks noChangeAspect="1"/>
          </p:cNvPicPr>
          <p:nvPr/>
        </p:nvPicPr>
        <p:blipFill>
          <a:blip r:embed="rId4"/>
          <a:stretch>
            <a:fillRect/>
          </a:stretch>
        </p:blipFill>
        <p:spPr>
          <a:xfrm>
            <a:off x="684428" y="4351172"/>
            <a:ext cx="231343" cy="231343"/>
          </a:xfrm>
          <a:prstGeom prst="rect">
            <a:avLst/>
          </a:prstGeom>
        </p:spPr>
      </p:pic>
      <p:sp>
        <p:nvSpPr>
          <p:cNvPr id="20" name="Text 14"/>
          <p:cNvSpPr/>
          <p:nvPr/>
        </p:nvSpPr>
        <p:spPr>
          <a:xfrm>
            <a:off x="1234440" y="4197096"/>
            <a:ext cx="6949440" cy="3200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Sensitive = true</a:t>
            </a:r>
            <a:endParaRPr lang="en-US" sz="1500" dirty="0"/>
          </a:p>
        </p:txBody>
      </p:sp>
      <p:sp>
        <p:nvSpPr>
          <p:cNvPr id="21" name="Text 15"/>
          <p:cNvSpPr/>
          <p:nvPr/>
        </p:nvSpPr>
        <p:spPr>
          <a:xfrm>
            <a:off x="1234440" y="4507992"/>
            <a:ext cx="6949440" cy="320040"/>
          </a:xfrm>
          <a:prstGeom prst="rect">
            <a:avLst/>
          </a:prstGeom>
          <a:noFill/>
          <a:ln/>
        </p:spPr>
        <p:txBody>
          <a:bodyPr wrap="square" lIns="0" tIns="0" rIns="0" bIns="0" rtlCol="0" anchor="ctr"/>
          <a:lstStyle/>
          <a:p>
            <a:pPr indent="0" marL="0">
              <a:buNone/>
            </a:pPr>
            <a:r>
              <a:rPr lang="en-US" sz="1150" dirty="0">
                <a:solidFill>
                  <a:srgbClr val="C9BEEA"/>
                </a:solidFill>
                <a:latin typeface="Calibri" pitchFamily="34" charset="0"/>
                <a:ea typeface="Calibri" pitchFamily="34" charset="-122"/>
                <a:cs typeface="Calibri" pitchFamily="34" charset="-120"/>
              </a:rPr>
              <a:t>Keeps secrets like passwords out of CLI logs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Terraform Variables &amp; Outputs</dc:title>
  <dc:subject>PptxGenJS Presentation</dc:subject>
  <dc:creator>Terraform Guide</dc:creator>
  <cp:lastModifiedBy>Terraform Guide</cp:lastModifiedBy>
  <cp:revision>1</cp:revision>
  <dcterms:created xsi:type="dcterms:W3CDTF">2026-07-07T09:47:31Z</dcterms:created>
  <dcterms:modified xsi:type="dcterms:W3CDTF">2026-07-07T09:47:31Z</dcterms:modified>
</cp:coreProperties>
</file>