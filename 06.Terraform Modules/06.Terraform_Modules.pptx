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registry.terraform.io" TargetMode="Externa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ubes_5C4EE5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8778240" y="100584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Terraform Modules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Organize, reuse, and scale your infrastructure code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6177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4B3F8C">
              <a:alpha val="75000"/>
            </a:srgbClr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617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07792" y="46177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4B3F8C">
              <a:alpha val="75000"/>
            </a:srgbClr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07792" y="4617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Use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992624" y="46177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4B3F8C">
              <a:alpha val="75000"/>
            </a:srgbClr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92624" y="4617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Modules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077456" y="46177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4B3F8C">
              <a:alpha val="75000"/>
            </a:srgbClr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77456" y="4617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62288" y="46177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4B3F8C">
              <a:alpha val="75000"/>
            </a:srgbClr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2288" y="4617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registry.terraform.io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Are Modules &amp; Why Use Them?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Terraform module is a </a:t>
            </a:r>
            <a:pPr indent="0" marL="0">
              <a:buNone/>
            </a:pPr>
            <a:r>
              <a:rPr lang="en-US" sz="16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for multiple resources</a:t>
            </a:r>
            <a:pPr indent="0" marL="0">
              <a:buNone/>
            </a:pPr>
            <a:r>
              <a:rPr lang="en-US" sz="16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managed as a single unit.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7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4B3F8C"/>
          </a:solidFill>
          <a:ln/>
        </p:spPr>
      </p:sp>
      <p:pic>
        <p:nvPicPr>
          <p:cNvPr id="7" name="Image 0" descr="icons/recy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780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Reuse Code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rewriting the same Terraform configurations for every project.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7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331720"/>
            <a:ext cx="640080" cy="640080"/>
          </a:xfrm>
          <a:prstGeom prst="ellipse">
            <a:avLst/>
          </a:prstGeom>
          <a:solidFill>
            <a:srgbClr val="4B3F8C"/>
          </a:solidFill>
          <a:ln/>
        </p:spPr>
      </p:sp>
      <p:pic>
        <p:nvPicPr>
          <p:cNvPr id="12" name="Image 1" descr="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4780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Simplify Complexity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3429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infrastructure into smaller, manageable pieces.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7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331720"/>
            <a:ext cx="640080" cy="640080"/>
          </a:xfrm>
          <a:prstGeom prst="ellipse">
            <a:avLst/>
          </a:prstGeom>
          <a:solidFill>
            <a:srgbClr val="4B3F8C"/>
          </a:solidFill>
          <a:ln/>
        </p:spPr>
      </p:sp>
      <p:pic>
        <p:nvPicPr>
          <p:cNvPr id="17" name="Image 2" descr="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4780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Ensure Consistency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429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Dev, Staging, and Production environments aligned.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4B3F8C">
              <a:alpha val="8000"/>
            </a:srgbClr>
          </a:solidFill>
          <a:ln w="12700">
            <a:solidFill>
              <a:srgbClr val="8B7FF0"/>
            </a:solidFill>
            <a:prstDash val="solid"/>
          </a:ln>
        </p:spPr>
      </p:sp>
      <p:pic>
        <p:nvPicPr>
          <p:cNvPr id="21" name="Image 3" descr="icons/book_5C4EE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537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43434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Terraform configuration is a module — even a single main.tf file.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080760" y="43434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4B3F8C">
              <a:alpha val="8000"/>
            </a:srgbClr>
          </a:solidFill>
          <a:ln w="12700">
            <a:solidFill>
              <a:srgbClr val="8B7FF0"/>
            </a:solidFill>
            <a:prstDash val="solid"/>
          </a:ln>
        </p:spPr>
      </p:sp>
      <p:pic>
        <p:nvPicPr>
          <p:cNvPr id="24" name="Image 4" descr="icons/book_5C4E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553712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66560" y="43434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live in folders with their own main.tf, variables.tf, and outputs.tf.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4864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note: emphasize that modularity is the same principle as functions in programming — inputs, logic, outputs.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Creating &amp; Using Modules — Project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a Reusable EC2 Module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035040" cy="4297680"/>
          </a:xfrm>
          <a:prstGeom prst="roundRect">
            <a:avLst>
              <a:gd name="adj" fmla="val 1702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terraform-project/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                 # Calls the module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            # Defines input variables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              # Defines output variables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7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ec2-instance/       # Custom EC2 module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main.tf         # Module definition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variables.tf    # Module variables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outputs.tf      # Module outputs</a:t>
            </a:r>
            <a:endParaRPr lang="en-US" sz="1300" dirty="0"/>
          </a:p>
        </p:txBody>
      </p:sp>
      <p:pic>
        <p:nvPicPr>
          <p:cNvPr id="7" name="Image 0" descr="icons/folder_5C4E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4380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 Module Layout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4688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config calls the module and wires up variables/outputs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modules/ec2-instance/ is a self-contained, reusable unit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folder mirrors the root: main, variables, outputs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995160" y="443484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4B3F8C">
              <a:alpha val="8000"/>
            </a:srgbClr>
          </a:solidFill>
          <a:ln w="12700">
            <a:solidFill>
              <a:srgbClr val="8B7F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44348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point: </a:t>
            </a:r>
            <a:pPr indent="0" marL="0">
              <a:buNone/>
            </a:pPr>
            <a:r>
              <a:rPr lang="en-US" sz="12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folder tree live in an editor before showing any code, so learners see where each file lives.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Define the EC2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modules/ec2-instance/main.tf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91440" cy="9144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83664"/>
            <a:ext cx="91440" cy="91440"/>
          </a:xfrm>
          <a:prstGeom prst="ellipse">
            <a:avLst/>
          </a:prstGeom>
          <a:solidFill>
            <a:srgbClr val="E5C13B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91440" cy="91440"/>
          </a:xfrm>
          <a:prstGeom prst="ellipse">
            <a:avLst/>
          </a:prstGeom>
          <a:solidFill>
            <a:srgbClr val="3EBD6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6492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"ec2" {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var.ami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var.instance_type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   = var.instance_name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var.environment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pic>
        <p:nvPicPr>
          <p:cNvPr id="10" name="Image 0" descr="icons/server_5C4E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0" y="1856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defines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18120" y="246888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aws_instance resource, the module's core building block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and instance_type are parameterized — not hardcoded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merge a fixed Name with the caller's environment value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18120" y="466344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4B3F8C">
              <a:alpha val="8000"/>
            </a:srgbClr>
          </a:solidFill>
          <a:ln w="12700">
            <a:solidFill>
              <a:srgbClr val="8B7F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466344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module's logic — the same pattern as a function body.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Define Variables for the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modules/ec2-instance/variables.tf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91440" cy="9144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83664"/>
            <a:ext cx="91440" cy="91440"/>
          </a:xfrm>
          <a:prstGeom prst="ellipse">
            <a:avLst/>
          </a:prstGeom>
          <a:solidFill>
            <a:srgbClr val="E5C13B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91440" cy="91440"/>
          </a:xfrm>
          <a:prstGeom prst="ellipse">
            <a:avLst/>
          </a:prstGeom>
          <a:solidFill>
            <a:srgbClr val="3EBD6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6492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"ami"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"The AMI ID for the EC2 instance"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string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"instance_type"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"EC2 instance type"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string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"t2.micro"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pic>
        <p:nvPicPr>
          <p:cNvPr id="10" name="Image 0" descr="icons/file_5C4E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0" y="1856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Inputs = the module's API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18120" y="2468880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and instance_name have no default — callers must supply them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instance_type defaults to t2.micro, but can be overridden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 required, keeping tagging consistent everywhere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18120" y="48006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4B3F8C">
              <a:alpha val="8000"/>
            </a:srgbClr>
          </a:solidFill>
          <a:ln w="12700">
            <a:solidFill>
              <a:srgbClr val="8B7F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48006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variables.tf also declares instance_name and environment (both required strings).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Define Outputs for the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modules/ec2-instance/outputs.tf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91440" cy="9144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83664"/>
            <a:ext cx="91440" cy="91440"/>
          </a:xfrm>
          <a:prstGeom prst="ellipse">
            <a:avLst/>
          </a:prstGeom>
          <a:solidFill>
            <a:srgbClr val="E5C13B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91440" cy="91440"/>
          </a:xfrm>
          <a:prstGeom prst="ellipse">
            <a:avLst/>
          </a:prstGeom>
          <a:solidFill>
            <a:srgbClr val="3EBD6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6492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"public_ip" {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"Public IP of the EC2 instance"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aws_instance.ec2.public_ip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"instance_id" {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"EC2 Instance ID"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aws_instance.ec2.id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pic>
        <p:nvPicPr>
          <p:cNvPr id="10" name="Image 0" descr="icons/diagram_5C4E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0" y="1856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Passing data back up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18120" y="2468880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expose values from inside the module to the caller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public_ip and instance_id become module.web_server.public_ip, etc.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chaining modules or printing after apply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 the Module in the Main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main.tf (root configuration)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132320" cy="4480560"/>
          </a:xfrm>
          <a:prstGeom prst="roundRect">
            <a:avLst>
              <a:gd name="adj" fmla="val 1633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91440" cy="9144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83664"/>
            <a:ext cx="91440" cy="91440"/>
          </a:xfrm>
          <a:prstGeom prst="ellipse">
            <a:avLst/>
          </a:prstGeom>
          <a:solidFill>
            <a:srgbClr val="E5C13B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91440" cy="91440"/>
          </a:xfrm>
          <a:prstGeom prst="ellipse">
            <a:avLst/>
          </a:prstGeom>
          <a:solidFill>
            <a:srgbClr val="3EBD6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6675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7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"web_server"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= "./modules/ec2-instance"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 = "ami-0c55b159cbfafe1f0"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 = "t3.micro"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instance_name  = "WebServer"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    = "staging"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pic>
        <p:nvPicPr>
          <p:cNvPr id="10" name="Image 0" descr="icons/cubes_5C4E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95360" y="1856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Calling the module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01000" y="246888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points at the local module folder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variable.tf input is supplied as an argument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one module block = one deployed instance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01000" y="47091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4B3F8C">
              <a:alpha val="8000"/>
            </a:srgbClr>
          </a:solidFill>
          <a:ln w="12700">
            <a:solidFill>
              <a:srgbClr val="8B7F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4709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learners: what changes if we call the module a second time with a different name?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Apply the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run Terraform from the project root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132320" cy="1554480"/>
          </a:xfrm>
          <a:prstGeom prst="roundRect">
            <a:avLst>
              <a:gd name="adj" fmla="val 4706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75104"/>
            <a:ext cx="91440" cy="9144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75104"/>
            <a:ext cx="91440" cy="91440"/>
          </a:xfrm>
          <a:prstGeom prst="ellipse">
            <a:avLst/>
          </a:prstGeom>
          <a:solidFill>
            <a:srgbClr val="E5C13B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975104"/>
            <a:ext cx="91440" cy="91440"/>
          </a:xfrm>
          <a:prstGeom prst="ellipse">
            <a:avLst/>
          </a:prstGeom>
          <a:solidFill>
            <a:srgbClr val="3EBD6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7132320" cy="2148840"/>
          </a:xfrm>
          <a:prstGeom prst="roundRect">
            <a:avLst>
              <a:gd name="adj" fmla="val 4255"/>
            </a:avLst>
          </a:prstGeom>
          <a:solidFill>
            <a:srgbClr val="4B3F8C">
              <a:alpha val="22000"/>
            </a:srgbClr>
          </a:solidFill>
          <a:ln/>
        </p:spPr>
      </p:sp>
      <p:pic>
        <p:nvPicPr>
          <p:cNvPr id="11" name="Image 0" descr="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3840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deploys an EC2 instance using the module.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4434840"/>
            <a:ext cx="6537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downloads providers and registers the module; apply builds the plan and provisions resources.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552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Demo Tips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55280" y="23317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plan first to preview changes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the module.web_server prefix in plan output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public_ip / instance_id outputs after apply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Using Public Terraform Registry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provides a </a:t>
            </a:r>
            <a:pPr indent="0" marL="0">
              <a:buNone/>
            </a:pPr>
            <a:r>
              <a:rPr lang="en-US" sz="16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registry</a:t>
            </a:r>
            <a:pPr indent="0" marL="0">
              <a:buNone/>
            </a:pPr>
            <a:r>
              <a:rPr lang="en-US" sz="16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prebuilt modules for common infrastructure needs.</a:t>
            </a:r>
            <a:endParaRPr lang="en-US" sz="1600" dirty="0"/>
          </a:p>
        </p:txBody>
      </p:sp>
      <p:pic>
        <p:nvPicPr>
          <p:cNvPr id="5" name="Image 0" descr="icons/cloud_5C4E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modules at </a:t>
            </a:r>
            <a:pPr indent="0" marL="0">
              <a:buNone/>
            </a:pPr>
            <a:r>
              <a:rPr lang="en-US" sz="1300" b="1" u="sng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registry.terraform.io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6949440" cy="3703320"/>
          </a:xfrm>
          <a:prstGeom prst="roundRect">
            <a:avLst>
              <a:gd name="adj" fmla="val 1975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478024"/>
            <a:ext cx="91440" cy="9144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478024"/>
            <a:ext cx="91440" cy="91440"/>
          </a:xfrm>
          <a:prstGeom prst="ellipse">
            <a:avLst/>
          </a:prstGeom>
          <a:solidFill>
            <a:srgbClr val="E5C13B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2478024"/>
            <a:ext cx="91440" cy="91440"/>
          </a:xfrm>
          <a:prstGeom prst="ellipse">
            <a:avLst/>
          </a:prstGeom>
          <a:solidFill>
            <a:srgbClr val="3EBD68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697480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7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= "terraform-aws-modules/vpc/aws"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 = "5.0.0"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= "my-vpc"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    = "10.0.0.0/16"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Terraform   = "true"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"staging"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pic>
        <p:nvPicPr>
          <p:cNvPr id="12" name="Image 1" descr="icons/tags_5C4E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423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0" y="2450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Registry Advantage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818120" y="30632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writing a VPC module from scratch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references org/module/provider on the registry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pins a stable, tested release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818120" y="489204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4B3F8C">
              <a:alpha val="8000"/>
            </a:srgbClr>
          </a:solidFill>
          <a:ln w="12700">
            <a:solidFill>
              <a:srgbClr val="8B7F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46720" y="48920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automatically provisions a VPC without writing custom code.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Module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6" name="Image 0" descr="icons/ta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 Versioning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 version when consuming public modules for stability.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64592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1" name="Image 1" descr="icons/recy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7647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Code DRY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Yourself — extract shared logic into modules.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64592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6" name="Image 2" descr="icons/fi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76479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Meaningful Names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7532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clear, descriptive variable and output names.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21" name="Image 3" descr="icons/fold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1363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389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Separate Folders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47091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module in its own dedicated folder.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5661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7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79476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26" name="Image 4" descr="icons/boo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91363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389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Document Inputs/Outputs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47091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descriptions so consumers understand the module's API.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Scenario: Reusable EC2 Module for Multiple Environments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 — calling the same module twice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132320" cy="4480560"/>
          </a:xfrm>
          <a:prstGeom prst="roundRect">
            <a:avLst>
              <a:gd name="adj" fmla="val 1633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91440" cy="9144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83664"/>
            <a:ext cx="91440" cy="91440"/>
          </a:xfrm>
          <a:prstGeom prst="ellipse">
            <a:avLst/>
          </a:prstGeom>
          <a:solidFill>
            <a:srgbClr val="E5C13B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91440" cy="91440"/>
          </a:xfrm>
          <a:prstGeom prst="ellipse">
            <a:avLst/>
          </a:prstGeom>
          <a:solidFill>
            <a:srgbClr val="3EBD6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6675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8B7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"staging_server" {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= "./modules/ec2-instance"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 = "ami-0c55b159cbfafe1f0"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 = "t3.micro"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instance_name  = "StagingServer"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    = "staging"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8B7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"production_server" {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= "./modules/ec2-instance"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 = "ami-0c55b159cbfafe1f0"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 = "t3.large"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instance_name  = "ProductionServer"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    = "production"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</p:txBody>
      </p:sp>
      <p:pic>
        <p:nvPicPr>
          <p:cNvPr id="10" name="Image 0" descr="icons/scale_5C4E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95360" y="1856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0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Module, Two Sizes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01000" y="246888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module used for both environments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instance_type scales up for production (t3.micro → t3.large)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tag keeps resources clearly separated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01000" y="484632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4B3F8C">
              <a:alpha val="8000"/>
            </a:srgbClr>
          </a:solidFill>
          <a:ln w="12700">
            <a:solidFill>
              <a:srgbClr val="8B7F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4846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52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payoff of modules: one definition, many consistent deployments.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Apply Terraform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132320" cy="1554480"/>
          </a:xfrm>
          <a:prstGeom prst="roundRect">
            <a:avLst>
              <a:gd name="adj" fmla="val 4706"/>
            </a:avLst>
          </a:prstGeom>
          <a:solidFill>
            <a:srgbClr val="231F3C"/>
          </a:solidFill>
          <a:ln w="12700">
            <a:solidFill>
              <a:srgbClr val="4B3F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00784"/>
            <a:ext cx="91440" cy="91440"/>
          </a:xfrm>
          <a:prstGeom prst="ellipse">
            <a:avLst/>
          </a:prstGeom>
          <a:solidFill>
            <a:srgbClr val="E5C13B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700784"/>
            <a:ext cx="91440" cy="91440"/>
          </a:xfrm>
          <a:prstGeom prst="ellipse">
            <a:avLst/>
          </a:prstGeom>
          <a:solidFill>
            <a:srgbClr val="3EBD6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7132320" cy="2377440"/>
          </a:xfrm>
          <a:prstGeom prst="roundRect">
            <a:avLst>
              <a:gd name="adj" fmla="val 3846"/>
            </a:avLst>
          </a:prstGeom>
          <a:solidFill>
            <a:srgbClr val="4B3F8C">
              <a:alpha val="22000"/>
            </a:srgbClr>
          </a:solidFill>
          <a:ln/>
        </p:spPr>
      </p:sp>
      <p:pic>
        <p:nvPicPr>
          <p:cNvPr id="10" name="Image 0" descr="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661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3566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deploys two instances — one for Staging, one for Production.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4206240"/>
            <a:ext cx="6537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instances come from the same module source, so future fixes or improvements apply to every environment consistently.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552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 Exercise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55280" y="20574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module block for a QA environment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QA's instance_type to t3.small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plan and compare all three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Chapter 6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5" name="Image 0" descr="icons/cub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modules are &amp; why they matter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8" name="Image 1" descr="icons/fi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80720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using a custom module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1" name="Image 2" descr="icons/clou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8444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public Terraform Registry modules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4" name="Image 3" descr="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361688"/>
            <a:ext cx="283464" cy="2834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best practices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7" name="Image 4" descr="icons/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138928"/>
            <a:ext cx="283464" cy="2834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54480" y="5029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one module, multiple environments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7 — Remote State &amp; Backends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Modules</dc:title>
  <dc:subject>PptxGenJS Presentation</dc:subject>
  <dc:creator>Terraform Training</dc:creator>
  <cp:lastModifiedBy>Terraform Training</cp:lastModifiedBy>
  <cp:revision>1</cp:revision>
  <dcterms:created xsi:type="dcterms:W3CDTF">2026-07-07T10:00:03Z</dcterms:created>
  <dcterms:modified xsi:type="dcterms:W3CDTF">2026-07-07T10:00:03Z</dcterms:modified>
</cp:coreProperties>
</file>