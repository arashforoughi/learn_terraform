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5.png"/><Relationship Id="rId7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B2FB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474720"/>
            <a:ext cx="3840480" cy="3840480"/>
          </a:xfrm>
          <a:prstGeom prst="ellipse">
            <a:avLst/>
          </a:prstGeom>
          <a:solidFill>
            <a:srgbClr val="FC6D2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Integrating Terraform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CI/CD Pipelines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consistent, and reliable infrastructure delivery with GitLab CI/CD and GitOps workflows.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8" name="Image 0" descr="icons/gi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502920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37560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1" name="Image 1" descr="icons/branc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50292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Workflows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852160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4" name="Image 2" descr="icons/cog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50292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82512" y="48920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•  GitLab  •  AWS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instruct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6" name="Image 0" descr="icons/git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0992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6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0" y="17190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Terraform with GitLab CI/CD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743200" y="21031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setup, pipeline stages, remote state, secrets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017520"/>
            <a:ext cx="685800" cy="68580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2" name="Image 1" descr="icons/branch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1821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4436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6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43200" y="295351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GitOps Workflow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743200" y="33375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Merge-request driven plan &amp; apply, formatting &amp; linting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251960"/>
            <a:ext cx="685800" cy="68580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8" name="Image 2" descr="icons/cloud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4165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17880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6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743200" y="418795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Infrastructure Deployment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74320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delivery, protecting production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5486400"/>
            <a:ext cx="685800" cy="68580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24" name="Image 3" descr="icons/tasks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65099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41324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6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2743200" y="54223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Chapter Summary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743200" y="5806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 and key takeaways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 — Terraform + CI/CD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1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4B2FB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Terraform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GitLab CI/CD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a working pipeline: repository, CI/CD definition, secure state, and protected secrets.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GitLab Repository for Terraform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500" dirty="0"/>
          </a:p>
        </p:txBody>
      </p:sp>
      <p:pic>
        <p:nvPicPr>
          <p:cNvPr id="8" name="Image 0" descr="icons/check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077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8072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new Git repository</a:t>
            </a:r>
            <a:endParaRPr lang="en-US" sz="1350" dirty="0"/>
          </a:p>
        </p:txBody>
      </p:sp>
      <p:pic>
        <p:nvPicPr>
          <p:cNvPr id="10" name="Image 1" descr="icons/check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295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429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Terraform config files (main.tf, variables.tf, etc.)</a:t>
            </a:r>
            <a:endParaRPr lang="en-US" sz="1350" dirty="0"/>
          </a:p>
        </p:txBody>
      </p:sp>
      <p:pic>
        <p:nvPicPr>
          <p:cNvPr id="12" name="Image 2" descr="icons/check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5137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0507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 to your GitLab remote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68680" y="5120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keep environments (dev/prod) in separate directories or workspaces from the start — it pays off later.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897880" y="2148840"/>
            <a:ext cx="5742432" cy="3931920"/>
          </a:xfrm>
          <a:prstGeom prst="roundRect">
            <a:avLst>
              <a:gd name="adj" fmla="val 279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72200" y="235915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8232" y="235915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3"/>
          <p:cNvSpPr/>
          <p:nvPr/>
        </p:nvSpPr>
        <p:spPr>
          <a:xfrm>
            <a:off x="6684264" y="235915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4"/>
          <p:cNvSpPr/>
          <p:nvPr/>
        </p:nvSpPr>
        <p:spPr>
          <a:xfrm>
            <a:off x="6172200" y="2788920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"Initial commit"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&lt;your-gitlab-repo&gt;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— GitLab CI/CD Setup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.gitlab-ci.yml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carry every change from code to infrastructure: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3200400" cy="3200400"/>
          </a:xfrm>
          <a:prstGeom prst="roundRect">
            <a:avLst>
              <a:gd name="adj" fmla="val 4000"/>
            </a:avLst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8" name="Image 0" descr="icons/clipbo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432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39319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fmt -check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validate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97280" y="5212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50792" y="370332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2FBD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526280" y="2423160"/>
            <a:ext cx="3200400" cy="3200400"/>
          </a:xfrm>
          <a:prstGeom prst="roundRect">
            <a:avLst>
              <a:gd name="adj" fmla="val 4000"/>
            </a:avLst>
          </a:prstGeom>
          <a:solidFill>
            <a:srgbClr val="6C4CE0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4" name="Image 1" descr="icons/task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7432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00600" y="39319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 -out=tfplan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800600" y="5212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754112" y="370332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2FBD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8229600" y="2423160"/>
            <a:ext cx="3200400" cy="3200400"/>
          </a:xfrm>
          <a:prstGeom prst="roundRect">
            <a:avLst>
              <a:gd name="adj" fmla="val 4000"/>
            </a:avLst>
          </a:prstGeom>
          <a:solidFill>
            <a:srgbClr val="FC6D26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20" name="Image 2" descr="icons/pla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74320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0392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503920" y="39319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-auto-approve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(manual trigger)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503920" y="5212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 on Apply prevents accidental changes from reaching real infrastructure.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— GitLab CI/CD Setup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(CONT.)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Pipeline Definition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3977640"/>
          </a:xfrm>
          <a:prstGeom prst="roundRect">
            <a:avLst>
              <a:gd name="adj" fmla="val 2759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validate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plan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apply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terraform_plan: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stage: plan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terraform init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terraform plan -out=tfplan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paths: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tfplan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2103120"/>
            <a:ext cx="502920" cy="502920"/>
          </a:xfrm>
          <a:prstGeom prst="ellipse">
            <a:avLst/>
          </a:prstGeom>
          <a:solidFill>
            <a:srgbClr val="EFEBFF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9" name="Image 0" descr="icons/boxes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741" y="222382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8120" y="2075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artifacts.paths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812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tfplan file from the plan job to the apply job.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78040" y="3383280"/>
            <a:ext cx="502920" cy="502920"/>
          </a:xfrm>
          <a:prstGeom prst="ellipse">
            <a:avLst/>
          </a:prstGeom>
          <a:solidFill>
            <a:srgbClr val="EFEBFF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3" name="Image 1" descr="icons/tasks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741" y="350398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3355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ordering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818120" y="3657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runs validate → plan → apply in sequence automatically.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178040" y="4663440"/>
            <a:ext cx="502920" cy="502920"/>
          </a:xfrm>
          <a:prstGeom prst="ellipse">
            <a:avLst/>
          </a:prstGeom>
          <a:solidFill>
            <a:srgbClr val="EFEBFF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7" name="Image 2" descr="icons/cogs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741" y="478414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18120" y="4636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before_script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818120" y="4937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pinned Terraform binary once for every job.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— GitLab CI/CD Setup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Terraform State with an S3 Backend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7" name="Image 0" descr="icons/cog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71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926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37560" y="3108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B2FBD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206240" y="246888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2743200"/>
            <a:ext cx="594360" cy="59436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2" name="Image 1" descr="icons/database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06" y="288584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80560" y="3383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my-terraform-state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gitlab/terraform.tfstate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region: us-east-1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 rot="5400000">
            <a:off x="5394960" y="4526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2FBD"/>
                </a:solidFill>
              </a:rPr>
              <a:t>↔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206240" y="502920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FC6D26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7" name="Image 2" descr="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5257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74920" y="5166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Lock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terraform-lock table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001000" y="246888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7532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pic>
        <p:nvPicPr>
          <p:cNvPr id="21" name="Image 3" descr="icons/shield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324612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95360" y="31729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outside the runner — survives job restarts</a:t>
            </a:r>
            <a:endParaRPr lang="en-US" sz="1200" dirty="0"/>
          </a:p>
        </p:txBody>
      </p:sp>
      <p:pic>
        <p:nvPicPr>
          <p:cNvPr id="23" name="Image 4" descr="icons/shield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114800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95360" y="40416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table prevents two pipelines applying at once</a:t>
            </a:r>
            <a:endParaRPr lang="en-US" sz="1200" dirty="0"/>
          </a:p>
        </p:txBody>
      </p:sp>
      <p:pic>
        <p:nvPicPr>
          <p:cNvPr id="25" name="Image 5" descr="icons/shield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983480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95360" y="49103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share one source of truth for state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— GitLab CI/CD Setup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AWS Credentials as CI/CD Variables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CI/CD → Variables (never hardcode secrets in .gitlab-ci.yml)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77440"/>
          <a:ext cx="6583680" cy="128016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10972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B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AWS_ACCESS_KEY_ID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AKIAEXAMPLE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Masked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AWS_SECRET_ACCESS_KEY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SECRET12345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Masked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22960" y="3977640"/>
            <a:ext cx="6583680" cy="1737360"/>
          </a:xfrm>
          <a:prstGeom prst="roundRect">
            <a:avLst>
              <a:gd name="adj" fmla="val 6316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4206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variables: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AWS_ACCESS_KEY_ID: $AWS_ACCESS_KEY_ID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AWS_SECRET_ACCESS_KEY: $AWS_SECRET_ACCESS_KEY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0" y="2377440"/>
            <a:ext cx="3886200" cy="3337560"/>
          </a:xfrm>
          <a:prstGeom prst="roundRect">
            <a:avLst>
              <a:gd name="adj" fmla="val 3288"/>
            </a:avLst>
          </a:prstGeom>
          <a:solidFill>
            <a:srgbClr val="EFEBFF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92440" y="2651760"/>
            <a:ext cx="640080" cy="64008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2" name="Image 0" descr="icons/ke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6059" y="28053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92440" y="34290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&amp; protected variables never appear in job logs — keeping credentials out of pipeline output entirely.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— GitLab CI/CD Setup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029200" cy="5029200"/>
          </a:xfrm>
          <a:prstGeom prst="ellipse">
            <a:avLst/>
          </a:prstGeom>
          <a:solidFill>
            <a:srgbClr val="FC6D2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4B2FB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GitOps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 approach where every infrastructure change is proposed, reviewed, and merged through Git.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Pull-Request (Merge Request) Workflow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pic>
        <p:nvPicPr>
          <p:cNvPr id="8" name="Image 0" descr="icons/bran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4871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submits a Merge Request with Terraform changes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63824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FB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447288" y="228600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30168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pic>
        <p:nvPicPr>
          <p:cNvPr id="14" name="Image 1" descr="icons/task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48716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0168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Plan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30168" y="36118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automatically runs terraform plan on the MR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71032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FBD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54496" y="228600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37376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2" descr="icons/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248716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37376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37376" y="36118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reviews the plan output and approves the change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778240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FBD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9061704" y="2286000"/>
            <a:ext cx="2514600" cy="2880360"/>
          </a:xfrm>
          <a:prstGeom prst="roundRect">
            <a:avLst>
              <a:gd name="adj" fmla="val 5091"/>
            </a:avLst>
          </a:prstGeom>
          <a:solidFill>
            <a:srgbClr val="FC6D26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9244584" y="2423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pic>
        <p:nvPicPr>
          <p:cNvPr id="26" name="Image 3" descr="icons/play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248716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44584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244584" y="36118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changes trigger terraform apply</a:t>
            </a:r>
            <a:endParaRPr lang="en-US" sz="1150" dirty="0"/>
          </a:p>
        </p:txBody>
      </p:sp>
      <p:pic>
        <p:nvPicPr>
          <p:cNvPr id="29" name="Image 4" descr="icons/check_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486400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32688" y="5413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infrastructure</a:t>
            </a:r>
            <a:endParaRPr lang="en-US" sz="1200" dirty="0"/>
          </a:p>
        </p:txBody>
      </p:sp>
      <p:pic>
        <p:nvPicPr>
          <p:cNvPr id="31" name="Image 5" descr="icons/check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548640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98848" y="5413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capabilities</a:t>
            </a:r>
            <a:endParaRPr lang="en-US" sz="1200" dirty="0"/>
          </a:p>
        </p:txBody>
      </p:sp>
      <p:pic>
        <p:nvPicPr>
          <p:cNvPr id="33" name="Image 6" descr="icons/check_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5486400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065008" y="5413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approval process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 — GitOps Workflow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Formatting &amp; Linting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774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terraform_lint: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stage: validate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terraform fmt -check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3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terraform validate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14884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2331720"/>
            <a:ext cx="640080" cy="640080"/>
          </a:xfrm>
          <a:prstGeom prst="ellipse">
            <a:avLst/>
          </a:prstGeom>
          <a:solidFill>
            <a:srgbClr val="EFEBFF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0" name="Image 0" descr="icons/warn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19" y="248533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52360" y="2377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misformatted configuration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333756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3520440"/>
            <a:ext cx="640080" cy="640080"/>
          </a:xfrm>
          <a:prstGeom prst="ellipse">
            <a:avLst/>
          </a:prstGeom>
          <a:solidFill>
            <a:srgbClr val="EFEBFF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4" name="Image 1" descr="icons/shield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19" y="367405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35661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invalid configuration before it merges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in the same “validate” stage as your plan job — catching style issues before they reach review saves reviewer time.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 — GitOps Workflow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4B2FB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Infrastructure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Terraform changes to the right environment automatically, based on branch.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Multiple Environments by Branch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7" name="Image 0" descr="icons/bran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1272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017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Merge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 rot="-1200000">
            <a:off x="352044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B2FBD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 rot="1200000">
            <a:off x="3520440" y="3931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6D26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846320" y="1417320"/>
            <a:ext cx="3246120" cy="1691640"/>
          </a:xfrm>
          <a:prstGeom prst="roundRect">
            <a:avLst>
              <a:gd name="adj" fmla="val 6486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1645920"/>
            <a:ext cx="548640" cy="54864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3" name="Image 1" descr="icons/server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314" y="17775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064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F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branch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8064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deploy_dev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12064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environment: dev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-auto-approve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46320" y="3794760"/>
            <a:ext cx="3246120" cy="1691640"/>
          </a:xfrm>
          <a:prstGeom prst="roundRect">
            <a:avLst>
              <a:gd name="adj" fmla="val 6486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120640" y="4023360"/>
            <a:ext cx="548640" cy="54864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9" name="Image 2" descr="icons/server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14" y="415503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0644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6D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branch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806440" y="4343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deploy_prod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120640" y="4754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environment: production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-auto-approve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686800" y="1417320"/>
            <a:ext cx="2971800" cy="4069080"/>
          </a:xfrm>
          <a:prstGeom prst="roundRect">
            <a:avLst>
              <a:gd name="adj" fmla="val 3692"/>
            </a:avLst>
          </a:prstGeom>
          <a:solidFill>
            <a:srgbClr val="EFEBFF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96112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961120" y="205740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branch changes deploy to the development environment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 changes deploy to production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uses GitLab's environment tracking for visibility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 — Automated Deployment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main Branch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606040"/>
            <a:ext cx="685800" cy="68580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8" name="Image 0" descr="icons/check_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77063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4747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approvals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40690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apply reaches production without a reviewed, approved Merge Request.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228600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606040"/>
            <a:ext cx="685800" cy="68580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3" name="Image 1" descr="icons/branch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7706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4747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for every update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754880" y="40690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changes flow through Merge Requests — no direct pushes.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2286000"/>
            <a:ext cx="3429000" cy="3200400"/>
          </a:xfrm>
          <a:prstGeom prst="roundRect">
            <a:avLst>
              <a:gd name="adj" fmla="val 4000"/>
            </a:avLst>
          </a:prstGeom>
          <a:solidFill>
            <a:srgbClr val="FAFAFF"/>
          </a:solidFill>
          <a:ln w="12700">
            <a:solidFill>
              <a:srgbClr val="E7E2F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9640" y="2606040"/>
            <a:ext cx="685800" cy="685800"/>
          </a:xfrm>
          <a:prstGeom prst="ellipse">
            <a:avLst/>
          </a:prstGeom>
          <a:solidFill>
            <a:srgbClr val="4B2FBD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8" name="Image 2" descr="icons/shield_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7706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34747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accidental changes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549640" y="40690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stays isolated from unreviewed or experimental work.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 — Automated Deployment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FEB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WALKTHROUGH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a GitLab CI/CD Pipeline for Terraform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FEB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2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automate infrastructure deployment using GitLab CI/CD and Terraform.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4B2FB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GitLab repository for Terraform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67912"/>
            <a:ext cx="457200" cy="457200"/>
          </a:xfrm>
          <a:prstGeom prst="ellipse">
            <a:avLst/>
          </a:prstGeom>
          <a:solidFill>
            <a:srgbClr val="4B2FB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8679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.gitlab-ci.yml pipeline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4B2FB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4897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secrets in GitLab CI/CD Variables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11496"/>
            <a:ext cx="457200" cy="457200"/>
          </a:xfrm>
          <a:prstGeom prst="ellipse">
            <a:avLst/>
          </a:prstGeom>
          <a:solidFill>
            <a:srgbClr val="4B2FB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11149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GitOps workflows with Merge Requests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3246120"/>
            <a:ext cx="3749040" cy="27432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400" dirty="0"/>
          </a:p>
        </p:txBody>
      </p:sp>
      <p:pic>
        <p:nvPicPr>
          <p:cNvPr id="22" name="Image 0" descr="icons/check_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931920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430768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runs on every commit</a:t>
            </a:r>
            <a:endParaRPr lang="en-US" sz="1250" dirty="0"/>
          </a:p>
        </p:txBody>
      </p:sp>
      <p:pic>
        <p:nvPicPr>
          <p:cNvPr id="24" name="Image 1" descr="icons/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590288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430768" y="44988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version-controlled</a:t>
            </a:r>
            <a:endParaRPr lang="en-US" sz="1250" dirty="0"/>
          </a:p>
        </p:txBody>
      </p:sp>
      <p:pic>
        <p:nvPicPr>
          <p:cNvPr id="26" name="Image 2" descr="icons/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5248656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30768" y="51572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are securely stored in GitLab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 — Scenario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1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4B2FBD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6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13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4B2FBD">
              <a:alpha val="75000"/>
            </a:srgbClr>
          </a:solidFill>
          <a:ln w="12700">
            <a:solidFill>
              <a:srgbClr val="6C4C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94560"/>
            <a:ext cx="594360" cy="59436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7" name="Image 0" descr="icons/gi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233720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 pipeline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74520" y="25786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plan, and apply Terraform automatically on every commit.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920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4B2FBD">
              <a:alpha val="75000"/>
            </a:srgbClr>
          </a:solidFill>
          <a:ln w="12700">
            <a:solidFill>
              <a:srgbClr val="6C4C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194560"/>
            <a:ext cx="594360" cy="59436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2" name="Image 1" descr="icons/branc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3372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workflows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360920" y="25786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infrastructure changes through reviewed Merge Requests.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4B2FBD">
              <a:alpha val="75000"/>
            </a:srgbClr>
          </a:solidFill>
          <a:ln w="12700">
            <a:solidFill>
              <a:srgbClr val="6C4C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97280" y="4297680"/>
            <a:ext cx="594360" cy="59436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17" name="Image 2" descr="icons/ke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6" y="44403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secrets management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874520" y="46817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credentials safely in GitLab CI/CD Variables.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4B2FBD">
              <a:alpha val="75000"/>
            </a:srgbClr>
          </a:solidFill>
          <a:ln w="12700">
            <a:solidFill>
              <a:srgbClr val="6C4C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297680"/>
            <a:ext cx="594360" cy="594360"/>
          </a:xfrm>
          <a:prstGeom prst="ellipse">
            <a:avLst/>
          </a:prstGeom>
          <a:solidFill>
            <a:srgbClr val="FC6D26"/>
          </a:solidFill>
          <a:ln/>
          <a:effectLst>
            <a:outerShdw sx="100000" sy="100000" kx="0" ky="0" algn="bl" rotWithShape="0" blurRad="101600" dist="38100" dir="2700000">
              <a:srgbClr val="1A1A2E">
                <a:alpha val="12000"/>
              </a:srgbClr>
            </a:outerShdw>
          </a:effectLst>
        </p:spPr>
      </p:sp>
      <p:pic>
        <p:nvPicPr>
          <p:cNvPr id="22" name="Image 3" descr="icons/clou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444032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automation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360920" y="46817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dev and production based on branch, with production protected.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Terraform with CI/CD Pipelines</dc:title>
  <dc:subject>PptxGenJS Presentation</dc:subject>
  <dc:creator>Terraform CI/CD Training</dc:creator>
  <cp:lastModifiedBy>Terraform CI/CD Training</cp:lastModifiedBy>
  <cp:revision>1</cp:revision>
  <dcterms:created xsi:type="dcterms:W3CDTF">2026-07-07T14:56:50Z</dcterms:created>
  <dcterms:modified xsi:type="dcterms:W3CDTF">2026-07-07T14:56:50Z</dcterms:modified>
</cp:coreProperties>
</file>