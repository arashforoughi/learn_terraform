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26C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474720"/>
            <a:ext cx="3840480" cy="38404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HANDS-ON BUILD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Highly Available Kubernetes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on AWS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 +  Auto Scaling Worker Nodes  +  Amazon RDS (PostgreSQL)  +  Application Load Balancer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8" name="Image 0" descr="icons/k8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83717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2044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1" name="Image 1" descr="icons/exp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483717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5079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4" name="Image 2" descr="icons/postgre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4837176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4827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915400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17" name="Image 3" descr="icons/balanc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4" y="483717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45752" y="4709160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 •  AWS  •  Kubernetes  •  Helm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 highly available Kubernetes cluster on AWS with the following setup: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6" name="Image 0" descr="icons/k8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514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EKS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managed Kubernetes service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01568" y="219456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4C7FE8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0" name="Image 1" descr="icons/exp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51460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84448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Worker Nodes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584448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AWS Auto Scaling Groups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54496" y="219456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4" name="Image 2" descr="icons/postgre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56" y="251460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37376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 (PostgreSQL)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437376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database storage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9107424" y="2194560"/>
            <a:ext cx="2651760" cy="2743200"/>
          </a:xfrm>
          <a:prstGeom prst="roundRect">
            <a:avLst>
              <a:gd name="adj" fmla="val 4828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8" name="Image 3" descr="icons/balanc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8984" y="2514600"/>
            <a:ext cx="548640" cy="5486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290304" y="3291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9290304" y="4023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traffic distribution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Terraform steps get us there — networking, cluster, workers, database, and the application itself.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HA Kubernetes on AWS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Instruct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AFBFF"/>
          </a:solidFill>
          <a:ln w="12700">
            <a:solidFill>
              <a:srgbClr val="DCE3F7"/>
            </a:solidFill>
            <a:prstDash val="solid"/>
          </a:ln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84832"/>
            <a:ext cx="731520" cy="731520"/>
          </a:xfrm>
          <a:prstGeom prst="ellipse">
            <a:avLst/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6" name="Image 0" descr="icons/networ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26039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6596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1–2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108960" y="1993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Cluster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3108960" y="2450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module, then the EKS control plane in private subnets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AFBFF"/>
          </a:solidFill>
          <a:ln w="12700">
            <a:solidFill>
              <a:srgbClr val="DCE3F7"/>
            </a:solidFill>
            <a:prstDash val="solid"/>
          </a:ln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502152"/>
            <a:ext cx="731520" cy="731520"/>
          </a:xfrm>
          <a:prstGeom prst="ellipse">
            <a:avLst/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2" name="Image 1" descr="icons/cogs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3677717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38328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3–5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3108960" y="34107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Data &amp; App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3108960" y="3867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workers, RDS PostgreSQL, and a Helm release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FAFBFF"/>
          </a:solidFill>
          <a:ln w="12700">
            <a:solidFill>
              <a:srgbClr val="DCE3F7"/>
            </a:solidFill>
            <a:prstDash val="solid"/>
          </a:ln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919472"/>
            <a:ext cx="731520" cy="731520"/>
          </a:xfrm>
          <a:prstGeom prst="ellipse">
            <a:avLst/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8" name="Image 2" descr="icons/terminal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5095037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80060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3108960" y="4828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It All Works</a:t>
            </a:r>
            <a:endParaRPr lang="en-US" sz="1750" dirty="0"/>
          </a:p>
        </p:txBody>
      </p:sp>
      <p:sp>
        <p:nvSpPr>
          <p:cNvPr id="21" name="Text 16"/>
          <p:cNvSpPr/>
          <p:nvPr/>
        </p:nvSpPr>
        <p:spPr>
          <a:xfrm>
            <a:off x="3108960" y="5285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kubectl, Auto Scaling status, and a live database connection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HA Kubernetes on AWS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Picture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434840"/>
          </a:xfrm>
          <a:prstGeom prst="roundRect">
            <a:avLst>
              <a:gd name="adj" fmla="val 2887"/>
            </a:avLst>
          </a:prstGeom>
          <a:solidFill>
            <a:srgbClr val="F6F8FF"/>
          </a:solidFill>
          <a:ln w="19050">
            <a:solidFill>
              <a:srgbClr val="326CE5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VPC — 10.0.0.0/16 (eks-vpc)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2148840"/>
            <a:ext cx="2743200" cy="868680"/>
          </a:xfrm>
          <a:prstGeom prst="roundRect">
            <a:avLst>
              <a:gd name="adj" fmla="val 12632"/>
            </a:avLst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7" name="Image 0" descr="icons/balanc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231343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806440" y="29992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6CE5"/>
                </a:solidFill>
              </a:rPr>
              <a:t>↓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914400" y="3291840"/>
            <a:ext cx="63093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AFC2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401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Subnets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143000" y="37490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3" name="Image 1" descr="icons/k8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3913632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Cluster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my-eks-cluster (v1.31)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60520" y="3749040"/>
            <a:ext cx="2880360" cy="1828800"/>
          </a:xfrm>
          <a:prstGeom prst="roundRect">
            <a:avLst>
              <a:gd name="adj" fmla="val 5000"/>
            </a:avLst>
          </a:prstGeom>
          <a:solidFill>
            <a:srgbClr val="4C7FE8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6" name="Image 2" descr="icons/expan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913632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343400" y="452628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Nodes (ASG)</a:t>
            </a:r>
            <a:endParaRPr lang="en-US" sz="11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× t3.medium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680960" y="3291840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AFC2E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86384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Subnets (Data)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909560" y="3886200"/>
            <a:ext cx="3108960" cy="1691640"/>
          </a:xfrm>
          <a:prstGeom prst="roundRect">
            <a:avLst>
              <a:gd name="adj" fmla="val 5405"/>
            </a:avLst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21" name="Image 3" descr="icons/postgres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404164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92440" y="45902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RDS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 • db.t3.medium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7040880" y="443484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26CE5"/>
                </a:solidFill>
              </a:rPr>
              <a:t>↔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914400" y="594360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deploys “my-app” onto the EKS cluster — traffic flows in through the ALB.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— HA Kubernetes on AWS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VPC &amp; Networking Components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383280"/>
          </a:xfrm>
          <a:prstGeom prst="roundRect">
            <a:avLst>
              <a:gd name="adj" fmla="val 32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042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23042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23042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0604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"vpc" {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= "terraform-aws-modules/vpc/aws"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version = "3.19.0"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 = "eks-vpc"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cidr                 = "10.0.0.0/16"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enable_dns_hostnames = true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enable_dns_support   = true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086600" y="2103120"/>
            <a:ext cx="4572000" cy="3383280"/>
          </a:xfrm>
          <a:prstGeom prst="roundRect">
            <a:avLst>
              <a:gd name="adj" fmla="val 3243"/>
            </a:avLst>
          </a:prstGeom>
          <a:solidFill>
            <a:srgbClr val="EA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60920" y="2331720"/>
            <a:ext cx="640080" cy="640080"/>
          </a:xfrm>
          <a:prstGeom prst="ellipse">
            <a:avLst/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3" name="Image 0" descr="icons/network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4539" y="2485339"/>
            <a:ext cx="332842" cy="33284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60920" y="3108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everything else</a:t>
            </a:r>
            <a:endParaRPr lang="en-US" sz="1450" dirty="0"/>
          </a:p>
        </p:txBody>
      </p:sp>
      <p:pic>
        <p:nvPicPr>
          <p:cNvPr id="15" name="Image 1" descr="icons/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566160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80960" y="3474720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official terraform-aws-modules/vpc registry module</a:t>
            </a:r>
            <a:endParaRPr lang="en-US" sz="1200" dirty="0"/>
          </a:p>
        </p:txBody>
      </p:sp>
      <p:pic>
        <p:nvPicPr>
          <p:cNvPr id="17" name="Image 2" descr="icons/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4224528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80960" y="4133088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public and private subnets automatically</a:t>
            </a:r>
            <a:endParaRPr lang="en-US" sz="1200" dirty="0"/>
          </a:p>
        </p:txBody>
      </p:sp>
      <p:pic>
        <p:nvPicPr>
          <p:cNvPr id="19" name="Image 3" descr="icons/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882896"/>
            <a:ext cx="219456" cy="2194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80960" y="4791456"/>
            <a:ext cx="3794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support is required for EKS service discovery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Networking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Amazon EKS Cluster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27432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2316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"eks" {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  = "terraform-aws-modules/eks/aws"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cluster_name    = "my-eks-cluster"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cluster_version = "1.31"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subnet_ids      = module.vpc.private_subnets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2743200"/>
          </a:xfrm>
          <a:prstGeom prst="roundRect">
            <a:avLst>
              <a:gd name="adj" fmla="val 4000"/>
            </a:avLst>
          </a:prstGeom>
          <a:solidFill>
            <a:srgbClr val="F6F8FF"/>
          </a:solidFill>
          <a:ln w="15240">
            <a:solidFill>
              <a:srgbClr val="326CE5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26948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26C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subnets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52360" y="2651760"/>
            <a:ext cx="3108960" cy="1828800"/>
          </a:xfrm>
          <a:prstGeom prst="roundRect">
            <a:avLst>
              <a:gd name="adj" fmla="val 5000"/>
            </a:avLst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1" name="Image 0" descr="icons/k8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834640"/>
            <a:ext cx="548640" cy="5486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635240" y="3474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my-eks-cluster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v1.31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5029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inside private subnets — the control plane and nodes have no direct public exposure.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EKS Cluster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Configure Auto Scaling Worker Nodes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3108960"/>
          </a:xfrm>
          <a:prstGeom prst="roundRect">
            <a:avLst>
              <a:gd name="adj" fmla="val 3529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 "eks_worker_nodes" {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= "terraform-aws-modules/autoscaling/aws"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        = "eks-workers"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min_size            = 2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max_size            = 5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desired_capacity    = 3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      = "t3.medium"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vpc_zone_identifier = module.vpc.private_subnets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3108960"/>
          </a:xfrm>
          <a:prstGeom prst="roundRect">
            <a:avLst>
              <a:gd name="adj" fmla="val 3529"/>
            </a:avLst>
          </a:prstGeom>
          <a:solidFill>
            <a:srgbClr val="EAF0FF"/>
          </a:solidFill>
          <a:ln/>
        </p:spPr>
      </p:sp>
      <p:sp>
        <p:nvSpPr>
          <p:cNvPr id="9" name="Text 7"/>
          <p:cNvSpPr/>
          <p:nvPr/>
        </p:nvSpPr>
        <p:spPr>
          <a:xfrm>
            <a:off x="73609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range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3063240"/>
            <a:ext cx="4023360" cy="109728"/>
          </a:xfrm>
          <a:prstGeom prst="rect">
            <a:avLst/>
          </a:prstGeom>
          <a:solidFill>
            <a:srgbClr val="D6DEF7"/>
          </a:solidFill>
          <a:ln/>
        </p:spPr>
      </p:sp>
      <p:sp>
        <p:nvSpPr>
          <p:cNvPr id="11" name="Shape 9"/>
          <p:cNvSpPr/>
          <p:nvPr/>
        </p:nvSpPr>
        <p:spPr>
          <a:xfrm>
            <a:off x="7360920" y="2926080"/>
            <a:ext cx="384048" cy="384048"/>
          </a:xfrm>
          <a:prstGeom prst="ellipse">
            <a:avLst/>
          </a:prstGeom>
          <a:solidFill>
            <a:srgbClr val="4C7FE8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04088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min: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869680" y="2926080"/>
            <a:ext cx="384048" cy="384048"/>
          </a:xfrm>
          <a:prstGeom prst="ellipse">
            <a:avLst/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964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desired: 3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378440" y="2926080"/>
            <a:ext cx="384048" cy="384048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60920" y="3794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sets the boundaries; AWS Auto Scaling adjusts node count between them based on load.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Auto Scaling Workers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Amazon RDS for PostgreSQL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2926080"/>
          </a:xfrm>
          <a:prstGeom prst="roundRect">
            <a:avLst>
              <a:gd name="adj" fmla="val 375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231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"aws_db_instance" "postgres" {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allocated_storage = 20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engine           = "postgres"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engine_version   = "14"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instance_class   = "db.t3.medium"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publicly_accessible = false</a:t>
            </a:r>
            <a:endParaRPr lang="en-US" sz="13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0" y="2286000"/>
            <a:ext cx="548640" cy="54864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0" name="Image 0" descr="icons/postgres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46874" y="2417674"/>
            <a:ext cx="285293" cy="28529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0" y="228600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14 on db.t3.medium — sized for steady application workloads.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086600" y="3657600"/>
            <a:ext cx="4572000" cy="1371600"/>
          </a:xfrm>
          <a:prstGeom prst="roundRect">
            <a:avLst>
              <a:gd name="adj" fmla="val 8000"/>
            </a:avLst>
          </a:prstGeom>
          <a:solidFill>
            <a:srgbClr val="EAF0FF"/>
          </a:solidFill>
          <a:ln/>
        </p:spPr>
      </p:sp>
      <p:sp>
        <p:nvSpPr>
          <p:cNvPr id="13" name="Shape 10"/>
          <p:cNvSpPr/>
          <p:nvPr/>
        </p:nvSpPr>
        <p:spPr>
          <a:xfrm>
            <a:off x="7315200" y="3840480"/>
            <a:ext cx="548640" cy="54864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4" name="Image 1" descr="icons/shield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4" y="397215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001000" y="38404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publicly_accessible = false keeps the database reachable only from inside the VPC.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RDS PostgreSQL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the App with Helm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2377440"/>
          </a:xfrm>
          <a:prstGeom prst="roundRect">
            <a:avLst>
              <a:gd name="adj" fmla="val 461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423160"/>
            <a:ext cx="576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"helm_release" "app" {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= "my-app"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chart      = "my-app-chart"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namespace  = "default"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F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86600" y="2103120"/>
            <a:ext cx="4572000" cy="2377440"/>
          </a:xfrm>
          <a:prstGeom prst="roundRect">
            <a:avLst>
              <a:gd name="adj" fmla="val 4615"/>
            </a:avLst>
          </a:prstGeom>
          <a:solidFill>
            <a:srgbClr val="F6F8FF"/>
          </a:solidFill>
          <a:ln w="12700">
            <a:solidFill>
              <a:srgbClr val="326CE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7360920" y="2377440"/>
            <a:ext cx="640080" cy="640080"/>
          </a:xfrm>
          <a:prstGeom prst="ellipse">
            <a:avLst/>
          </a:prstGeom>
          <a:solidFill>
            <a:srgbClr val="4C7FE8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0" name="Image 0" descr="icons/helm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4539" y="253105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8388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Release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8388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670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my-app  •  namespace: default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052560" y="3246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26CE5"/>
                </a:solidFill>
              </a:rPr>
              <a:t>↓</a:t>
            </a:r>
            <a:endParaRPr lang="en-US" sz="1800" dirty="0"/>
          </a:p>
        </p:txBody>
      </p:sp>
      <p:pic>
        <p:nvPicPr>
          <p:cNvPr id="14" name="Image 1" descr="icons/k8s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37033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onto the EKS cluster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4709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packages the application as a chart, keeping deployment declarative alongside the rest of the infrastructure.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Application Deployment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326CE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It's All Working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quick checks: the cluster, the Auto Scaling Group, and the database connection.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1–2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 Health &amp; Scaling Status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486400" cy="3931920"/>
          </a:xfrm>
          <a:prstGeom prst="roundRect">
            <a:avLst>
              <a:gd name="adj" fmla="val 2791"/>
            </a:avLst>
          </a:prstGeom>
          <a:solidFill>
            <a:srgbClr val="FAFBFF"/>
          </a:solidFill>
          <a:ln w="12700">
            <a:solidFill>
              <a:srgbClr val="DCE3F7"/>
            </a:solidFill>
            <a:prstDash val="solid"/>
          </a:ln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326CE5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8" name="Image 0" descr="icons/k8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474366"/>
            <a:ext cx="309067" cy="309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24231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Check EKS Cluster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822960" y="3063240"/>
            <a:ext cx="493776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24612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eks update-kubeconfig \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--name my-eks-cluster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7091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kubeconfig is set and worker nodes have joined the cluster.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103120"/>
            <a:ext cx="5349240" cy="3931920"/>
          </a:xfrm>
          <a:prstGeom prst="roundRect">
            <a:avLst>
              <a:gd name="adj" fmla="val 2791"/>
            </a:avLst>
          </a:prstGeom>
          <a:solidFill>
            <a:srgbClr val="FAFBFF"/>
          </a:solidFill>
          <a:ln w="12700">
            <a:solidFill>
              <a:srgbClr val="DCE3F7"/>
            </a:solidFill>
            <a:prstDash val="solid"/>
          </a:ln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2331720"/>
            <a:ext cx="594360" cy="594360"/>
          </a:xfrm>
          <a:prstGeom prst="ellipse">
            <a:avLst/>
          </a:prstGeom>
          <a:solidFill>
            <a:srgbClr val="4C7FE8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5" name="Image 1" descr="icons/exp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606" y="2474366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24231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Auto Scaling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6537960" y="3063240"/>
            <a:ext cx="4800600" cy="1463040"/>
          </a:xfrm>
          <a:prstGeom prst="roundRect">
            <a:avLst>
              <a:gd name="adj" fmla="val 6250"/>
            </a:avLst>
          </a:prstGeom>
          <a:solidFill>
            <a:srgbClr val="16213E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3291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autoscaling \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describe-auto-scaling-groups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537960" y="47091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group is holding 2–5 instances as configured and healthy.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1640" cy="347472"/>
          </a:xfrm>
          <a:prstGeom prst="roundRect">
            <a:avLst>
              <a:gd name="adj" fmla="val 50000"/>
            </a:avLst>
          </a:prstGeom>
          <a:solidFill>
            <a:srgbClr val="EAF0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26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Database Connectivity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309360" cy="2926080"/>
          </a:xfrm>
          <a:prstGeom prst="roundRect">
            <a:avLst>
              <a:gd name="adj" fmla="val 3750"/>
            </a:avLst>
          </a:prstGeom>
          <a:solidFill>
            <a:srgbClr val="16213E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304288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2304288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2304288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4320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psql -h &lt;rds-endpoint&gt; \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-U postgres -d mydb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086600" y="2103120"/>
            <a:ext cx="4572000" cy="2926080"/>
          </a:xfrm>
          <a:prstGeom prst="roundRect">
            <a:avLst>
              <a:gd name="adj" fmla="val 3750"/>
            </a:avLst>
          </a:prstGeom>
          <a:solidFill>
            <a:srgbClr val="EAF0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2331720"/>
            <a:ext cx="594360" cy="594360"/>
          </a:xfrm>
          <a:prstGeom prst="ellipse">
            <a:avLst/>
          </a:prstGeom>
          <a:solidFill>
            <a:srgbClr val="336791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3" name="Image 0" descr="icons/postgres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46" y="2474366"/>
            <a:ext cx="309067" cy="309067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0" y="3063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successful connection confirms:</a:t>
            </a:r>
            <a:endParaRPr lang="en-US" sz="1350" dirty="0"/>
          </a:p>
        </p:txBody>
      </p:sp>
      <p:pic>
        <p:nvPicPr>
          <p:cNvPr id="15" name="Image 1" descr="icons/check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2044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607808" y="34381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RDS instance is available</a:t>
            </a:r>
            <a:endParaRPr lang="en-US" sz="1150" dirty="0"/>
          </a:p>
        </p:txBody>
      </p:sp>
      <p:pic>
        <p:nvPicPr>
          <p:cNvPr id="17" name="Image 2" descr="icons/check_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4023360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607808" y="394106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routing from your client reaches the endpoint</a:t>
            </a:r>
            <a:endParaRPr lang="en-US" sz="1150" dirty="0"/>
          </a:p>
        </p:txBody>
      </p:sp>
      <p:pic>
        <p:nvPicPr>
          <p:cNvPr id="19" name="Image 3" descr="icons/check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2628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07808" y="444398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the target database name are correct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54864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publicly_accessible = false, run this check from inside the VPC (e.g. a bastion host or the cluster itself).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5029200" cy="5029200"/>
          </a:xfrm>
          <a:prstGeom prst="ellipse">
            <a:avLst/>
          </a:prstGeom>
          <a:solidFill>
            <a:srgbClr val="326CE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005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326CE5">
              <a:alpha val="75000"/>
            </a:srgbClr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9456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7" name="Image 0" descr="icons/k8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9926" y="233720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Kubernetes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74520" y="2578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runs the control plane in private subnets for a secure base.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309360" y="192024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326CE5">
              <a:alpha val="75000"/>
            </a:srgbClr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0" y="219456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2" name="Image 1" descr="icons/expan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326" y="233720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compute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360920" y="257860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keeps worker nodes between 2 and 5 based on demand.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326CE5">
              <a:alpha val="75000"/>
            </a:srgbClr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97280" y="42976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17" name="Image 2" descr="icons/postgre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26" y="4440326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745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storage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874520" y="46817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PostgreSQL provides isolated, private application data storage.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09360" y="402336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326CE5">
              <a:alpha val="75000"/>
            </a:srgbClr>
          </a:solidFill>
          <a:ln w="12700">
            <a:solidFill>
              <a:srgbClr val="4C7FE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0" y="4297680"/>
            <a:ext cx="594360" cy="594360"/>
          </a:xfrm>
          <a:prstGeom prst="ellipse">
            <a:avLst/>
          </a:prstGeom>
          <a:solidFill>
            <a:srgbClr val="FF9900"/>
          </a:solidFill>
          <a:ln/>
          <a:effectLst>
            <a:outerShdw sx="100000" sy="100000" kx="0" ky="0" algn="bl" rotWithShape="0" blurRad="101600" dist="38100" dir="2700000">
              <a:srgbClr val="071224">
                <a:alpha val="15000"/>
              </a:srgbClr>
            </a:outerShdw>
          </a:effectLst>
        </p:spPr>
      </p:sp>
      <p:pic>
        <p:nvPicPr>
          <p:cNvPr id="22" name="Image 3" descr="icons/helm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4440326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4251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delivery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360920" y="4681728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ships the application the same way Terraform ships the infra.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Highly Available Kubernetes Cluster on AWS (EKS + Auto Scaling + RDS)</dc:title>
  <dc:subject>PptxGenJS Presentation</dc:subject>
  <dc:creator>Terraform Training</dc:creator>
  <cp:lastModifiedBy>Terraform Training</cp:lastModifiedBy>
  <cp:revision>1</cp:revision>
  <dcterms:created xsi:type="dcterms:W3CDTF">2026-07-07T20:10:37Z</dcterms:created>
  <dcterms:modified xsi:type="dcterms:W3CDTF">2026-07-07T20:10:37Z</dcterms:modified>
</cp:coreProperties>
</file>